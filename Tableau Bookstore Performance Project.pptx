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5"/>
  </p:notesMasterIdLst>
  <p:handoutMasterIdLst>
    <p:handoutMasterId r:id="rId26"/>
  </p:handoutMasterIdLst>
  <p:sldIdLst>
    <p:sldId id="256" r:id="rId5"/>
    <p:sldId id="257" r:id="rId6"/>
    <p:sldId id="299" r:id="rId7"/>
    <p:sldId id="300" r:id="rId8"/>
    <p:sldId id="286" r:id="rId9"/>
    <p:sldId id="287" r:id="rId10"/>
    <p:sldId id="260" r:id="rId11"/>
    <p:sldId id="258" r:id="rId12"/>
    <p:sldId id="301" r:id="rId13"/>
    <p:sldId id="303" r:id="rId14"/>
    <p:sldId id="302" r:id="rId15"/>
    <p:sldId id="304" r:id="rId16"/>
    <p:sldId id="305" r:id="rId17"/>
    <p:sldId id="306" r:id="rId18"/>
    <p:sldId id="307" r:id="rId19"/>
    <p:sldId id="308" r:id="rId20"/>
    <p:sldId id="310" r:id="rId21"/>
    <p:sldId id="291" r:id="rId22"/>
    <p:sldId id="294" r:id="rId23"/>
    <p:sldId id="29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3350"/>
    <a:srgbClr val="0C4360"/>
    <a:srgbClr val="1B6872"/>
    <a:srgbClr val="63B7C6"/>
    <a:srgbClr val="002136"/>
    <a:srgbClr val="0C75AC"/>
    <a:srgbClr val="0024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100" d="100"/>
          <a:sy n="100" d="100"/>
        </p:scale>
        <p:origin x="990" y="372"/>
      </p:cViewPr>
      <p:guideLst>
        <p:guide orient="horz" pos="2160"/>
        <p:guide pos="3840"/>
      </p:guideLst>
    </p:cSldViewPr>
  </p:slideViewPr>
  <p:notesTextViewPr>
    <p:cViewPr>
      <p:scale>
        <a:sx n="1" d="1"/>
        <a:sy n="1" d="1"/>
      </p:scale>
      <p:origin x="0" y="0"/>
    </p:cViewPr>
  </p:notesTextViewPr>
  <p:notesViewPr>
    <p:cSldViewPr snapToGrid="0">
      <p:cViewPr varScale="1">
        <p:scale>
          <a:sx n="84" d="100"/>
          <a:sy n="84" d="100"/>
        </p:scale>
        <p:origin x="3828"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62FF6B6-4F8A-40F7-B5F4-FC3996824D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8910A999-F365-48DF-976A-0517FE045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CA5457B-CDAE-4DEB-AEC8-C82DE2312E37}" type="datetimeFigureOut">
              <a:rPr lang="en-US" smtClean="0"/>
              <a:t>4/19/2026</a:t>
            </a:fld>
            <a:endParaRPr lang="en-US" dirty="0"/>
          </a:p>
        </p:txBody>
      </p:sp>
      <p:sp>
        <p:nvSpPr>
          <p:cNvPr id="4" name="Footer Placeholder 3">
            <a:extLst>
              <a:ext uri="{FF2B5EF4-FFF2-40B4-BE49-F238E27FC236}">
                <a16:creationId xmlns:a16="http://schemas.microsoft.com/office/drawing/2014/main" id="{F8735C90-ADBF-4B9E-BE88-E1C8F83EB4D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506A01-6D0A-45EF-A584-05A3361D66F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31430A-4AA4-45C8-AC23-CD6B61C41A4C}" type="slidenum">
              <a:rPr lang="en-US" smtClean="0"/>
              <a:t>‹#›</a:t>
            </a:fld>
            <a:endParaRPr lang="en-US" dirty="0"/>
          </a:p>
        </p:txBody>
      </p:sp>
    </p:spTree>
    <p:extLst>
      <p:ext uri="{BB962C8B-B14F-4D97-AF65-F5344CB8AC3E}">
        <p14:creationId xmlns:p14="http://schemas.microsoft.com/office/powerpoint/2010/main" val="1059900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B78EA-28CE-41D8-9043-90E391E5F567}" type="datetimeFigureOut">
              <a:rPr lang="en-US" noProof="0" smtClean="0"/>
              <a:t>4/19/2026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34D747-9380-41EE-9946-EC9EC0CA5D1E}" type="slidenum">
              <a:rPr lang="en-US" noProof="0" smtClean="0"/>
              <a:t>‹#›</a:t>
            </a:fld>
            <a:endParaRPr lang="en-US" noProof="0" dirty="0"/>
          </a:p>
        </p:txBody>
      </p:sp>
    </p:spTree>
    <p:extLst>
      <p:ext uri="{BB962C8B-B14F-4D97-AF65-F5344CB8AC3E}">
        <p14:creationId xmlns:p14="http://schemas.microsoft.com/office/powerpoint/2010/main" val="38277271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7" name="Group 6">
            <a:extLst>
              <a:ext uri="{FF2B5EF4-FFF2-40B4-BE49-F238E27FC236}">
                <a16:creationId xmlns:a16="http://schemas.microsoft.com/office/drawing/2014/main" id="{4CA15AFD-4983-47DD-9ED0-D3B27E5A096F}"/>
              </a:ext>
            </a:extLst>
          </p:cNvPr>
          <p:cNvGrpSpPr/>
          <p:nvPr userDrawn="1"/>
        </p:nvGrpSpPr>
        <p:grpSpPr>
          <a:xfrm>
            <a:off x="-1604709" y="-3756"/>
            <a:ext cx="13796710" cy="6861756"/>
            <a:chOff x="-1604709" y="-3756"/>
            <a:chExt cx="13796710" cy="6861756"/>
          </a:xfrm>
        </p:grpSpPr>
        <p:grpSp>
          <p:nvGrpSpPr>
            <p:cNvPr id="8" name="Group 7">
              <a:extLst>
                <a:ext uri="{FF2B5EF4-FFF2-40B4-BE49-F238E27FC236}">
                  <a16:creationId xmlns:a16="http://schemas.microsoft.com/office/drawing/2014/main" id="{2222D5E2-E9B4-4180-98B8-4E514C9ADB28}"/>
                </a:ext>
              </a:extLst>
            </p:cNvPr>
            <p:cNvGrpSpPr/>
            <p:nvPr/>
          </p:nvGrpSpPr>
          <p:grpSpPr>
            <a:xfrm>
              <a:off x="-16298" y="0"/>
              <a:ext cx="12208299" cy="6858000"/>
              <a:chOff x="-16298" y="0"/>
              <a:chExt cx="12208299" cy="6858000"/>
            </a:xfrm>
          </p:grpSpPr>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Right Triangle 16">
                <a:extLst>
                  <a:ext uri="{FF2B5EF4-FFF2-40B4-BE49-F238E27FC236}">
                    <a16:creationId xmlns:a16="http://schemas.microsoft.com/office/drawing/2014/main" id="{8DCD5806-2A2F-4ABF-8057-245681C498E6}"/>
                  </a:ext>
                </a:extLst>
              </p:cNvPr>
              <p:cNvSpPr/>
              <p:nvPr/>
            </p:nvSpPr>
            <p:spPr>
              <a:xfrm rot="16200000" flipH="1" flipV="1">
                <a:off x="24625" y="-4746"/>
                <a:ext cx="2819399" cy="2828891"/>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p:nvSpPr>
            <p:spPr>
              <a:xfrm rot="16200000" flipH="1" flipV="1">
                <a:off x="4418" y="-4422"/>
                <a:ext cx="2627088" cy="263593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p:nvSpPr>
            <p:spPr>
              <a:xfrm rot="16200000" flipH="1" flipV="1">
                <a:off x="-12263" y="-4034"/>
                <a:ext cx="2397087" cy="2405158"/>
              </a:xfrm>
              <a:prstGeom prst="rtTriangle">
                <a:avLst/>
              </a:prstGeom>
              <a:solidFill>
                <a:schemeClr val="accent2">
                  <a:alpha val="4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9" name="Freeform: Shape 12">
              <a:extLst>
                <a:ext uri="{FF2B5EF4-FFF2-40B4-BE49-F238E27FC236}">
                  <a16:creationId xmlns:a16="http://schemas.microsoft.com/office/drawing/2014/main" id="{E3AAB79D-382D-4A95-965E-526B6A681DA7}"/>
                </a:ext>
              </a:extLst>
            </p:cNvPr>
            <p:cNvSpPr/>
            <p:nvPr/>
          </p:nvSpPr>
          <p:spPr>
            <a:xfrm rot="18900000" flipH="1">
              <a:off x="-1604709" y="1397837"/>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C0A22127-2B4A-4B15-B0A9-F019A30347A1}"/>
                </a:ext>
              </a:extLst>
            </p:cNvPr>
            <p:cNvSpPr/>
            <p:nvPr/>
          </p:nvSpPr>
          <p:spPr>
            <a:xfrm rot="18900000">
              <a:off x="-861777" y="-3756"/>
              <a:ext cx="2676646" cy="1356876"/>
            </a:xfrm>
            <a:custGeom>
              <a:avLst/>
              <a:gdLst>
                <a:gd name="connsiteX0" fmla="*/ 1319770 w 2676646"/>
                <a:gd name="connsiteY0" fmla="*/ 0 h 1356876"/>
                <a:gd name="connsiteX1" fmla="*/ 2676646 w 2676646"/>
                <a:gd name="connsiteY1" fmla="*/ 1356876 h 1356876"/>
                <a:gd name="connsiteX2" fmla="*/ 0 w 2676646"/>
                <a:gd name="connsiteY2" fmla="*/ 1356876 h 1356876"/>
                <a:gd name="connsiteX3" fmla="*/ 0 w 2676646"/>
                <a:gd name="connsiteY3" fmla="*/ 1319770 h 1356876"/>
              </a:gdLst>
              <a:ahLst/>
              <a:cxnLst>
                <a:cxn ang="0">
                  <a:pos x="connsiteX0" y="connsiteY0"/>
                </a:cxn>
                <a:cxn ang="0">
                  <a:pos x="connsiteX1" y="connsiteY1"/>
                </a:cxn>
                <a:cxn ang="0">
                  <a:pos x="connsiteX2" y="connsiteY2"/>
                </a:cxn>
                <a:cxn ang="0">
                  <a:pos x="connsiteX3" y="connsiteY3"/>
                </a:cxn>
              </a:cxnLst>
              <a:rect l="l" t="t" r="r" b="b"/>
              <a:pathLst>
                <a:path w="2676646" h="1356876">
                  <a:moveTo>
                    <a:pt x="1319770" y="0"/>
                  </a:moveTo>
                  <a:lnTo>
                    <a:pt x="2676646" y="1356876"/>
                  </a:lnTo>
                  <a:lnTo>
                    <a:pt x="0" y="1356876"/>
                  </a:lnTo>
                  <a:lnTo>
                    <a:pt x="0" y="1319770"/>
                  </a:lnTo>
                  <a:close/>
                </a:path>
              </a:pathLst>
            </a:custGeom>
            <a:pattFill prst="wdUpDiag">
              <a:fgClr>
                <a:schemeClr val="accent2"/>
              </a:fgClr>
              <a:bgClr>
                <a:schemeClr val="accent1"/>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1" name="Freeform: Shape 12">
              <a:extLst>
                <a:ext uri="{FF2B5EF4-FFF2-40B4-BE49-F238E27FC236}">
                  <a16:creationId xmlns:a16="http://schemas.microsoft.com/office/drawing/2014/main" id="{F04D9FDC-1B67-4254-9535-CD32E81F0C3E}"/>
                </a:ext>
              </a:extLst>
            </p:cNvPr>
            <p:cNvSpPr/>
            <p:nvPr/>
          </p:nvSpPr>
          <p:spPr>
            <a:xfrm rot="13500000">
              <a:off x="-1226102" y="1737462"/>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12" name="Group 11">
              <a:extLst>
                <a:ext uri="{FF2B5EF4-FFF2-40B4-BE49-F238E27FC236}">
                  <a16:creationId xmlns:a16="http://schemas.microsoft.com/office/drawing/2014/main" id="{0A86C4EA-4CF8-4531-845D-4FCB1E2F7422}"/>
                </a:ext>
              </a:extLst>
            </p:cNvPr>
            <p:cNvGrpSpPr/>
            <p:nvPr/>
          </p:nvGrpSpPr>
          <p:grpSpPr>
            <a:xfrm>
              <a:off x="-760406" y="4672937"/>
              <a:ext cx="1520812" cy="1520812"/>
              <a:chOff x="-1604709" y="3012880"/>
              <a:chExt cx="3211378" cy="3211378"/>
            </a:xfrm>
          </p:grpSpPr>
          <p:sp>
            <p:nvSpPr>
              <p:cNvPr id="13" name="Freeform: Shape 12">
                <a:extLst>
                  <a:ext uri="{FF2B5EF4-FFF2-40B4-BE49-F238E27FC236}">
                    <a16:creationId xmlns:a16="http://schemas.microsoft.com/office/drawing/2014/main" id="{1101B195-C112-4D20-8D19-4D22479B150D}"/>
                  </a:ext>
                </a:extLst>
              </p:cNvPr>
              <p:cNvSpPr/>
              <p:nvPr/>
            </p:nvSpPr>
            <p:spPr>
              <a:xfrm rot="18900000" flipH="1">
                <a:off x="-1604709" y="3012880"/>
                <a:ext cx="3211378" cy="3211378"/>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2">
                <a:extLst>
                  <a:ext uri="{FF2B5EF4-FFF2-40B4-BE49-F238E27FC236}">
                    <a16:creationId xmlns:a16="http://schemas.microsoft.com/office/drawing/2014/main" id="{CA755F1F-9955-4CBB-8F34-F7801CA44CE7}"/>
                  </a:ext>
                </a:extLst>
              </p:cNvPr>
              <p:cNvSpPr/>
              <p:nvPr/>
            </p:nvSpPr>
            <p:spPr>
              <a:xfrm rot="13500000">
                <a:off x="-1226102" y="3352505"/>
                <a:ext cx="2416016" cy="2416016"/>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sp>
        <p:nvSpPr>
          <p:cNvPr id="2" name="Title 1">
            <a:extLst>
              <a:ext uri="{FF2B5EF4-FFF2-40B4-BE49-F238E27FC236}">
                <a16:creationId xmlns:a16="http://schemas.microsoft.com/office/drawing/2014/main" id="{9E597736-C478-4C26-9BAF-205FE31E977C}"/>
              </a:ext>
            </a:extLst>
          </p:cNvPr>
          <p:cNvSpPr>
            <a:spLocks noGrp="1"/>
          </p:cNvSpPr>
          <p:nvPr>
            <p:ph type="ctrTitle" hasCustomPrompt="1"/>
          </p:nvPr>
        </p:nvSpPr>
        <p:spPr>
          <a:xfrm>
            <a:off x="2761488" y="2395728"/>
            <a:ext cx="7077456" cy="1243584"/>
          </a:xfrm>
        </p:spPr>
        <p:txBody>
          <a:bodyPr vert="horz" lIns="91440" tIns="45720" rIns="91440" bIns="45720" rtlCol="0" anchor="b">
            <a:noAutofit/>
          </a:bodyPr>
          <a:lstStyle>
            <a:lvl1pPr>
              <a:defRPr lang="en-GB" sz="6600" b="1" dirty="0">
                <a:solidFill>
                  <a:schemeClr val="accent2"/>
                </a:solidFill>
                <a:latin typeface="+mj-lt"/>
                <a:ea typeface="Tahoma" panose="020B0604030504040204" pitchFamily="34" charset="0"/>
                <a:cs typeface="Tahoma" panose="020B0604030504040204" pitchFamily="34" charset="0"/>
              </a:defRPr>
            </a:lvl1pPr>
          </a:lstStyle>
          <a:p>
            <a:pPr lvl="0"/>
            <a:r>
              <a:rPr lang="en-US" noProof="0"/>
              <a:t>TITLE</a:t>
            </a:r>
          </a:p>
        </p:txBody>
      </p:sp>
      <p:sp>
        <p:nvSpPr>
          <p:cNvPr id="3" name="Subtitle 2">
            <a:extLst>
              <a:ext uri="{FF2B5EF4-FFF2-40B4-BE49-F238E27FC236}">
                <a16:creationId xmlns:a16="http://schemas.microsoft.com/office/drawing/2014/main" id="{C3D2DEF0-A0B0-4CFE-B67D-A9D75E2368DC}"/>
              </a:ext>
            </a:extLst>
          </p:cNvPr>
          <p:cNvSpPr>
            <a:spLocks noGrp="1"/>
          </p:cNvSpPr>
          <p:nvPr>
            <p:ph type="subTitle" idx="1"/>
          </p:nvPr>
        </p:nvSpPr>
        <p:spPr>
          <a:xfrm>
            <a:off x="2761488" y="3721608"/>
            <a:ext cx="7077456" cy="868680"/>
          </a:xfrm>
        </p:spPr>
        <p:txBody>
          <a:bodyPr vert="horz" lIns="91440" tIns="45720" rIns="91440" bIns="45720" rtlCol="0">
            <a:normAutofit/>
          </a:bodyPr>
          <a:lstStyle>
            <a:lvl1pPr marL="0" indent="0">
              <a:buNone/>
              <a:defRPr lang="en-GB" sz="1800" spc="300" dirty="0">
                <a:solidFill>
                  <a:schemeClr val="bg1"/>
                </a:solidFill>
                <a:latin typeface="+mn-lt"/>
                <a:cs typeface="Arial" panose="020B0604020202020204" pitchFamily="34" charset="0"/>
              </a:defRPr>
            </a:lvl1pPr>
          </a:lstStyle>
          <a:p>
            <a:pPr marL="228600" lvl="0" indent="-228600"/>
            <a:r>
              <a:rPr lang="en-US" noProof="0"/>
              <a:t>Click to edit Master subtitle style</a:t>
            </a:r>
          </a:p>
        </p:txBody>
      </p:sp>
    </p:spTree>
    <p:extLst>
      <p:ext uri="{BB962C8B-B14F-4D97-AF65-F5344CB8AC3E}">
        <p14:creationId xmlns:p14="http://schemas.microsoft.com/office/powerpoint/2010/main" val="4369596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838D16-809E-4EB1-8C0C-0E63D8139112}"/>
              </a:ext>
            </a:extLst>
          </p:cNvPr>
          <p:cNvSpPr/>
          <p:nvPr userDrawn="1"/>
        </p:nvSpPr>
        <p:spPr>
          <a:xfrm>
            <a:off x="0" y="0"/>
            <a:ext cx="12192000" cy="6858000"/>
          </a:xfrm>
          <a:prstGeom prst="rect">
            <a:avLst/>
          </a:prstGeom>
          <a:solidFill>
            <a:srgbClr val="0C43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01FEB333-94B4-4E53-9019-D584810903BB}"/>
              </a:ext>
            </a:extLst>
          </p:cNvPr>
          <p:cNvSpPr/>
          <p:nvPr userDrawn="1"/>
        </p:nvSpPr>
        <p:spPr>
          <a:xfrm>
            <a:off x="0" y="0"/>
            <a:ext cx="12192000" cy="6862745"/>
          </a:xfrm>
          <a:custGeom>
            <a:avLst/>
            <a:gdLst>
              <a:gd name="connsiteX0" fmla="*/ 0 w 12192000"/>
              <a:gd name="connsiteY0" fmla="*/ 0 h 6849743"/>
              <a:gd name="connsiteX1" fmla="*/ 7554712 w 12192000"/>
              <a:gd name="connsiteY1" fmla="*/ 0 h 6849743"/>
              <a:gd name="connsiteX2" fmla="*/ 10266645 w 12192000"/>
              <a:gd name="connsiteY2" fmla="*/ 2711934 h 6849743"/>
              <a:gd name="connsiteX3" fmla="*/ 11289529 w 12192000"/>
              <a:gd name="connsiteY3" fmla="*/ 2711934 h 6849743"/>
              <a:gd name="connsiteX4" fmla="*/ 12191999 w 12192000"/>
              <a:gd name="connsiteY4" fmla="*/ 3614404 h 6849743"/>
              <a:gd name="connsiteX5" fmla="*/ 12192000 w 12192000"/>
              <a:gd name="connsiteY5" fmla="*/ 6849743 h 6849743"/>
              <a:gd name="connsiteX6" fmla="*/ 0 w 12192000"/>
              <a:gd name="connsiteY6" fmla="*/ 6849743 h 6849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6849743">
                <a:moveTo>
                  <a:pt x="0" y="0"/>
                </a:moveTo>
                <a:lnTo>
                  <a:pt x="7554712" y="0"/>
                </a:lnTo>
                <a:lnTo>
                  <a:pt x="10266645" y="2711934"/>
                </a:lnTo>
                <a:lnTo>
                  <a:pt x="11289529" y="2711934"/>
                </a:lnTo>
                <a:lnTo>
                  <a:pt x="12191999" y="3614404"/>
                </a:lnTo>
                <a:lnTo>
                  <a:pt x="12192000" y="6849743"/>
                </a:lnTo>
                <a:lnTo>
                  <a:pt x="0" y="6849743"/>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Freeform: Shape 8">
            <a:extLst>
              <a:ext uri="{FF2B5EF4-FFF2-40B4-BE49-F238E27FC236}">
                <a16:creationId xmlns:a16="http://schemas.microsoft.com/office/drawing/2014/main" id="{A59B9489-0CD9-4DB7-AC82-6E7867F91403}"/>
              </a:ext>
            </a:extLst>
          </p:cNvPr>
          <p:cNvSpPr/>
          <p:nvPr userDrawn="1"/>
        </p:nvSpPr>
        <p:spPr>
          <a:xfrm rot="16200000" flipV="1">
            <a:off x="2626805"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Right Triangle 9">
            <a:extLst>
              <a:ext uri="{FF2B5EF4-FFF2-40B4-BE49-F238E27FC236}">
                <a16:creationId xmlns:a16="http://schemas.microsoft.com/office/drawing/2014/main" id="{A55D1C76-C591-4FA5-9780-87AB6B37C0FA}"/>
              </a:ext>
            </a:extLst>
          </p:cNvPr>
          <p:cNvSpPr/>
          <p:nvPr userDrawn="1"/>
        </p:nvSpPr>
        <p:spPr>
          <a:xfrm rot="5400000" flipV="1">
            <a:off x="5851010" y="-10649"/>
            <a:ext cx="6326154" cy="634745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Freeform: Shape 10">
            <a:extLst>
              <a:ext uri="{FF2B5EF4-FFF2-40B4-BE49-F238E27FC236}">
                <a16:creationId xmlns:a16="http://schemas.microsoft.com/office/drawing/2014/main" id="{A7DC1D12-670F-4235-8791-FA8C2B330871}"/>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Freeform: Shape 11">
            <a:extLst>
              <a:ext uri="{FF2B5EF4-FFF2-40B4-BE49-F238E27FC236}">
                <a16:creationId xmlns:a16="http://schemas.microsoft.com/office/drawing/2014/main" id="{859569CF-FDAC-47C4-A0F5-296F7117C398}"/>
              </a:ext>
            </a:extLst>
          </p:cNvPr>
          <p:cNvSpPr/>
          <p:nvPr userDrawn="1"/>
        </p:nvSpPr>
        <p:spPr>
          <a:xfrm rot="2700000">
            <a:off x="9668984" y="1404392"/>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3" name="Freeform: Shape 12">
            <a:extLst>
              <a:ext uri="{FF2B5EF4-FFF2-40B4-BE49-F238E27FC236}">
                <a16:creationId xmlns:a16="http://schemas.microsoft.com/office/drawing/2014/main" id="{D68D0C72-2B2C-4C85-A091-157853C71784}"/>
              </a:ext>
            </a:extLst>
          </p:cNvPr>
          <p:cNvSpPr/>
          <p:nvPr userDrawn="1"/>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4" name="Freeform: Shape 13">
            <a:extLst>
              <a:ext uri="{FF2B5EF4-FFF2-40B4-BE49-F238E27FC236}">
                <a16:creationId xmlns:a16="http://schemas.microsoft.com/office/drawing/2014/main" id="{8E25334A-5FE3-4DDA-8D32-4796CCFCAA74}"/>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5" name="Freeform: Shape 14">
            <a:extLst>
              <a:ext uri="{FF2B5EF4-FFF2-40B4-BE49-F238E27FC236}">
                <a16:creationId xmlns:a16="http://schemas.microsoft.com/office/drawing/2014/main" id="{18818DF1-D7FD-4C0F-875D-7A07E8F75C06}"/>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16" name="Group 15">
            <a:extLst>
              <a:ext uri="{FF2B5EF4-FFF2-40B4-BE49-F238E27FC236}">
                <a16:creationId xmlns:a16="http://schemas.microsoft.com/office/drawing/2014/main" id="{8F9BB384-9E14-4CEA-82C1-21837229D3EF}"/>
              </a:ext>
            </a:extLst>
          </p:cNvPr>
          <p:cNvGrpSpPr/>
          <p:nvPr userDrawn="1"/>
        </p:nvGrpSpPr>
        <p:grpSpPr>
          <a:xfrm rot="16200000">
            <a:off x="431651" y="-917359"/>
            <a:ext cx="1532001" cy="1826463"/>
            <a:chOff x="10800164" y="7142066"/>
            <a:chExt cx="2775293" cy="3308724"/>
          </a:xfrm>
        </p:grpSpPr>
        <p:sp>
          <p:nvSpPr>
            <p:cNvPr id="17" name="Freeform: Shape 16">
              <a:extLst>
                <a:ext uri="{FF2B5EF4-FFF2-40B4-BE49-F238E27FC236}">
                  <a16:creationId xmlns:a16="http://schemas.microsoft.com/office/drawing/2014/main" id="{0862A81A-959D-4EAB-90ED-DB20759BB397}"/>
                </a:ext>
              </a:extLst>
            </p:cNvPr>
            <p:cNvSpPr/>
            <p:nvPr/>
          </p:nvSpPr>
          <p:spPr>
            <a:xfrm rot="2700000">
              <a:off x="10800164" y="7675497"/>
              <a:ext cx="2775293"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Freeform: Shape 17">
              <a:extLst>
                <a:ext uri="{FF2B5EF4-FFF2-40B4-BE49-F238E27FC236}">
                  <a16:creationId xmlns:a16="http://schemas.microsoft.com/office/drawing/2014/main" id="{AAB9E28C-9422-42BD-AECE-29B44B5D63E2}"/>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9" name="Group 18">
            <a:extLst>
              <a:ext uri="{FF2B5EF4-FFF2-40B4-BE49-F238E27FC236}">
                <a16:creationId xmlns:a16="http://schemas.microsoft.com/office/drawing/2014/main" id="{2772239B-C46D-4458-BB4B-DDB12FAB0172}"/>
              </a:ext>
            </a:extLst>
          </p:cNvPr>
          <p:cNvGrpSpPr/>
          <p:nvPr userDrawn="1"/>
        </p:nvGrpSpPr>
        <p:grpSpPr>
          <a:xfrm rot="16200000">
            <a:off x="1992859" y="-497210"/>
            <a:ext cx="818398" cy="986162"/>
            <a:chOff x="10945855" y="7317026"/>
            <a:chExt cx="2483924" cy="2993104"/>
          </a:xfrm>
        </p:grpSpPr>
        <p:sp>
          <p:nvSpPr>
            <p:cNvPr id="20" name="Freeform: Shape 19">
              <a:extLst>
                <a:ext uri="{FF2B5EF4-FFF2-40B4-BE49-F238E27FC236}">
                  <a16:creationId xmlns:a16="http://schemas.microsoft.com/office/drawing/2014/main" id="{3C8A2A1A-1FB9-4CA1-B74E-B293187E51AA}"/>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Freeform: Shape 20">
              <a:extLst>
                <a:ext uri="{FF2B5EF4-FFF2-40B4-BE49-F238E27FC236}">
                  <a16:creationId xmlns:a16="http://schemas.microsoft.com/office/drawing/2014/main" id="{DF2B18BA-6B43-40FA-A23B-D894D6AB468B}"/>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22" name="Slide Number Placeholder 4">
            <a:extLst>
              <a:ext uri="{FF2B5EF4-FFF2-40B4-BE49-F238E27FC236}">
                <a16:creationId xmlns:a16="http://schemas.microsoft.com/office/drawing/2014/main" id="{0F332671-6296-47C8-BF26-B2D962F5D03D}"/>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3" name="Title 1">
            <a:extLst>
              <a:ext uri="{FF2B5EF4-FFF2-40B4-BE49-F238E27FC236}">
                <a16:creationId xmlns:a16="http://schemas.microsoft.com/office/drawing/2014/main" id="{7772A652-7229-2B42-B87B-298C31D6F0CB}"/>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Tree>
    <p:extLst>
      <p:ext uri="{BB962C8B-B14F-4D97-AF65-F5344CB8AC3E}">
        <p14:creationId xmlns:p14="http://schemas.microsoft.com/office/powerpoint/2010/main" val="16751974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lt Section Header">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6" name="Group 25">
            <a:extLst>
              <a:ext uri="{FF2B5EF4-FFF2-40B4-BE49-F238E27FC236}">
                <a16:creationId xmlns:a16="http://schemas.microsoft.com/office/drawing/2014/main" id="{E9318B2B-E019-4078-9EF0-C9D6281AE31B}"/>
              </a:ext>
            </a:extLst>
          </p:cNvPr>
          <p:cNvGrpSpPr/>
          <p:nvPr userDrawn="1"/>
        </p:nvGrpSpPr>
        <p:grpSpPr>
          <a:xfrm>
            <a:off x="9776075" y="2057401"/>
            <a:ext cx="4413559" cy="3934444"/>
            <a:chOff x="9222437" y="1088097"/>
            <a:chExt cx="5433318" cy="4843502"/>
          </a:xfrm>
        </p:grpSpPr>
        <p:sp>
          <p:nvSpPr>
            <p:cNvPr id="27" name="Freeform: Shape 26">
              <a:extLst>
                <a:ext uri="{FF2B5EF4-FFF2-40B4-BE49-F238E27FC236}">
                  <a16:creationId xmlns:a16="http://schemas.microsoft.com/office/drawing/2014/main" id="{D3E625C0-9656-421F-861F-67C8F93362ED}"/>
                </a:ext>
              </a:extLst>
            </p:cNvPr>
            <p:cNvSpPr/>
            <p:nvPr/>
          </p:nvSpPr>
          <p:spPr>
            <a:xfrm rot="2700000">
              <a:off x="9668983" y="1078460"/>
              <a:ext cx="4406148" cy="5299239"/>
            </a:xfrm>
            <a:custGeom>
              <a:avLst/>
              <a:gdLst>
                <a:gd name="connsiteX0" fmla="*/ 0 w 4406148"/>
                <a:gd name="connsiteY0" fmla="*/ 0 h 5299239"/>
                <a:gd name="connsiteX1" fmla="*/ 4406148 w 4406148"/>
                <a:gd name="connsiteY1" fmla="*/ 4406147 h 5299239"/>
                <a:gd name="connsiteX2" fmla="*/ 3513056 w 4406148"/>
                <a:gd name="connsiteY2" fmla="*/ 5299239 h 5299239"/>
                <a:gd name="connsiteX3" fmla="*/ 1 w 4406148"/>
                <a:gd name="connsiteY3" fmla="*/ 5299239 h 5299239"/>
              </a:gdLst>
              <a:ahLst/>
              <a:cxnLst>
                <a:cxn ang="0">
                  <a:pos x="connsiteX0" y="connsiteY0"/>
                </a:cxn>
                <a:cxn ang="0">
                  <a:pos x="connsiteX1" y="connsiteY1"/>
                </a:cxn>
                <a:cxn ang="0">
                  <a:pos x="connsiteX2" y="connsiteY2"/>
                </a:cxn>
                <a:cxn ang="0">
                  <a:pos x="connsiteX3" y="connsiteY3"/>
                </a:cxn>
              </a:cxnLst>
              <a:rect l="l" t="t" r="r" b="b"/>
              <a:pathLst>
                <a:path w="4406148" h="5299239">
                  <a:moveTo>
                    <a:pt x="0" y="0"/>
                  </a:moveTo>
                  <a:lnTo>
                    <a:pt x="4406148" y="4406147"/>
                  </a:lnTo>
                  <a:lnTo>
                    <a:pt x="3513056" y="5299239"/>
                  </a:lnTo>
                  <a:lnTo>
                    <a:pt x="1" y="5299239"/>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8" name="Freeform: Shape 27">
              <a:extLst>
                <a:ext uri="{FF2B5EF4-FFF2-40B4-BE49-F238E27FC236}">
                  <a16:creationId xmlns:a16="http://schemas.microsoft.com/office/drawing/2014/main" id="{49F8E490-C6E3-4D00-866F-CD85DD88996E}"/>
                </a:ext>
              </a:extLst>
            </p:cNvPr>
            <p:cNvSpPr/>
            <p:nvPr/>
          </p:nvSpPr>
          <p:spPr>
            <a:xfrm rot="8100000" flipH="1">
              <a:off x="9583575" y="1088097"/>
              <a:ext cx="5072180" cy="4843502"/>
            </a:xfrm>
            <a:custGeom>
              <a:avLst/>
              <a:gdLst>
                <a:gd name="connsiteX0" fmla="*/ 5072180 w 5072180"/>
                <a:gd name="connsiteY0" fmla="*/ 4843501 h 4843502"/>
                <a:gd name="connsiteX1" fmla="*/ 228679 w 5072180"/>
                <a:gd name="connsiteY1" fmla="*/ 0 h 4843502"/>
                <a:gd name="connsiteX2" fmla="*/ 1 w 5072180"/>
                <a:gd name="connsiteY2" fmla="*/ 228678 h 4843502"/>
                <a:gd name="connsiteX3" fmla="*/ 0 w 5072180"/>
                <a:gd name="connsiteY3" fmla="*/ 4843502 h 4843502"/>
              </a:gdLst>
              <a:ahLst/>
              <a:cxnLst>
                <a:cxn ang="0">
                  <a:pos x="connsiteX0" y="connsiteY0"/>
                </a:cxn>
                <a:cxn ang="0">
                  <a:pos x="connsiteX1" y="connsiteY1"/>
                </a:cxn>
                <a:cxn ang="0">
                  <a:pos x="connsiteX2" y="connsiteY2"/>
                </a:cxn>
                <a:cxn ang="0">
                  <a:pos x="connsiteX3" y="connsiteY3"/>
                </a:cxn>
              </a:cxnLst>
              <a:rect l="l" t="t" r="r" b="b"/>
              <a:pathLst>
                <a:path w="5072180" h="4843502">
                  <a:moveTo>
                    <a:pt x="5072180" y="4843501"/>
                  </a:moveTo>
                  <a:lnTo>
                    <a:pt x="228679" y="0"/>
                  </a:lnTo>
                  <a:lnTo>
                    <a:pt x="1" y="228678"/>
                  </a:lnTo>
                  <a:lnTo>
                    <a:pt x="0" y="4843502"/>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sp>
        <p:nvSpPr>
          <p:cNvPr id="29" name="Freeform: Shape 28">
            <a:extLst>
              <a:ext uri="{FF2B5EF4-FFF2-40B4-BE49-F238E27FC236}">
                <a16:creationId xmlns:a16="http://schemas.microsoft.com/office/drawing/2014/main" id="{EE8F5B31-1523-46AE-9455-C33DFC1BDDE0}"/>
              </a:ext>
            </a:extLst>
          </p:cNvPr>
          <p:cNvSpPr/>
          <p:nvPr userDrawn="1"/>
        </p:nvSpPr>
        <p:spPr>
          <a:xfrm rot="2700000">
            <a:off x="11438585" y="5665752"/>
            <a:ext cx="877778" cy="1755556"/>
          </a:xfrm>
          <a:custGeom>
            <a:avLst/>
            <a:gdLst>
              <a:gd name="connsiteX0" fmla="*/ 0 w 877778"/>
              <a:gd name="connsiteY0" fmla="*/ 0 h 1755556"/>
              <a:gd name="connsiteX1" fmla="*/ 877778 w 877778"/>
              <a:gd name="connsiteY1" fmla="*/ 877778 h 1755556"/>
              <a:gd name="connsiteX2" fmla="*/ 0 w 877778"/>
              <a:gd name="connsiteY2" fmla="*/ 1755556 h 1755556"/>
            </a:gdLst>
            <a:ahLst/>
            <a:cxnLst>
              <a:cxn ang="0">
                <a:pos x="connsiteX0" y="connsiteY0"/>
              </a:cxn>
              <a:cxn ang="0">
                <a:pos x="connsiteX1" y="connsiteY1"/>
              </a:cxn>
              <a:cxn ang="0">
                <a:pos x="connsiteX2" y="connsiteY2"/>
              </a:cxn>
            </a:cxnLst>
            <a:rect l="l" t="t" r="r" b="b"/>
            <a:pathLst>
              <a:path w="877778" h="1755556">
                <a:moveTo>
                  <a:pt x="0" y="0"/>
                </a:moveTo>
                <a:lnTo>
                  <a:pt x="877778" y="877778"/>
                </a:lnTo>
                <a:lnTo>
                  <a:pt x="0" y="1755556"/>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5D17048F-C2E1-4775-BC32-50BD6219F89D}"/>
              </a:ext>
            </a:extLst>
          </p:cNvPr>
          <p:cNvSpPr/>
          <p:nvPr userDrawn="1"/>
        </p:nvSpPr>
        <p:spPr>
          <a:xfrm rot="8100000" flipH="1">
            <a:off x="10582265" y="5841410"/>
            <a:ext cx="2372348" cy="1186174"/>
          </a:xfrm>
          <a:custGeom>
            <a:avLst/>
            <a:gdLst>
              <a:gd name="connsiteX0" fmla="*/ 2372348 w 2372348"/>
              <a:gd name="connsiteY0" fmla="*/ 1186174 h 1186174"/>
              <a:gd name="connsiteX1" fmla="*/ 1186174 w 2372348"/>
              <a:gd name="connsiteY1" fmla="*/ 0 h 1186174"/>
              <a:gd name="connsiteX2" fmla="*/ 0 w 2372348"/>
              <a:gd name="connsiteY2" fmla="*/ 1186174 h 1186174"/>
            </a:gdLst>
            <a:ahLst/>
            <a:cxnLst>
              <a:cxn ang="0">
                <a:pos x="connsiteX0" y="connsiteY0"/>
              </a:cxn>
              <a:cxn ang="0">
                <a:pos x="connsiteX1" y="connsiteY1"/>
              </a:cxn>
              <a:cxn ang="0">
                <a:pos x="connsiteX2" y="connsiteY2"/>
              </a:cxn>
            </a:cxnLst>
            <a:rect l="l" t="t" r="r" b="b"/>
            <a:pathLst>
              <a:path w="2372348" h="1186174">
                <a:moveTo>
                  <a:pt x="2372348" y="1186174"/>
                </a:moveTo>
                <a:lnTo>
                  <a:pt x="1186174" y="0"/>
                </a:lnTo>
                <a:lnTo>
                  <a:pt x="0" y="1186174"/>
                </a:lnTo>
                <a:close/>
              </a:path>
            </a:pathLst>
          </a:custGeom>
          <a:pattFill prst="wdUp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grpSp>
        <p:nvGrpSpPr>
          <p:cNvPr id="31" name="Group 30">
            <a:extLst>
              <a:ext uri="{FF2B5EF4-FFF2-40B4-BE49-F238E27FC236}">
                <a16:creationId xmlns:a16="http://schemas.microsoft.com/office/drawing/2014/main" id="{EAB002AA-4848-49C8-A834-036F860C79A3}"/>
              </a:ext>
            </a:extLst>
          </p:cNvPr>
          <p:cNvGrpSpPr/>
          <p:nvPr userDrawn="1"/>
        </p:nvGrpSpPr>
        <p:grpSpPr>
          <a:xfrm rot="16200000" flipH="1">
            <a:off x="9913705" y="6257994"/>
            <a:ext cx="1052473" cy="1209445"/>
            <a:chOff x="10800165" y="7142066"/>
            <a:chExt cx="2775293" cy="3189215"/>
          </a:xfrm>
        </p:grpSpPr>
        <p:sp>
          <p:nvSpPr>
            <p:cNvPr id="32" name="Freeform: Shape 31">
              <a:extLst>
                <a:ext uri="{FF2B5EF4-FFF2-40B4-BE49-F238E27FC236}">
                  <a16:creationId xmlns:a16="http://schemas.microsoft.com/office/drawing/2014/main" id="{14B187A8-7F8D-469D-A03B-4F835A5746DE}"/>
                </a:ext>
              </a:extLst>
            </p:cNvPr>
            <p:cNvSpPr/>
            <p:nvPr/>
          </p:nvSpPr>
          <p:spPr>
            <a:xfrm rot="2700000">
              <a:off x="10800166" y="7555988"/>
              <a:ext cx="2775292" cy="277529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Freeform: Shape 32">
              <a:extLst>
                <a:ext uri="{FF2B5EF4-FFF2-40B4-BE49-F238E27FC236}">
                  <a16:creationId xmlns:a16="http://schemas.microsoft.com/office/drawing/2014/main" id="{03D871D1-A11A-48FB-82A8-8D61AB5CB85C}"/>
                </a:ext>
              </a:extLst>
            </p:cNvPr>
            <p:cNvSpPr/>
            <p:nvPr/>
          </p:nvSpPr>
          <p:spPr>
            <a:xfrm rot="8100000" flipH="1">
              <a:off x="10811837" y="7142066"/>
              <a:ext cx="2751954" cy="2751955"/>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832104" y="3886200"/>
            <a:ext cx="7781544" cy="859055"/>
          </a:xfrm>
        </p:spPr>
        <p:txBody>
          <a:bodyPr vert="horz" lIns="91440" tIns="45720" rIns="91440" bIns="45720" rtlCol="0" anchor="b">
            <a:normAutofit/>
          </a:bodyPr>
          <a:lstStyle>
            <a:lvl1pPr>
              <a:defRPr lang="en-GB" sz="5400" b="1" dirty="0">
                <a:solidFill>
                  <a:schemeClr val="bg1"/>
                </a:solidFill>
                <a:latin typeface="+mj-lt"/>
              </a:defRPr>
            </a:lvl1pPr>
          </a:lstStyle>
          <a:p>
            <a:pPr lvl="0"/>
            <a:r>
              <a:rPr lang="en-US" noProof="0"/>
              <a:t>Section Title 01</a:t>
            </a:r>
          </a:p>
        </p:txBody>
      </p:sp>
      <p:sp>
        <p:nvSpPr>
          <p:cNvPr id="3" name="Text Placeholder 2">
            <a:extLst>
              <a:ext uri="{FF2B5EF4-FFF2-40B4-BE49-F238E27FC236}">
                <a16:creationId xmlns:a16="http://schemas.microsoft.com/office/drawing/2014/main" id="{5E194264-A3F5-42E2-9A63-DCCED0457E1B}"/>
              </a:ext>
            </a:extLst>
          </p:cNvPr>
          <p:cNvSpPr>
            <a:spLocks noGrp="1"/>
          </p:cNvSpPr>
          <p:nvPr>
            <p:ph type="body" idx="1"/>
          </p:nvPr>
        </p:nvSpPr>
        <p:spPr>
          <a:xfrm>
            <a:off x="831850" y="4754880"/>
            <a:ext cx="6803136" cy="365760"/>
          </a:xfrm>
        </p:spPr>
        <p:txBody>
          <a:bodyPr vert="horz" lIns="91440" tIns="45720" rIns="91440" bIns="45720" rtlCol="0">
            <a:normAutofit/>
          </a:bodyPr>
          <a:lstStyle>
            <a:lvl1pPr marL="0" indent="0">
              <a:buNone/>
              <a:defRPr lang="en-US" sz="1600" spc="300">
                <a:solidFill>
                  <a:schemeClr val="accent1">
                    <a:lumMod val="20000"/>
                    <a:lumOff val="80000"/>
                  </a:schemeClr>
                </a:solidFill>
                <a:latin typeface="+mn-lt"/>
                <a:cs typeface="Arial" panose="020B0604020202020204" pitchFamily="34" charset="0"/>
              </a:defRPr>
            </a:lvl1pPr>
          </a:lstStyle>
          <a:p>
            <a:pPr marL="228600" lvl="0" indent="-228600"/>
            <a:r>
              <a:rPr lang="en-US" noProof="0"/>
              <a:t>Click to edit Master text styles</a:t>
            </a:r>
          </a:p>
        </p:txBody>
      </p:sp>
      <p:sp>
        <p:nvSpPr>
          <p:cNvPr id="35" name="Slide Number Placeholder 4">
            <a:extLst>
              <a:ext uri="{FF2B5EF4-FFF2-40B4-BE49-F238E27FC236}">
                <a16:creationId xmlns:a16="http://schemas.microsoft.com/office/drawing/2014/main" id="{6F73F836-940E-4B65-A29C-D0869263C935}"/>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35114788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2CDBB6E5-B91E-4946-9390-E8693855103A}"/>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4" name="Freeform: Shape 33">
            <a:extLst>
              <a:ext uri="{FF2B5EF4-FFF2-40B4-BE49-F238E27FC236}">
                <a16:creationId xmlns:a16="http://schemas.microsoft.com/office/drawing/2014/main" id="{0C3CC1C9-1FA0-4FE4-8984-4A8B3728D674}"/>
              </a:ext>
            </a:extLst>
          </p:cNvPr>
          <p:cNvSpPr/>
          <p:nvPr userDrawn="1"/>
        </p:nvSpPr>
        <p:spPr>
          <a:xfrm rot="16200000" flipV="1">
            <a:off x="2855762" y="-2473495"/>
            <a:ext cx="6862743" cy="11809733"/>
          </a:xfrm>
          <a:custGeom>
            <a:avLst/>
            <a:gdLst>
              <a:gd name="connsiteX0" fmla="*/ 6862743 w 6862743"/>
              <a:gd name="connsiteY0" fmla="*/ 11809733 h 11809733"/>
              <a:gd name="connsiteX1" fmla="*/ 6862743 w 6862743"/>
              <a:gd name="connsiteY1" fmla="*/ 7708334 h 11809733"/>
              <a:gd name="connsiteX2" fmla="*/ 4147292 w 6862743"/>
              <a:gd name="connsiteY2" fmla="*/ 7708334 h 11809733"/>
              <a:gd name="connsiteX3" fmla="*/ 4147292 w 6862743"/>
              <a:gd name="connsiteY3" fmla="*/ 7708332 h 11809733"/>
              <a:gd name="connsiteX4" fmla="*/ 6862743 w 6862743"/>
              <a:gd name="connsiteY4" fmla="*/ 7708332 h 11809733"/>
              <a:gd name="connsiteX5" fmla="*/ 4147291 w 6862743"/>
              <a:gd name="connsiteY5" fmla="*/ 4987262 h 11809733"/>
              <a:gd name="connsiteX6" fmla="*/ 4147291 w 6862743"/>
              <a:gd name="connsiteY6" fmla="*/ 3835308 h 11809733"/>
              <a:gd name="connsiteX7" fmla="*/ 307017 w 6862743"/>
              <a:gd name="connsiteY7" fmla="*/ 0 h 11809733"/>
              <a:gd name="connsiteX8" fmla="*/ 0 w 6862743"/>
              <a:gd name="connsiteY8" fmla="*/ 0 h 11809733"/>
              <a:gd name="connsiteX9" fmla="*/ 0 w 6862743"/>
              <a:gd name="connsiteY9" fmla="*/ 11809733 h 11809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3" h="11809733">
                <a:moveTo>
                  <a:pt x="6862743" y="11809733"/>
                </a:moveTo>
                <a:lnTo>
                  <a:pt x="6862743" y="7708334"/>
                </a:lnTo>
                <a:lnTo>
                  <a:pt x="4147292" y="7708334"/>
                </a:lnTo>
                <a:lnTo>
                  <a:pt x="4147292" y="7708332"/>
                </a:lnTo>
                <a:lnTo>
                  <a:pt x="6862743" y="7708332"/>
                </a:lnTo>
                <a:lnTo>
                  <a:pt x="4147291" y="4987262"/>
                </a:lnTo>
                <a:lnTo>
                  <a:pt x="4147291" y="3835308"/>
                </a:lnTo>
                <a:lnTo>
                  <a:pt x="307017" y="0"/>
                </a:lnTo>
                <a:lnTo>
                  <a:pt x="0" y="0"/>
                </a:lnTo>
                <a:lnTo>
                  <a:pt x="0" y="1180973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4" name="Freeform: Shape 23">
            <a:extLst>
              <a:ext uri="{FF2B5EF4-FFF2-40B4-BE49-F238E27FC236}">
                <a16:creationId xmlns:a16="http://schemas.microsoft.com/office/drawing/2014/main" id="{8E049265-431E-48DE-B7F7-4959930171DC}"/>
              </a:ext>
            </a:extLst>
          </p:cNvPr>
          <p:cNvSpPr/>
          <p:nvPr userDrawn="1"/>
        </p:nvSpPr>
        <p:spPr>
          <a:xfrm rot="16200000" flipV="1">
            <a:off x="2626806" y="-2626805"/>
            <a:ext cx="6862743" cy="12116353"/>
          </a:xfrm>
          <a:custGeom>
            <a:avLst/>
            <a:gdLst>
              <a:gd name="connsiteX0" fmla="*/ 6853871 w 6853871"/>
              <a:gd name="connsiteY0" fmla="*/ 12116353 h 12116353"/>
              <a:gd name="connsiteX1" fmla="*/ 6853871 w 6853871"/>
              <a:gd name="connsiteY1" fmla="*/ 8014954 h 12116353"/>
              <a:gd name="connsiteX2" fmla="*/ 4141930 w 6853871"/>
              <a:gd name="connsiteY2" fmla="*/ 8014954 h 12116353"/>
              <a:gd name="connsiteX3" fmla="*/ 4141930 w 6853871"/>
              <a:gd name="connsiteY3" fmla="*/ 8014952 h 12116353"/>
              <a:gd name="connsiteX4" fmla="*/ 6853871 w 6853871"/>
              <a:gd name="connsiteY4" fmla="*/ 8014952 h 12116353"/>
              <a:gd name="connsiteX5" fmla="*/ 4141930 w 6853871"/>
              <a:gd name="connsiteY5" fmla="*/ 5293882 h 12116353"/>
              <a:gd name="connsiteX6" fmla="*/ 4141930 w 6853871"/>
              <a:gd name="connsiteY6" fmla="*/ 4141928 h 12116353"/>
              <a:gd name="connsiteX7" fmla="*/ 0 w 6853871"/>
              <a:gd name="connsiteY7" fmla="*/ 0 h 12116353"/>
              <a:gd name="connsiteX8" fmla="*/ 0 w 6853871"/>
              <a:gd name="connsiteY8" fmla="*/ 12116353 h 12116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853871" h="12116353">
                <a:moveTo>
                  <a:pt x="6853871" y="12116353"/>
                </a:moveTo>
                <a:lnTo>
                  <a:pt x="6853871" y="8014954"/>
                </a:lnTo>
                <a:lnTo>
                  <a:pt x="4141930" y="8014954"/>
                </a:lnTo>
                <a:lnTo>
                  <a:pt x="4141930" y="8014952"/>
                </a:lnTo>
                <a:lnTo>
                  <a:pt x="6853871" y="8014952"/>
                </a:lnTo>
                <a:lnTo>
                  <a:pt x="4141930" y="5293882"/>
                </a:lnTo>
                <a:lnTo>
                  <a:pt x="4141930" y="4141928"/>
                </a:lnTo>
                <a:lnTo>
                  <a:pt x="0" y="0"/>
                </a:lnTo>
                <a:lnTo>
                  <a:pt x="0" y="12116353"/>
                </a:lnTo>
                <a:close/>
              </a:path>
            </a:pathLst>
          </a:custGeom>
          <a:pattFill prst="wdUpDiag">
            <a:fgClr>
              <a:schemeClr val="accent2"/>
            </a:fgClr>
            <a:bgClr>
              <a:schemeClr val="accent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5" name="Freeform: Shape 24">
            <a:extLst>
              <a:ext uri="{FF2B5EF4-FFF2-40B4-BE49-F238E27FC236}">
                <a16:creationId xmlns:a16="http://schemas.microsoft.com/office/drawing/2014/main" id="{173E5F2D-1F8E-4DCC-857F-932C6C6539BB}"/>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Oval 3">
            <a:extLst>
              <a:ext uri="{FF2B5EF4-FFF2-40B4-BE49-F238E27FC236}">
                <a16:creationId xmlns:a16="http://schemas.microsoft.com/office/drawing/2014/main" id="{ECB4C115-EFF9-405C-98BE-F4077B9730D0}"/>
              </a:ext>
            </a:extLst>
          </p:cNvPr>
          <p:cNvSpPr/>
          <p:nvPr userDrawn="1"/>
        </p:nvSpPr>
        <p:spPr>
          <a:xfrm>
            <a:off x="533399" y="914400"/>
            <a:ext cx="1944914" cy="1944914"/>
          </a:xfrm>
          <a:prstGeom prst="ellipse">
            <a:avLst/>
          </a:prstGeom>
          <a:solidFill>
            <a:schemeClr val="accent1">
              <a:lumMod val="50000"/>
            </a:schemeClr>
          </a:solidFill>
          <a:ln w="76200">
            <a:solidFill>
              <a:schemeClr val="accent1">
                <a:alpha val="5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Title 1">
            <a:extLst>
              <a:ext uri="{FF2B5EF4-FFF2-40B4-BE49-F238E27FC236}">
                <a16:creationId xmlns:a16="http://schemas.microsoft.com/office/drawing/2014/main" id="{C9A300DD-BB54-44ED-A7E4-01CD41EC930F}"/>
              </a:ext>
            </a:extLst>
          </p:cNvPr>
          <p:cNvSpPr txBox="1">
            <a:spLocks/>
          </p:cNvSpPr>
          <p:nvPr userDrawn="1"/>
        </p:nvSpPr>
        <p:spPr>
          <a:xfrm>
            <a:off x="956993" y="923305"/>
            <a:ext cx="1005115" cy="2859313"/>
          </a:xfrm>
          <a:prstGeom prst="rect">
            <a:avLst/>
          </a:prstGeom>
        </p:spPr>
        <p:txBody>
          <a:bodyPr vert="horz" lIns="91440" tIns="45720" rIns="91440" bIns="45720" rtlCol="0" anchor="t">
            <a:noAutofit/>
          </a:bodyPr>
          <a:lstStyle>
            <a:lvl1pPr algn="l" defTabSz="914400" rtl="0" eaLnBrk="1" latinLnBrk="0" hangingPunct="1">
              <a:lnSpc>
                <a:spcPct val="100000"/>
              </a:lnSpc>
              <a:spcBef>
                <a:spcPct val="0"/>
              </a:spcBef>
              <a:buNone/>
              <a:defRPr lang="en-GB" sz="3600" b="0" i="0" kern="1200" dirty="0">
                <a:solidFill>
                  <a:schemeClr val="bg1"/>
                </a:solidFill>
                <a:latin typeface="Trebuchet MS" panose="020B0603020202020204" pitchFamily="34" charset="0"/>
                <a:ea typeface="+mj-ea"/>
                <a:cs typeface="+mj-cs"/>
              </a:defRPr>
            </a:lvl1pPr>
          </a:lstStyle>
          <a:p>
            <a:pPr algn="ctr"/>
            <a:r>
              <a:rPr lang="en-US" sz="18400" noProof="0" dirty="0">
                <a:solidFill>
                  <a:schemeClr val="accent1">
                    <a:lumMod val="60000"/>
                    <a:lumOff val="40000"/>
                  </a:schemeClr>
                </a:solidFill>
                <a:latin typeface="+mj-lt"/>
              </a:rPr>
              <a:t>“</a:t>
            </a:r>
          </a:p>
        </p:txBody>
      </p:sp>
      <p:sp>
        <p:nvSpPr>
          <p:cNvPr id="2" name="Title 1">
            <a:extLst>
              <a:ext uri="{FF2B5EF4-FFF2-40B4-BE49-F238E27FC236}">
                <a16:creationId xmlns:a16="http://schemas.microsoft.com/office/drawing/2014/main" id="{42374B20-3E42-44AF-BEF1-8AB33067395C}"/>
              </a:ext>
            </a:extLst>
          </p:cNvPr>
          <p:cNvSpPr>
            <a:spLocks noGrp="1"/>
          </p:cNvSpPr>
          <p:nvPr>
            <p:ph type="title" hasCustomPrompt="1"/>
          </p:nvPr>
        </p:nvSpPr>
        <p:spPr>
          <a:xfrm>
            <a:off x="533399" y="3200400"/>
            <a:ext cx="7551057" cy="2859313"/>
          </a:xfrm>
        </p:spPr>
        <p:txBody>
          <a:bodyPr vert="horz" lIns="91440" tIns="45720" rIns="91440" bIns="45720" rtlCol="0" anchor="t">
            <a:normAutofit/>
          </a:bodyPr>
          <a:lstStyle>
            <a:lvl1pPr>
              <a:lnSpc>
                <a:spcPct val="100000"/>
              </a:lnSpc>
              <a:defRPr lang="en-GB" sz="3200" b="0" i="0" dirty="0">
                <a:solidFill>
                  <a:schemeClr val="bg1"/>
                </a:solidFill>
                <a:latin typeface="+mj-lt"/>
              </a:defRPr>
            </a:lvl1pPr>
          </a:lstStyle>
          <a:p>
            <a:pPr lvl="0"/>
            <a:r>
              <a:rPr lang="en-US" noProof="0"/>
              <a:t>Quote</a:t>
            </a:r>
          </a:p>
        </p:txBody>
      </p:sp>
      <p:sp>
        <p:nvSpPr>
          <p:cNvPr id="19" name="Slide Number Placeholder 4">
            <a:extLst>
              <a:ext uri="{FF2B5EF4-FFF2-40B4-BE49-F238E27FC236}">
                <a16:creationId xmlns:a16="http://schemas.microsoft.com/office/drawing/2014/main" id="{A4E6C1FF-5925-42B3-B7F9-0A0031BDAD30}"/>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1753169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3" name="Text Placeholder 22">
            <a:extLst>
              <a:ext uri="{FF2B5EF4-FFF2-40B4-BE49-F238E27FC236}">
                <a16:creationId xmlns:a16="http://schemas.microsoft.com/office/drawing/2014/main" id="{03618670-D1E4-466C-BDB5-FC890AC31457}"/>
              </a:ext>
            </a:extLst>
          </p:cNvPr>
          <p:cNvSpPr>
            <a:spLocks noGrp="1"/>
          </p:cNvSpPr>
          <p:nvPr>
            <p:ph type="body" sz="quarter" idx="13"/>
          </p:nvPr>
        </p:nvSpPr>
        <p:spPr>
          <a:xfrm>
            <a:off x="444500" y="1625385"/>
            <a:ext cx="6718300" cy="4093243"/>
          </a:xfrm>
        </p:spPr>
        <p:txBody>
          <a:bodyPr>
            <a:noAutofit/>
          </a:bodyPr>
          <a:lstStyle>
            <a:lvl1pPr>
              <a:lnSpc>
                <a:spcPct val="100000"/>
              </a:lnSpc>
              <a:spcBef>
                <a:spcPts val="600"/>
              </a:spcBef>
              <a:spcAft>
                <a:spcPts val="400"/>
              </a:spcAft>
              <a:defRPr sz="1600">
                <a:solidFill>
                  <a:schemeClr val="bg1"/>
                </a:solidFill>
                <a:latin typeface="+mn-lt"/>
                <a:cs typeface="Arial" panose="020B0604020202020204" pitchFamily="34" charset="0"/>
              </a:defRPr>
            </a:lvl1pPr>
            <a:lvl2pPr>
              <a:lnSpc>
                <a:spcPct val="100000"/>
              </a:lnSpc>
              <a:spcBef>
                <a:spcPts val="600"/>
              </a:spcBef>
              <a:spcAft>
                <a:spcPts val="400"/>
              </a:spcAft>
              <a:defRPr sz="1400">
                <a:solidFill>
                  <a:schemeClr val="bg1"/>
                </a:solidFill>
                <a:latin typeface="+mn-lt"/>
                <a:cs typeface="Arial" panose="020B0604020202020204" pitchFamily="34" charset="0"/>
              </a:defRPr>
            </a:lvl2pPr>
            <a:lvl3pPr>
              <a:lnSpc>
                <a:spcPct val="100000"/>
              </a:lnSpc>
              <a:spcBef>
                <a:spcPts val="600"/>
              </a:spcBef>
              <a:spcAft>
                <a:spcPts val="400"/>
              </a:spcAft>
              <a:defRPr sz="1200">
                <a:solidFill>
                  <a:schemeClr val="bg1"/>
                </a:solidFill>
                <a:latin typeface="+mn-lt"/>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a:p>
            <a:pPr lvl="1"/>
            <a:r>
              <a:rPr lang="en-US" noProof="0"/>
              <a:t>Second level</a:t>
            </a:r>
          </a:p>
          <a:p>
            <a:pPr lvl="2"/>
            <a:r>
              <a:rPr lang="en-US" noProof="0"/>
              <a:t>Third level</a:t>
            </a:r>
          </a:p>
        </p:txBody>
      </p:sp>
    </p:spTree>
    <p:extLst>
      <p:ext uri="{BB962C8B-B14F-4D97-AF65-F5344CB8AC3E}">
        <p14:creationId xmlns:p14="http://schemas.microsoft.com/office/powerpoint/2010/main" val="274574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0737049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Title Onl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7" name="Text Placeholder 6">
            <a:extLst>
              <a:ext uri="{FF2B5EF4-FFF2-40B4-BE49-F238E27FC236}">
                <a16:creationId xmlns:a16="http://schemas.microsoft.com/office/drawing/2014/main" id="{7E0C167E-2626-40DB-AACF-D02543E29BB3}"/>
              </a:ext>
            </a:extLst>
          </p:cNvPr>
          <p:cNvSpPr>
            <a:spLocks noGrp="1"/>
          </p:cNvSpPr>
          <p:nvPr>
            <p:ph type="body" sz="quarter" idx="13"/>
          </p:nvPr>
        </p:nvSpPr>
        <p:spPr>
          <a:xfrm>
            <a:off x="1409700" y="1749570"/>
            <a:ext cx="9372600" cy="3358860"/>
          </a:xfrm>
        </p:spPr>
        <p:txBody>
          <a:bodyPr anchor="ctr">
            <a:normAutofit/>
          </a:bodyPr>
          <a:lstStyle>
            <a:lvl1pPr marL="0" indent="0" algn="ctr">
              <a:buNone/>
              <a:defRPr sz="6000">
                <a:solidFill>
                  <a:schemeClr val="bg1"/>
                </a:solidFill>
              </a:defRPr>
            </a:lvl1pPr>
          </a:lstStyle>
          <a:p>
            <a:pPr lvl="0"/>
            <a:r>
              <a:rPr lang="en-US" noProof="0"/>
              <a:t>Click to edit Master text styles</a:t>
            </a:r>
          </a:p>
        </p:txBody>
      </p:sp>
    </p:spTree>
    <p:extLst>
      <p:ext uri="{BB962C8B-B14F-4D97-AF65-F5344CB8AC3E}">
        <p14:creationId xmlns:p14="http://schemas.microsoft.com/office/powerpoint/2010/main" val="29047448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0103A49C-32FF-49E6-86F3-FC2E19517BD5}"/>
              </a:ext>
            </a:extLst>
          </p:cNvPr>
          <p:cNvSpPr>
            <a:spLocks noGrp="1"/>
          </p:cNvSpPr>
          <p:nvPr>
            <p:ph idx="1"/>
          </p:nvPr>
        </p:nvSpPr>
        <p:spPr>
          <a:xfrm>
            <a:off x="443365" y="1825625"/>
            <a:ext cx="11215235" cy="43513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6367082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5" name="Text Placeholder 2">
            <a:extLst>
              <a:ext uri="{FF2B5EF4-FFF2-40B4-BE49-F238E27FC236}">
                <a16:creationId xmlns:a16="http://schemas.microsoft.com/office/drawing/2014/main" id="{7FA80A70-18DE-4DB9-9982-BA75BE54CF93}"/>
              </a:ext>
            </a:extLst>
          </p:cNvPr>
          <p:cNvSpPr>
            <a:spLocks noGrp="1"/>
          </p:cNvSpPr>
          <p:nvPr>
            <p:ph type="body" idx="1"/>
          </p:nvPr>
        </p:nvSpPr>
        <p:spPr>
          <a:xfrm>
            <a:off x="444500" y="1681163"/>
            <a:ext cx="5157787"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6" name="Text Placeholder 4">
            <a:extLst>
              <a:ext uri="{FF2B5EF4-FFF2-40B4-BE49-F238E27FC236}">
                <a16:creationId xmlns:a16="http://schemas.microsoft.com/office/drawing/2014/main" id="{2801C0EF-C078-44B0-AD01-4850E9A65EE0}"/>
              </a:ext>
            </a:extLst>
          </p:cNvPr>
          <p:cNvSpPr>
            <a:spLocks noGrp="1"/>
          </p:cNvSpPr>
          <p:nvPr>
            <p:ph type="body" sz="quarter" idx="3"/>
          </p:nvPr>
        </p:nvSpPr>
        <p:spPr>
          <a:xfrm>
            <a:off x="6500812" y="1681163"/>
            <a:ext cx="5157788" cy="823912"/>
          </a:xfrm>
        </p:spPr>
        <p:txBody>
          <a:bodyPr anchor="t">
            <a:normAutofit/>
          </a:bodyPr>
          <a:lstStyle>
            <a:lvl1pPr marL="0" indent="0" algn="ctr">
              <a:buFont typeface="Arial" panose="020B0604020202020204" pitchFamily="34" charset="0"/>
              <a:buNone/>
              <a:defRPr sz="2000" b="1">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0"/>
              <a:t>Click to edit Master text styles</a:t>
            </a:r>
          </a:p>
        </p:txBody>
      </p:sp>
      <p:sp>
        <p:nvSpPr>
          <p:cNvPr id="27" name="Content Placeholder 3">
            <a:extLst>
              <a:ext uri="{FF2B5EF4-FFF2-40B4-BE49-F238E27FC236}">
                <a16:creationId xmlns:a16="http://schemas.microsoft.com/office/drawing/2014/main" id="{7C9DED91-45F6-4308-A085-1EFACA6468CF}"/>
              </a:ext>
            </a:extLst>
          </p:cNvPr>
          <p:cNvSpPr>
            <a:spLocks noGrp="1"/>
          </p:cNvSpPr>
          <p:nvPr>
            <p:ph sz="half" idx="2"/>
          </p:nvPr>
        </p:nvSpPr>
        <p:spPr>
          <a:xfrm>
            <a:off x="444500" y="2505075"/>
            <a:ext cx="5157787"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8" name="Content Placeholder 5">
            <a:extLst>
              <a:ext uri="{FF2B5EF4-FFF2-40B4-BE49-F238E27FC236}">
                <a16:creationId xmlns:a16="http://schemas.microsoft.com/office/drawing/2014/main" id="{0574B5E7-B666-439B-9278-67BE1EA6EBC5}"/>
              </a:ext>
            </a:extLst>
          </p:cNvPr>
          <p:cNvSpPr>
            <a:spLocks noGrp="1"/>
          </p:cNvSpPr>
          <p:nvPr>
            <p:ph sz="quarter" idx="4"/>
          </p:nvPr>
        </p:nvSpPr>
        <p:spPr>
          <a:xfrm>
            <a:off x="6475412" y="2505075"/>
            <a:ext cx="5183188" cy="3684588"/>
          </a:xfrm>
        </p:spPr>
        <p:txBody>
          <a:bodyPr>
            <a:normAutofit/>
          </a:bodyPr>
          <a:lstStyle>
            <a:lvl1pPr>
              <a:defRPr sz="1800">
                <a:solidFill>
                  <a:schemeClr val="bg1"/>
                </a:solidFill>
              </a:defRPr>
            </a:lvl1pPr>
            <a:lvl2pPr>
              <a:defRPr sz="1600">
                <a:solidFill>
                  <a:schemeClr val="bg1"/>
                </a:solidFill>
              </a:defRPr>
            </a:lvl2pPr>
            <a:lvl3pPr>
              <a:defRPr sz="1400">
                <a:solidFill>
                  <a:schemeClr val="bg1"/>
                </a:solidFill>
              </a:defRPr>
            </a:lvl3pPr>
            <a:lvl4pPr>
              <a:defRPr sz="1200">
                <a:solidFill>
                  <a:schemeClr val="bg1"/>
                </a:solidFill>
              </a:defRPr>
            </a:lvl4pPr>
            <a:lvl5pPr>
              <a:defRPr sz="12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2191671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4" name="Freeform: Shape 23">
            <a:extLst>
              <a:ext uri="{FF2B5EF4-FFF2-40B4-BE49-F238E27FC236}">
                <a16:creationId xmlns:a16="http://schemas.microsoft.com/office/drawing/2014/main" id="{18103E00-7E4A-44CD-81AC-06433CAE1110}"/>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Content Placeholder 2">
            <a:extLst>
              <a:ext uri="{FF2B5EF4-FFF2-40B4-BE49-F238E27FC236}">
                <a16:creationId xmlns:a16="http://schemas.microsoft.com/office/drawing/2014/main" id="{FE796BFF-6E5F-4DE7-B193-F501FC094D63}"/>
              </a:ext>
            </a:extLst>
          </p:cNvPr>
          <p:cNvSpPr>
            <a:spLocks noGrp="1"/>
          </p:cNvSpPr>
          <p:nvPr>
            <p:ph sz="half" idx="1"/>
          </p:nvPr>
        </p:nvSpPr>
        <p:spPr>
          <a:xfrm>
            <a:off x="443365" y="1517715"/>
            <a:ext cx="5184437" cy="4659248"/>
          </a:xfrm>
        </p:spPr>
        <p:txBody>
          <a:bodyPr>
            <a:normAutofit/>
          </a:bodyPr>
          <a:lstStyle>
            <a:lvl1pPr marL="457200" indent="-457200">
              <a:buFont typeface="Arial" panose="020B0604020202020204" pitchFamily="34" charset="0"/>
              <a:buChar char="•"/>
              <a:defRPr sz="2000">
                <a:solidFill>
                  <a:schemeClr val="bg1"/>
                </a:solidFill>
              </a:defRPr>
            </a:lvl1pPr>
            <a:lvl2pPr marL="800100" indent="-342900">
              <a:buFont typeface="Arial" panose="020B0604020202020204" pitchFamily="34" charset="0"/>
              <a:buChar char="•"/>
              <a:defRPr sz="1800">
                <a:solidFill>
                  <a:schemeClr val="bg1"/>
                </a:solidFill>
              </a:defRPr>
            </a:lvl2pPr>
            <a:lvl3pPr marL="1257300" indent="-342900">
              <a:buFont typeface="Arial" panose="020B0604020202020204" pitchFamily="34" charset="0"/>
              <a:buChar char="•"/>
              <a:defRPr sz="1600">
                <a:solidFill>
                  <a:schemeClr val="bg1"/>
                </a:solidFill>
              </a:defRPr>
            </a:lvl3pPr>
            <a:lvl4pPr marL="1657350" indent="-285750">
              <a:buFont typeface="Arial" panose="020B0604020202020204" pitchFamily="34" charset="0"/>
              <a:buChar char="•"/>
              <a:defRPr sz="1400">
                <a:solidFill>
                  <a:schemeClr val="bg1"/>
                </a:solidFill>
              </a:defRPr>
            </a:lvl4pPr>
            <a:lvl5pPr marL="2114550" indent="-285750">
              <a:buFont typeface="Arial" panose="020B0604020202020204" pitchFamily="34" charset="0"/>
              <a:buChar cha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1" name="Content Placeholder 3">
            <a:extLst>
              <a:ext uri="{FF2B5EF4-FFF2-40B4-BE49-F238E27FC236}">
                <a16:creationId xmlns:a16="http://schemas.microsoft.com/office/drawing/2014/main" id="{78622754-CA4D-4C27-A37F-B26E7B4C9CA2}"/>
              </a:ext>
            </a:extLst>
          </p:cNvPr>
          <p:cNvSpPr>
            <a:spLocks noGrp="1"/>
          </p:cNvSpPr>
          <p:nvPr>
            <p:ph sz="half" idx="2"/>
          </p:nvPr>
        </p:nvSpPr>
        <p:spPr>
          <a:xfrm>
            <a:off x="6474163" y="1517715"/>
            <a:ext cx="5184437" cy="4659248"/>
          </a:xfrm>
        </p:spPr>
        <p:txBody>
          <a:bodyPr>
            <a:normAutofit/>
          </a:bodyPr>
          <a:lstStyle>
            <a:lvl1pPr>
              <a:defRPr sz="2000">
                <a:solidFill>
                  <a:schemeClr val="bg1"/>
                </a:solidFill>
              </a:defRPr>
            </a:lvl1pPr>
            <a:lvl2pPr>
              <a:defRPr sz="1800">
                <a:solidFill>
                  <a:schemeClr val="bg1"/>
                </a:solidFill>
              </a:defRPr>
            </a:lvl2pPr>
            <a:lvl3pPr>
              <a:defRPr sz="16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9995978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 Category">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0" name="Picture Placeholder 8">
            <a:extLst>
              <a:ext uri="{FF2B5EF4-FFF2-40B4-BE49-F238E27FC236}">
                <a16:creationId xmlns:a16="http://schemas.microsoft.com/office/drawing/2014/main" id="{6D00E6B4-1CBE-404E-B943-5F1832320C1C}"/>
              </a:ext>
            </a:extLst>
          </p:cNvPr>
          <p:cNvSpPr>
            <a:spLocks noGrp="1"/>
          </p:cNvSpPr>
          <p:nvPr>
            <p:ph type="pic" sz="quarter" idx="13"/>
          </p:nvPr>
        </p:nvSpPr>
        <p:spPr>
          <a:xfrm>
            <a:off x="978212"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1" name="Picture Placeholder 8">
            <a:extLst>
              <a:ext uri="{FF2B5EF4-FFF2-40B4-BE49-F238E27FC236}">
                <a16:creationId xmlns:a16="http://schemas.microsoft.com/office/drawing/2014/main" id="{7CD59BFD-62BE-4E33-92A5-B84A2A9A8D3B}"/>
              </a:ext>
            </a:extLst>
          </p:cNvPr>
          <p:cNvSpPr>
            <a:spLocks noGrp="1"/>
          </p:cNvSpPr>
          <p:nvPr>
            <p:ph type="pic" sz="quarter" idx="14"/>
          </p:nvPr>
        </p:nvSpPr>
        <p:spPr>
          <a:xfrm>
            <a:off x="3222230"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2" name="Picture Placeholder 8">
            <a:extLst>
              <a:ext uri="{FF2B5EF4-FFF2-40B4-BE49-F238E27FC236}">
                <a16:creationId xmlns:a16="http://schemas.microsoft.com/office/drawing/2014/main" id="{60DC5978-55B8-421D-91B4-29F8210A7B2C}"/>
              </a:ext>
            </a:extLst>
          </p:cNvPr>
          <p:cNvSpPr>
            <a:spLocks noGrp="1"/>
          </p:cNvSpPr>
          <p:nvPr>
            <p:ph type="pic" sz="quarter" idx="15"/>
          </p:nvPr>
        </p:nvSpPr>
        <p:spPr>
          <a:xfrm>
            <a:off x="5466248"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3" name="Picture Placeholder 8">
            <a:extLst>
              <a:ext uri="{FF2B5EF4-FFF2-40B4-BE49-F238E27FC236}">
                <a16:creationId xmlns:a16="http://schemas.microsoft.com/office/drawing/2014/main" id="{BE3FB8C3-2C7E-4C59-8BD5-53FA2772DB56}"/>
              </a:ext>
            </a:extLst>
          </p:cNvPr>
          <p:cNvSpPr>
            <a:spLocks noGrp="1"/>
          </p:cNvSpPr>
          <p:nvPr>
            <p:ph type="pic" sz="quarter" idx="16"/>
          </p:nvPr>
        </p:nvSpPr>
        <p:spPr>
          <a:xfrm>
            <a:off x="7710266"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4" name="Picture Placeholder 8">
            <a:extLst>
              <a:ext uri="{FF2B5EF4-FFF2-40B4-BE49-F238E27FC236}">
                <a16:creationId xmlns:a16="http://schemas.microsoft.com/office/drawing/2014/main" id="{FD8FA9DA-C36B-4889-B88F-28B5829E53E2}"/>
              </a:ext>
            </a:extLst>
          </p:cNvPr>
          <p:cNvSpPr>
            <a:spLocks noGrp="1"/>
          </p:cNvSpPr>
          <p:nvPr>
            <p:ph type="pic" sz="quarter" idx="17"/>
          </p:nvPr>
        </p:nvSpPr>
        <p:spPr>
          <a:xfrm>
            <a:off x="9954283" y="2096716"/>
            <a:ext cx="1259505" cy="1259505"/>
          </a:xfrm>
          <a:prstGeom prst="ellipse">
            <a:avLst/>
          </a:prstGeom>
          <a:pattFill prst="wdUpDiag">
            <a:fgClr>
              <a:srgbClr val="0C4360"/>
            </a:fgClr>
            <a:bgClr>
              <a:schemeClr val="accent1">
                <a:lumMod val="50000"/>
              </a:schemeClr>
            </a:bgClr>
          </a:pattFill>
          <a:ln w="38100">
            <a:solidFill>
              <a:schemeClr val="accent2"/>
            </a:solidFill>
          </a:ln>
        </p:spPr>
        <p:txBody>
          <a:bodyPr/>
          <a:lstStyle>
            <a:lvl1pPr marL="0" indent="0">
              <a:buNone/>
              <a:defRPr>
                <a:solidFill>
                  <a:schemeClr val="tx1">
                    <a:alpha val="0"/>
                  </a:schemeClr>
                </a:solidFill>
              </a:defRPr>
            </a:lvl1pPr>
          </a:lstStyle>
          <a:p>
            <a:r>
              <a:rPr lang="en-US" noProof="0"/>
              <a:t>Click icon to add picture</a:t>
            </a:r>
            <a:endParaRPr lang="en-US" noProof="0" dirty="0"/>
          </a:p>
        </p:txBody>
      </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719894"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7" name="Text Placeholder 22">
            <a:extLst>
              <a:ext uri="{FF2B5EF4-FFF2-40B4-BE49-F238E27FC236}">
                <a16:creationId xmlns:a16="http://schemas.microsoft.com/office/drawing/2014/main" id="{05F72315-51A9-431C-B80A-45E4FB1D6BD6}"/>
              </a:ext>
            </a:extLst>
          </p:cNvPr>
          <p:cNvSpPr>
            <a:spLocks noGrp="1"/>
          </p:cNvSpPr>
          <p:nvPr>
            <p:ph type="body" sz="quarter" idx="19"/>
          </p:nvPr>
        </p:nvSpPr>
        <p:spPr>
          <a:xfrm>
            <a:off x="2963912"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8" name="Text Placeholder 22">
            <a:extLst>
              <a:ext uri="{FF2B5EF4-FFF2-40B4-BE49-F238E27FC236}">
                <a16:creationId xmlns:a16="http://schemas.microsoft.com/office/drawing/2014/main" id="{883D1F0C-34F1-46E1-B178-E4AB82B14631}"/>
              </a:ext>
            </a:extLst>
          </p:cNvPr>
          <p:cNvSpPr>
            <a:spLocks noGrp="1"/>
          </p:cNvSpPr>
          <p:nvPr>
            <p:ph type="body" sz="quarter" idx="20"/>
          </p:nvPr>
        </p:nvSpPr>
        <p:spPr>
          <a:xfrm>
            <a:off x="5207930"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29" name="Text Placeholder 22">
            <a:extLst>
              <a:ext uri="{FF2B5EF4-FFF2-40B4-BE49-F238E27FC236}">
                <a16:creationId xmlns:a16="http://schemas.microsoft.com/office/drawing/2014/main" id="{7202A849-DF14-40E7-B38D-1185F72603EC}"/>
              </a:ext>
            </a:extLst>
          </p:cNvPr>
          <p:cNvSpPr>
            <a:spLocks noGrp="1"/>
          </p:cNvSpPr>
          <p:nvPr>
            <p:ph type="body" sz="quarter" idx="21"/>
          </p:nvPr>
        </p:nvSpPr>
        <p:spPr>
          <a:xfrm>
            <a:off x="7451948"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0" name="Text Placeholder 22">
            <a:extLst>
              <a:ext uri="{FF2B5EF4-FFF2-40B4-BE49-F238E27FC236}">
                <a16:creationId xmlns:a16="http://schemas.microsoft.com/office/drawing/2014/main" id="{CCFC1ADF-AC11-4CCD-AC2D-478B6FFEA5EA}"/>
              </a:ext>
            </a:extLst>
          </p:cNvPr>
          <p:cNvSpPr>
            <a:spLocks noGrp="1"/>
          </p:cNvSpPr>
          <p:nvPr>
            <p:ph type="body" sz="quarter" idx="22"/>
          </p:nvPr>
        </p:nvSpPr>
        <p:spPr>
          <a:xfrm>
            <a:off x="9695965" y="4240093"/>
            <a:ext cx="1776140" cy="1463040"/>
          </a:xfrm>
        </p:spPr>
        <p:txBody>
          <a:bodyPr lIns="0" tIns="0" rIns="0" bIns="0">
            <a:noAutofit/>
          </a:bodyPr>
          <a:lstStyle>
            <a:lvl1pPr marL="0" indent="0" algn="ctr">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cxnSp>
        <p:nvCxnSpPr>
          <p:cNvPr id="7" name="Straight Connector 6">
            <a:extLst>
              <a:ext uri="{FF2B5EF4-FFF2-40B4-BE49-F238E27FC236}">
                <a16:creationId xmlns:a16="http://schemas.microsoft.com/office/drawing/2014/main" id="{2B4CB326-DA0E-488E-B236-7017E8438FBB}"/>
              </a:ext>
            </a:extLst>
          </p:cNvPr>
          <p:cNvCxnSpPr/>
          <p:nvPr userDrawn="1"/>
        </p:nvCxnSpPr>
        <p:spPr>
          <a:xfrm>
            <a:off x="1242354"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9366B533-7212-4A36-9CE2-D6302E721F8F}"/>
              </a:ext>
            </a:extLst>
          </p:cNvPr>
          <p:cNvCxnSpPr/>
          <p:nvPr userDrawn="1"/>
        </p:nvCxnSpPr>
        <p:spPr>
          <a:xfrm>
            <a:off x="3486372"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AD7474CD-E230-4E14-8274-5E20F673F401}"/>
              </a:ext>
            </a:extLst>
          </p:cNvPr>
          <p:cNvCxnSpPr/>
          <p:nvPr userDrawn="1"/>
        </p:nvCxnSpPr>
        <p:spPr>
          <a:xfrm>
            <a:off x="5730390"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BF71FCE-6F39-4D2F-82BE-7D9F1D2ED59F}"/>
              </a:ext>
            </a:extLst>
          </p:cNvPr>
          <p:cNvCxnSpPr/>
          <p:nvPr userDrawn="1"/>
        </p:nvCxnSpPr>
        <p:spPr>
          <a:xfrm>
            <a:off x="7974408"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E97AC7A-17D9-4F42-9DD0-94FE4FC6BF19}"/>
              </a:ext>
            </a:extLst>
          </p:cNvPr>
          <p:cNvCxnSpPr/>
          <p:nvPr userDrawn="1"/>
        </p:nvCxnSpPr>
        <p:spPr>
          <a:xfrm>
            <a:off x="10218425" y="3825022"/>
            <a:ext cx="731221" cy="0"/>
          </a:xfrm>
          <a:prstGeom prst="line">
            <a:avLst/>
          </a:prstGeom>
          <a:ln w="381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47626637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hoto + 3 Sec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
        <p:nvSpPr>
          <p:cNvPr id="36" name="Text Placeholder 22">
            <a:extLst>
              <a:ext uri="{FF2B5EF4-FFF2-40B4-BE49-F238E27FC236}">
                <a16:creationId xmlns:a16="http://schemas.microsoft.com/office/drawing/2014/main" id="{642D3CE0-C3B4-4F3F-A650-AB452B3AD4BA}"/>
              </a:ext>
            </a:extLst>
          </p:cNvPr>
          <p:cNvSpPr>
            <a:spLocks noGrp="1"/>
          </p:cNvSpPr>
          <p:nvPr>
            <p:ph type="body" sz="quarter" idx="20"/>
          </p:nvPr>
        </p:nvSpPr>
        <p:spPr>
          <a:xfrm>
            <a:off x="4444169"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7" name="Text Placeholder 22">
            <a:extLst>
              <a:ext uri="{FF2B5EF4-FFF2-40B4-BE49-F238E27FC236}">
                <a16:creationId xmlns:a16="http://schemas.microsoft.com/office/drawing/2014/main" id="{DBED2BB0-CDAD-40EE-8B35-C66DF45EE29D}"/>
              </a:ext>
            </a:extLst>
          </p:cNvPr>
          <p:cNvSpPr>
            <a:spLocks noGrp="1"/>
          </p:cNvSpPr>
          <p:nvPr>
            <p:ph type="body" sz="quarter" idx="21"/>
          </p:nvPr>
        </p:nvSpPr>
        <p:spPr>
          <a:xfrm>
            <a:off x="8346244" y="4240093"/>
            <a:ext cx="3293306" cy="1463040"/>
          </a:xfrm>
        </p:spPr>
        <p:txBody>
          <a:bodyPr lIns="0" tIns="0" rIns="0" bIns="0">
            <a:noAutofit/>
          </a:bodyPr>
          <a:lstStyle>
            <a:lvl1pPr marL="0" indent="0" algn="l">
              <a:lnSpc>
                <a:spcPct val="100000"/>
              </a:lnSpc>
              <a:spcBef>
                <a:spcPts val="600"/>
              </a:spcBef>
              <a:spcAft>
                <a:spcPts val="4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Tree>
    <p:extLst>
      <p:ext uri="{BB962C8B-B14F-4D97-AF65-F5344CB8AC3E}">
        <p14:creationId xmlns:p14="http://schemas.microsoft.com/office/powerpoint/2010/main" val="1544745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hoto + Text">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6" name="Text Placeholder 22">
            <a:extLst>
              <a:ext uri="{FF2B5EF4-FFF2-40B4-BE49-F238E27FC236}">
                <a16:creationId xmlns:a16="http://schemas.microsoft.com/office/drawing/2014/main" id="{2A19101D-7C37-42BF-8167-5391EA65EC3A}"/>
              </a:ext>
            </a:extLst>
          </p:cNvPr>
          <p:cNvSpPr>
            <a:spLocks noGrp="1"/>
          </p:cNvSpPr>
          <p:nvPr>
            <p:ph type="body" sz="quarter" idx="18"/>
          </p:nvPr>
        </p:nvSpPr>
        <p:spPr>
          <a:xfrm>
            <a:off x="542094" y="4240093"/>
            <a:ext cx="9402006" cy="1463040"/>
          </a:xfrm>
        </p:spPr>
        <p:txBody>
          <a:bodyPr lIns="0" tIns="0" rIns="0" bIns="0">
            <a:noAutofit/>
          </a:bodyPr>
          <a:lstStyle>
            <a:lvl1pPr marL="0" indent="0" algn="l">
              <a:lnSpc>
                <a:spcPct val="100000"/>
              </a:lnSpc>
              <a:spcBef>
                <a:spcPts val="300"/>
              </a:spcBef>
              <a:spcAft>
                <a:spcPts val="300"/>
              </a:spcAft>
              <a:buNone/>
              <a:defRPr sz="1400">
                <a:solidFill>
                  <a:schemeClr val="bg1"/>
                </a:solidFill>
                <a:latin typeface="+mn-lt"/>
                <a:cs typeface="Arial" panose="020B0604020202020204" pitchFamily="34" charset="0"/>
              </a:defRPr>
            </a:lvl1pPr>
            <a:lvl2pPr>
              <a:lnSpc>
                <a:spcPct val="100000"/>
              </a:lnSpc>
              <a:spcBef>
                <a:spcPts val="600"/>
              </a:spcBef>
              <a:spcAft>
                <a:spcPts val="400"/>
              </a:spcAft>
              <a:defRPr sz="1600">
                <a:solidFill>
                  <a:schemeClr val="bg1"/>
                </a:solidFill>
                <a:latin typeface="Arial" panose="020B0604020202020204" pitchFamily="34" charset="0"/>
                <a:cs typeface="Arial" panose="020B0604020202020204" pitchFamily="34" charset="0"/>
              </a:defRPr>
            </a:lvl2pPr>
            <a:lvl3pPr>
              <a:lnSpc>
                <a:spcPct val="100000"/>
              </a:lnSpc>
              <a:spcBef>
                <a:spcPts val="600"/>
              </a:spcBef>
              <a:spcAft>
                <a:spcPts val="400"/>
              </a:spcAft>
              <a:defRPr sz="1400">
                <a:solidFill>
                  <a:schemeClr val="bg1"/>
                </a:solidFill>
                <a:latin typeface="Arial" panose="020B0604020202020204" pitchFamily="34" charset="0"/>
                <a:cs typeface="Arial" panose="020B0604020202020204" pitchFamily="34" charset="0"/>
              </a:defRPr>
            </a:lvl3pPr>
            <a:lvl4pPr>
              <a:defRPr sz="1400">
                <a:solidFill>
                  <a:schemeClr val="bg1"/>
                </a:solidFill>
                <a:latin typeface="Arial" panose="020B0604020202020204" pitchFamily="34" charset="0"/>
                <a:cs typeface="Arial" panose="020B0604020202020204" pitchFamily="34" charset="0"/>
              </a:defRPr>
            </a:lvl4pPr>
            <a:lvl5pPr>
              <a:defRPr sz="1400">
                <a:solidFill>
                  <a:schemeClr val="bg1"/>
                </a:solidFill>
                <a:latin typeface="Arial" panose="020B0604020202020204" pitchFamily="34" charset="0"/>
                <a:cs typeface="Arial" panose="020B0604020202020204" pitchFamily="34" charset="0"/>
              </a:defRPr>
            </a:lvl5pPr>
          </a:lstStyle>
          <a:p>
            <a:pPr lvl="0"/>
            <a:r>
              <a:rPr lang="en-US" noProof="0"/>
              <a:t>Click to edit Master text styles</a:t>
            </a:r>
          </a:p>
        </p:txBody>
      </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13" name="Picture Placeholder 12">
            <a:extLst>
              <a:ext uri="{FF2B5EF4-FFF2-40B4-BE49-F238E27FC236}">
                <a16:creationId xmlns:a16="http://schemas.microsoft.com/office/drawing/2014/main" id="{231B97CF-FD24-4932-8459-893B1AC73D33}"/>
              </a:ext>
            </a:extLst>
          </p:cNvPr>
          <p:cNvSpPr>
            <a:spLocks noGrp="1"/>
          </p:cNvSpPr>
          <p:nvPr>
            <p:ph type="pic" sz="quarter" idx="19" hasCustomPrompt="1"/>
          </p:nvPr>
        </p:nvSpPr>
        <p:spPr>
          <a:xfrm>
            <a:off x="-2" y="1352575"/>
            <a:ext cx="12192002" cy="2289897"/>
          </a:xfrm>
        </p:spPr>
        <p:txBody>
          <a:bodyPr anchor="ctr">
            <a:normAutofit/>
          </a:bodyPr>
          <a:lstStyle>
            <a:lvl1pPr marL="0" indent="0" algn="ctr">
              <a:buNone/>
              <a:defRPr sz="1400">
                <a:solidFill>
                  <a:schemeClr val="accent2"/>
                </a:solidFill>
                <a:latin typeface="Trade Gothic LT Pro" panose="020B0503040303020004" pitchFamily="34" charset="0"/>
              </a:defRPr>
            </a:lvl1pPr>
          </a:lstStyle>
          <a:p>
            <a:r>
              <a:rPr lang="en-US" noProof="0" dirty="0"/>
              <a:t>Insert image</a:t>
            </a:r>
          </a:p>
        </p:txBody>
      </p:sp>
    </p:spTree>
    <p:extLst>
      <p:ext uri="{BB962C8B-B14F-4D97-AF65-F5344CB8AC3E}">
        <p14:creationId xmlns:p14="http://schemas.microsoft.com/office/powerpoint/2010/main" val="2486826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icture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0" name="Picture Placeholder 2">
            <a:extLst>
              <a:ext uri="{FF2B5EF4-FFF2-40B4-BE49-F238E27FC236}">
                <a16:creationId xmlns:a16="http://schemas.microsoft.com/office/drawing/2014/main" id="{30B3A574-7940-4E35-857E-5CA35A5910E5}"/>
              </a:ext>
            </a:extLst>
          </p:cNvPr>
          <p:cNvSpPr>
            <a:spLocks noGrp="1"/>
          </p:cNvSpPr>
          <p:nvPr>
            <p:ph type="pic" idx="1"/>
          </p:nvPr>
        </p:nvSpPr>
        <p:spPr>
          <a:xfrm>
            <a:off x="4110087" y="1444649"/>
            <a:ext cx="7548513" cy="4579079"/>
          </a:xfrm>
        </p:spPr>
        <p:txBody>
          <a:bodyPr>
            <a:normAutofit/>
          </a:bodyPr>
          <a:lstStyle>
            <a:lvl1pPr marL="0" indent="0">
              <a:buNone/>
              <a:defRPr sz="24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noProof="0"/>
              <a:t>Click icon to add picture</a:t>
            </a:r>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Tree>
    <p:extLst>
      <p:ext uri="{BB962C8B-B14F-4D97-AF65-F5344CB8AC3E}">
        <p14:creationId xmlns:p14="http://schemas.microsoft.com/office/powerpoint/2010/main" val="1540650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bg>
      <p:bgPr>
        <a:solidFill>
          <a:schemeClr val="accent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B3E033F-4449-40FA-BC85-BD2712D313DD}"/>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9">
            <a:extLst>
              <a:ext uri="{FF2B5EF4-FFF2-40B4-BE49-F238E27FC236}">
                <a16:creationId xmlns:a16="http://schemas.microsoft.com/office/drawing/2014/main" id="{63D26743-0505-444C-80B3-E88EE87DF72B}"/>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8" name="Freeform: Shape 17">
            <a:extLst>
              <a:ext uri="{FF2B5EF4-FFF2-40B4-BE49-F238E27FC236}">
                <a16:creationId xmlns:a16="http://schemas.microsoft.com/office/drawing/2014/main" id="{E37145E9-AC61-47D5-9288-8789940F81B6}"/>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12" name="Freeform: Shape 11">
            <a:extLst>
              <a:ext uri="{FF2B5EF4-FFF2-40B4-BE49-F238E27FC236}">
                <a16:creationId xmlns:a16="http://schemas.microsoft.com/office/drawing/2014/main" id="{A5E2B3ED-9A49-40A7-B8A3-62595FE513F9}"/>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Freeform: Shape 7">
            <a:extLst>
              <a:ext uri="{FF2B5EF4-FFF2-40B4-BE49-F238E27FC236}">
                <a16:creationId xmlns:a16="http://schemas.microsoft.com/office/drawing/2014/main" id="{1599AF7E-3E34-4597-AA72-9373A7FDB020}"/>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4A2DF563-7FAC-46B3-B24C-7E45CD89DA2B}"/>
              </a:ext>
            </a:extLst>
          </p:cNvPr>
          <p:cNvSpPr>
            <a:spLocks noGrp="1"/>
          </p:cNvSpPr>
          <p:nvPr>
            <p:ph type="title"/>
          </p:nvPr>
        </p:nvSpPr>
        <p:spPr>
          <a:xfrm>
            <a:off x="444500" y="542925"/>
            <a:ext cx="11214100" cy="535531"/>
          </a:xfrm>
        </p:spPr>
        <p:txBody>
          <a:bodyPr vert="horz" wrap="square" lIns="91440" tIns="45720" rIns="91440" bIns="45720" rtlCol="0" anchor="t">
            <a:spAutoFit/>
          </a:bodyPr>
          <a:lstStyle>
            <a:lvl1pPr>
              <a:defRPr lang="en-GB" sz="3200" b="1" spc="-70" baseline="0" dirty="0">
                <a:solidFill>
                  <a:schemeClr val="bg1"/>
                </a:solidFill>
                <a:latin typeface="+mj-lt"/>
              </a:defRPr>
            </a:lvl1pPr>
          </a:lstStyle>
          <a:p>
            <a:pPr lvl="0"/>
            <a:r>
              <a:rPr lang="en-US" noProof="0"/>
              <a:t>Click to edit Master title style</a:t>
            </a:r>
          </a:p>
        </p:txBody>
      </p:sp>
      <p:grpSp>
        <p:nvGrpSpPr>
          <p:cNvPr id="15" name="Group 14">
            <a:extLst>
              <a:ext uri="{FF2B5EF4-FFF2-40B4-BE49-F238E27FC236}">
                <a16:creationId xmlns:a16="http://schemas.microsoft.com/office/drawing/2014/main" id="{7732E1E7-45E3-4264-8F26-66758696DD1E}"/>
              </a:ext>
            </a:extLst>
          </p:cNvPr>
          <p:cNvGrpSpPr/>
          <p:nvPr userDrawn="1"/>
        </p:nvGrpSpPr>
        <p:grpSpPr>
          <a:xfrm rot="16200000">
            <a:off x="499388" y="-322655"/>
            <a:ext cx="535531" cy="645309"/>
            <a:chOff x="10945855" y="7317026"/>
            <a:chExt cx="2483924" cy="2993104"/>
          </a:xfrm>
        </p:grpSpPr>
        <p:sp>
          <p:nvSpPr>
            <p:cNvPr id="16" name="Freeform: Shape 15">
              <a:extLst>
                <a:ext uri="{FF2B5EF4-FFF2-40B4-BE49-F238E27FC236}">
                  <a16:creationId xmlns:a16="http://schemas.microsoft.com/office/drawing/2014/main" id="{2E3DF883-8093-49FA-81E1-E5D77F086A25}"/>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7" name="Freeform: Shape 16">
              <a:extLst>
                <a:ext uri="{FF2B5EF4-FFF2-40B4-BE49-F238E27FC236}">
                  <a16:creationId xmlns:a16="http://schemas.microsoft.com/office/drawing/2014/main" id="{18944C90-37E5-4BBE-89FF-060627168050}"/>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6" name="Group 5">
            <a:extLst>
              <a:ext uri="{FF2B5EF4-FFF2-40B4-BE49-F238E27FC236}">
                <a16:creationId xmlns:a16="http://schemas.microsoft.com/office/drawing/2014/main" id="{D9EBF8BB-A805-4DDB-B459-082F99815B95}"/>
              </a:ext>
            </a:extLst>
          </p:cNvPr>
          <p:cNvGrpSpPr/>
          <p:nvPr userDrawn="1"/>
        </p:nvGrpSpPr>
        <p:grpSpPr>
          <a:xfrm>
            <a:off x="-1" y="1357409"/>
            <a:ext cx="12192001" cy="4846320"/>
            <a:chOff x="-1" y="1357409"/>
            <a:chExt cx="12192001" cy="4917518"/>
          </a:xfrm>
        </p:grpSpPr>
        <p:sp>
          <p:nvSpPr>
            <p:cNvPr id="19" name="Rectangle: Single Corner Snipped 18">
              <a:extLst>
                <a:ext uri="{FF2B5EF4-FFF2-40B4-BE49-F238E27FC236}">
                  <a16:creationId xmlns:a16="http://schemas.microsoft.com/office/drawing/2014/main" id="{5D638788-DD47-45E7-939A-FA108A818173}"/>
                </a:ext>
              </a:extLst>
            </p:cNvPr>
            <p:cNvSpPr/>
            <p:nvPr userDrawn="1"/>
          </p:nvSpPr>
          <p:spPr>
            <a:xfrm flipV="1">
              <a:off x="-1" y="1357409"/>
              <a:ext cx="12192000" cy="4917518"/>
            </a:xfrm>
            <a:prstGeom prst="snip1Rect">
              <a:avLst>
                <a:gd name="adj" fmla="val 0"/>
              </a:avLst>
            </a:prstGeom>
            <a:pattFill prst="dkVert">
              <a:fgClr>
                <a:srgbClr val="0C4360"/>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Rectangle: Single Corner Snipped 2">
              <a:extLst>
                <a:ext uri="{FF2B5EF4-FFF2-40B4-BE49-F238E27FC236}">
                  <a16:creationId xmlns:a16="http://schemas.microsoft.com/office/drawing/2014/main" id="{74BDECEF-EEFE-4332-B3B2-BDE4F82C10FC}"/>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5" name="Freeform: Shape 34">
            <a:extLst>
              <a:ext uri="{FF2B5EF4-FFF2-40B4-BE49-F238E27FC236}">
                <a16:creationId xmlns:a16="http://schemas.microsoft.com/office/drawing/2014/main" id="{62EEBF51-DCAD-4335-85E9-52801031A1BF}"/>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5" name="Slide Number Placeholder 4">
            <a:extLst>
              <a:ext uri="{FF2B5EF4-FFF2-40B4-BE49-F238E27FC236}">
                <a16:creationId xmlns:a16="http://schemas.microsoft.com/office/drawing/2014/main" id="{87B51822-97FF-47A7-8E4E-A0F79B4EB237}"/>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
        <p:nvSpPr>
          <p:cNvPr id="21" name="Text Placeholder 3">
            <a:extLst>
              <a:ext uri="{FF2B5EF4-FFF2-40B4-BE49-F238E27FC236}">
                <a16:creationId xmlns:a16="http://schemas.microsoft.com/office/drawing/2014/main" id="{912B51EA-3E6F-4BF6-BE48-62128AF32B85}"/>
              </a:ext>
            </a:extLst>
          </p:cNvPr>
          <p:cNvSpPr>
            <a:spLocks noGrp="1"/>
          </p:cNvSpPr>
          <p:nvPr>
            <p:ph type="body" sz="half" idx="2"/>
          </p:nvPr>
        </p:nvSpPr>
        <p:spPr>
          <a:xfrm>
            <a:off x="443366" y="1444649"/>
            <a:ext cx="3365063" cy="4579079"/>
          </a:xfrm>
        </p:spPr>
        <p:txBody>
          <a:bodyPr/>
          <a:lstStyle>
            <a:lvl1pPr marL="0" indent="0">
              <a:buFont typeface="Arial" panose="020B0604020202020204" pitchFamily="34" charset="0"/>
              <a:buNone/>
              <a:defRPr sz="1600">
                <a:solidFill>
                  <a:schemeClr val="bg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0"/>
              <a:t>Click to edit Master text styles</a:t>
            </a:r>
          </a:p>
        </p:txBody>
      </p:sp>
      <p:sp>
        <p:nvSpPr>
          <p:cNvPr id="22" name="Content Placeholder 2">
            <a:extLst>
              <a:ext uri="{FF2B5EF4-FFF2-40B4-BE49-F238E27FC236}">
                <a16:creationId xmlns:a16="http://schemas.microsoft.com/office/drawing/2014/main" id="{A015C605-1D30-48BC-A0D6-3B11AF56CC53}"/>
              </a:ext>
            </a:extLst>
          </p:cNvPr>
          <p:cNvSpPr>
            <a:spLocks noGrp="1"/>
          </p:cNvSpPr>
          <p:nvPr>
            <p:ph idx="1"/>
          </p:nvPr>
        </p:nvSpPr>
        <p:spPr>
          <a:xfrm>
            <a:off x="3964290" y="1444649"/>
            <a:ext cx="7694310" cy="4579079"/>
          </a:xfrm>
        </p:spPr>
        <p:txBody>
          <a:bodyPr>
            <a:normAutofit/>
          </a:bodyPr>
          <a:lstStyle>
            <a:lvl1pPr>
              <a:defRPr sz="2400">
                <a:solidFill>
                  <a:schemeClr val="bg1"/>
                </a:solidFill>
              </a:defRPr>
            </a:lvl1pPr>
            <a:lvl2pPr>
              <a:defRPr sz="2000">
                <a:solidFill>
                  <a:schemeClr val="bg1"/>
                </a:solidFill>
              </a:defRPr>
            </a:lvl2pPr>
            <a:lvl3pPr>
              <a:defRPr sz="1800">
                <a:solidFill>
                  <a:schemeClr val="bg1"/>
                </a:solidFill>
              </a:defRPr>
            </a:lvl3pPr>
            <a:lvl4pPr>
              <a:defRPr sz="1600">
                <a:solidFill>
                  <a:schemeClr val="bg1"/>
                </a:solidFill>
              </a:defRPr>
            </a:lvl4pPr>
            <a:lvl5pPr>
              <a:defRPr sz="1600">
                <a:solidFill>
                  <a:schemeClr val="bg1"/>
                </a:solidFill>
              </a:defRPr>
            </a:lvl5pPr>
            <a:lvl6pPr>
              <a:defRPr sz="2000"/>
            </a:lvl6pPr>
            <a:lvl7pPr>
              <a:defRPr sz="2000"/>
            </a:lvl7pPr>
            <a:lvl8pPr>
              <a:defRPr sz="2000"/>
            </a:lvl8pPr>
            <a:lvl9pPr>
              <a:defRPr sz="20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2129895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D4494CD2-CCDD-0248-96F8-741002C44255}"/>
              </a:ext>
            </a:extLst>
          </p:cNvPr>
          <p:cNvSpPr/>
          <p:nvPr userDrawn="1"/>
        </p:nvSpPr>
        <p:spPr>
          <a:xfrm>
            <a:off x="0" y="0"/>
            <a:ext cx="12192000" cy="688419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Freeform: Shape 9">
            <a:extLst>
              <a:ext uri="{FF2B5EF4-FFF2-40B4-BE49-F238E27FC236}">
                <a16:creationId xmlns:a16="http://schemas.microsoft.com/office/drawing/2014/main" id="{07077B00-C1EE-7241-B441-7814F92A7EDF}"/>
              </a:ext>
            </a:extLst>
          </p:cNvPr>
          <p:cNvSpPr/>
          <p:nvPr userDrawn="1"/>
        </p:nvSpPr>
        <p:spPr>
          <a:xfrm>
            <a:off x="0" y="0"/>
            <a:ext cx="12192001" cy="6884191"/>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0" name="Freeform: Shape 17">
            <a:extLst>
              <a:ext uri="{FF2B5EF4-FFF2-40B4-BE49-F238E27FC236}">
                <a16:creationId xmlns:a16="http://schemas.microsoft.com/office/drawing/2014/main" id="{3A1AEBC4-637E-F64C-9192-69AC4BB26D0C}"/>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21" name="Freeform: Shape 11">
            <a:extLst>
              <a:ext uri="{FF2B5EF4-FFF2-40B4-BE49-F238E27FC236}">
                <a16:creationId xmlns:a16="http://schemas.microsoft.com/office/drawing/2014/main" id="{669A7039-C54C-8E46-9A8B-DDB2547D989C}"/>
              </a:ext>
            </a:extLst>
          </p:cNvPr>
          <p:cNvSpPr/>
          <p:nvPr userDrawn="1"/>
        </p:nvSpPr>
        <p:spPr>
          <a:xfrm rot="16200000" flipV="1">
            <a:off x="2664629"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Freeform: Shape 7">
            <a:extLst>
              <a:ext uri="{FF2B5EF4-FFF2-40B4-BE49-F238E27FC236}">
                <a16:creationId xmlns:a16="http://schemas.microsoft.com/office/drawing/2014/main" id="{4F173B32-87BB-9A40-8C91-4C1EED2B7ABF}"/>
              </a:ext>
            </a:extLst>
          </p:cNvPr>
          <p:cNvSpPr/>
          <p:nvPr userDrawn="1"/>
        </p:nvSpPr>
        <p:spPr>
          <a:xfrm rot="16200000" flipV="1">
            <a:off x="2664628" y="-2664627"/>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24" name="Group 23">
            <a:extLst>
              <a:ext uri="{FF2B5EF4-FFF2-40B4-BE49-F238E27FC236}">
                <a16:creationId xmlns:a16="http://schemas.microsoft.com/office/drawing/2014/main" id="{4AC87F4E-12B5-1B42-AFD2-4DB39B7645C9}"/>
              </a:ext>
            </a:extLst>
          </p:cNvPr>
          <p:cNvGrpSpPr/>
          <p:nvPr userDrawn="1"/>
        </p:nvGrpSpPr>
        <p:grpSpPr>
          <a:xfrm rot="16200000">
            <a:off x="499388" y="-322655"/>
            <a:ext cx="535531" cy="645309"/>
            <a:chOff x="10945855" y="7317026"/>
            <a:chExt cx="2483924" cy="2993104"/>
          </a:xfrm>
        </p:grpSpPr>
        <p:sp>
          <p:nvSpPr>
            <p:cNvPr id="25" name="Freeform: Shape 15">
              <a:extLst>
                <a:ext uri="{FF2B5EF4-FFF2-40B4-BE49-F238E27FC236}">
                  <a16:creationId xmlns:a16="http://schemas.microsoft.com/office/drawing/2014/main" id="{03DD8765-59DF-A045-ADB5-E39FAEE153A0}"/>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6" name="Freeform: Shape 16">
              <a:extLst>
                <a:ext uri="{FF2B5EF4-FFF2-40B4-BE49-F238E27FC236}">
                  <a16:creationId xmlns:a16="http://schemas.microsoft.com/office/drawing/2014/main" id="{B34B796C-A407-7B4D-B4F0-E58A44FE8DB4}"/>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30" name="Freeform: Shape 23">
            <a:extLst>
              <a:ext uri="{FF2B5EF4-FFF2-40B4-BE49-F238E27FC236}">
                <a16:creationId xmlns:a16="http://schemas.microsoft.com/office/drawing/2014/main" id="{CBE3FDC9-67CB-FA42-B127-A36BFF4678BB}"/>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1" name="Slide Number Placeholder 4">
            <a:extLst>
              <a:ext uri="{FF2B5EF4-FFF2-40B4-BE49-F238E27FC236}">
                <a16:creationId xmlns:a16="http://schemas.microsoft.com/office/drawing/2014/main" id="{1E902BFF-CA8F-D745-A819-A7BB38B30ED9}"/>
              </a:ext>
            </a:extLst>
          </p:cNvPr>
          <p:cNvSpPr>
            <a:spLocks noGrp="1"/>
          </p:cNvSpPr>
          <p:nvPr>
            <p:ph type="sldNum" sz="quarter" idx="12"/>
          </p:nvPr>
        </p:nvSpPr>
        <p:spPr>
          <a:xfrm>
            <a:off x="11252200" y="6315075"/>
            <a:ext cx="406400" cy="365125"/>
          </a:xfrm>
        </p:spPr>
        <p:txBody>
          <a:bodyPr/>
          <a:lstStyle>
            <a:lvl1pPr>
              <a:defRPr sz="1000">
                <a:solidFill>
                  <a:schemeClr val="bg1"/>
                </a:solidFill>
                <a:latin typeface="Trade Gothic LT Pro" panose="020B0503040303020004" pitchFamily="34" charset="0"/>
              </a:defRPr>
            </a:lvl1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26723047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ank You 1">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nvGrpSpPr>
          <p:cNvPr id="6" name="Group 5">
            <a:extLst>
              <a:ext uri="{FF2B5EF4-FFF2-40B4-BE49-F238E27FC236}">
                <a16:creationId xmlns:a16="http://schemas.microsoft.com/office/drawing/2014/main" id="{EA7FF9D7-8545-4547-AC77-A0421EEB9B99}"/>
              </a:ext>
            </a:extLst>
          </p:cNvPr>
          <p:cNvGrpSpPr/>
          <p:nvPr userDrawn="1"/>
        </p:nvGrpSpPr>
        <p:grpSpPr>
          <a:xfrm>
            <a:off x="0" y="0"/>
            <a:ext cx="6881966" cy="6858876"/>
            <a:chOff x="-5321" y="1096"/>
            <a:chExt cx="5924073" cy="5904197"/>
          </a:xfrm>
        </p:grpSpPr>
        <p:sp>
          <p:nvSpPr>
            <p:cNvPr id="17" name="Right Triangle 16">
              <a:extLst>
                <a:ext uri="{FF2B5EF4-FFF2-40B4-BE49-F238E27FC236}">
                  <a16:creationId xmlns:a16="http://schemas.microsoft.com/office/drawing/2014/main" id="{8DCD5806-2A2F-4ABF-8057-245681C498E6}"/>
                </a:ext>
              </a:extLst>
            </p:cNvPr>
            <p:cNvSpPr/>
            <p:nvPr userDrawn="1"/>
          </p:nvSpPr>
          <p:spPr>
            <a:xfrm rot="16200000" flipH="1" flipV="1">
              <a:off x="4618" y="-8842"/>
              <a:ext cx="5904196" cy="5924073"/>
            </a:xfrm>
            <a:prstGeom prst="rtTriangl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ight Triangle 17">
              <a:extLst>
                <a:ext uri="{FF2B5EF4-FFF2-40B4-BE49-F238E27FC236}">
                  <a16:creationId xmlns:a16="http://schemas.microsoft.com/office/drawing/2014/main" id="{3A93038F-E9E4-4FFD-B3DF-28DB7C2C1490}"/>
                </a:ext>
              </a:extLst>
            </p:cNvPr>
            <p:cNvSpPr/>
            <p:nvPr userDrawn="1"/>
          </p:nvSpPr>
          <p:spPr>
            <a:xfrm rot="16200000" flipH="1" flipV="1">
              <a:off x="3941" y="-8164"/>
              <a:ext cx="5501471" cy="5519993"/>
            </a:xfrm>
            <a:prstGeom prst="rtTriangle">
              <a:avLst/>
            </a:prstGeom>
            <a:pattFill prst="dkHorz">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Right Triangle 18">
              <a:extLst>
                <a:ext uri="{FF2B5EF4-FFF2-40B4-BE49-F238E27FC236}">
                  <a16:creationId xmlns:a16="http://schemas.microsoft.com/office/drawing/2014/main" id="{5DEA1E02-BBD0-4AE3-AF22-433B90272178}"/>
                </a:ext>
              </a:extLst>
            </p:cNvPr>
            <p:cNvSpPr/>
            <p:nvPr userDrawn="1"/>
          </p:nvSpPr>
          <p:spPr>
            <a:xfrm rot="16200000" flipH="1" flipV="1">
              <a:off x="3131" y="-7355"/>
              <a:ext cx="5019818" cy="5036720"/>
            </a:xfrm>
            <a:prstGeom prst="rtTriangle">
              <a:avLst/>
            </a:pr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5217242" y="2807208"/>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Tree>
    <p:extLst>
      <p:ext uri="{BB962C8B-B14F-4D97-AF65-F5344CB8AC3E}">
        <p14:creationId xmlns:p14="http://schemas.microsoft.com/office/powerpoint/2010/main" val="2236386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ank You 2">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6E739168-A5E8-443A-B392-7AD4CF8977AD}"/>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Freeform: Shape 14">
            <a:extLst>
              <a:ext uri="{FF2B5EF4-FFF2-40B4-BE49-F238E27FC236}">
                <a16:creationId xmlns:a16="http://schemas.microsoft.com/office/drawing/2014/main" id="{41E10E1E-5268-4F03-BA64-07E19DE26739}"/>
              </a:ext>
            </a:extLst>
          </p:cNvPr>
          <p:cNvSpPr/>
          <p:nvPr/>
        </p:nvSpPr>
        <p:spPr>
          <a:xfrm flipH="1">
            <a:off x="-16297" y="0"/>
            <a:ext cx="12208298" cy="6858000"/>
          </a:xfrm>
          <a:custGeom>
            <a:avLst/>
            <a:gdLst>
              <a:gd name="connsiteX0" fmla="*/ 8574289 w 12208298"/>
              <a:gd name="connsiteY0" fmla="*/ 0 h 6858000"/>
              <a:gd name="connsiteX1" fmla="*/ 0 w 12208298"/>
              <a:gd name="connsiteY1" fmla="*/ 0 h 6858000"/>
              <a:gd name="connsiteX2" fmla="*/ 0 w 12208298"/>
              <a:gd name="connsiteY2" fmla="*/ 6858000 h 6858000"/>
              <a:gd name="connsiteX3" fmla="*/ 532109 w 12208298"/>
              <a:gd name="connsiteY3" fmla="*/ 6858000 h 6858000"/>
              <a:gd name="connsiteX4" fmla="*/ 11495317 w 12208298"/>
              <a:gd name="connsiteY4" fmla="*/ 6858000 h 6858000"/>
              <a:gd name="connsiteX5" fmla="*/ 12208298 w 12208298"/>
              <a:gd name="connsiteY5" fmla="*/ 6858000 h 6858000"/>
              <a:gd name="connsiteX6" fmla="*/ 12208298 w 12208298"/>
              <a:gd name="connsiteY6" fmla="*/ 3146781 h 6858000"/>
              <a:gd name="connsiteX7" fmla="*/ 10353284 w 12208298"/>
              <a:gd name="connsiteY7" fmla="*/ 1291767 h 6858000"/>
              <a:gd name="connsiteX8" fmla="*/ 9866056 w 12208298"/>
              <a:gd name="connsiteY8" fmla="*/ 129176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8298" h="6858000">
                <a:moveTo>
                  <a:pt x="8574289" y="0"/>
                </a:moveTo>
                <a:lnTo>
                  <a:pt x="0" y="0"/>
                </a:lnTo>
                <a:lnTo>
                  <a:pt x="0" y="6858000"/>
                </a:lnTo>
                <a:lnTo>
                  <a:pt x="532109" y="6858000"/>
                </a:lnTo>
                <a:lnTo>
                  <a:pt x="11495317" y="6858000"/>
                </a:lnTo>
                <a:lnTo>
                  <a:pt x="12208298" y="6858000"/>
                </a:lnTo>
                <a:lnTo>
                  <a:pt x="12208298" y="3146781"/>
                </a:lnTo>
                <a:lnTo>
                  <a:pt x="10353284" y="1291767"/>
                </a:lnTo>
                <a:lnTo>
                  <a:pt x="9866056" y="1291767"/>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Freeform: Shape 15">
            <a:extLst>
              <a:ext uri="{FF2B5EF4-FFF2-40B4-BE49-F238E27FC236}">
                <a16:creationId xmlns:a16="http://schemas.microsoft.com/office/drawing/2014/main" id="{B989C45D-BDFF-418F-BE79-03FF70015770}"/>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pattFill prst="wdDnDiag">
            <a:fgClr>
              <a:schemeClr val="accent1"/>
            </a:fgClr>
            <a:bgClr>
              <a:schemeClr val="accent2"/>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Freeform: Shape 19">
            <a:extLst>
              <a:ext uri="{FF2B5EF4-FFF2-40B4-BE49-F238E27FC236}">
                <a16:creationId xmlns:a16="http://schemas.microsoft.com/office/drawing/2014/main" id="{0027A677-9ACB-4264-B148-4806678FB83F}"/>
              </a:ext>
            </a:extLst>
          </p:cNvPr>
          <p:cNvSpPr/>
          <p:nvPr/>
        </p:nvSpPr>
        <p:spPr>
          <a:xfrm rot="5400000" flipH="1" flipV="1">
            <a:off x="2667000" y="-2667001"/>
            <a:ext cx="6858000" cy="12192002"/>
          </a:xfrm>
          <a:custGeom>
            <a:avLst/>
            <a:gdLst>
              <a:gd name="connsiteX0" fmla="*/ 6858000 w 6858000"/>
              <a:gd name="connsiteY0" fmla="*/ 3871658 h 12192002"/>
              <a:gd name="connsiteX1" fmla="*/ 6858000 w 6858000"/>
              <a:gd name="connsiteY1" fmla="*/ 12192002 h 12192002"/>
              <a:gd name="connsiteX2" fmla="*/ 5363029 w 6858000"/>
              <a:gd name="connsiteY2" fmla="*/ 12192002 h 12192002"/>
              <a:gd name="connsiteX3" fmla="*/ 5363029 w 6858000"/>
              <a:gd name="connsiteY3" fmla="*/ 12192000 h 12192002"/>
              <a:gd name="connsiteX4" fmla="*/ 0 w 6858000"/>
              <a:gd name="connsiteY4" fmla="*/ 12192000 h 12192002"/>
              <a:gd name="connsiteX5" fmla="*/ 0 w 6858000"/>
              <a:gd name="connsiteY5" fmla="*/ 0 h 12192002"/>
              <a:gd name="connsiteX6" fmla="*/ 3539398 w 6858000"/>
              <a:gd name="connsiteY6" fmla="*/ 0 h 12192002"/>
              <a:gd name="connsiteX7" fmla="*/ 5566229 w 6858000"/>
              <a:gd name="connsiteY7" fmla="*/ 2026831 h 12192002"/>
              <a:gd name="connsiteX8" fmla="*/ 5566229 w 6858000"/>
              <a:gd name="connsiteY8" fmla="*/ 2575538 h 12192002"/>
              <a:gd name="connsiteX9" fmla="*/ 6858000 w 6858000"/>
              <a:gd name="connsiteY9" fmla="*/ 3871657 h 12192002"/>
              <a:gd name="connsiteX10" fmla="*/ 5566229 w 6858000"/>
              <a:gd name="connsiteY10" fmla="*/ 3871657 h 12192002"/>
              <a:gd name="connsiteX11" fmla="*/ 5566229 w 6858000"/>
              <a:gd name="connsiteY11" fmla="*/ 3871658 h 12192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858000" h="12192002">
                <a:moveTo>
                  <a:pt x="6858000" y="3871658"/>
                </a:moveTo>
                <a:lnTo>
                  <a:pt x="6858000" y="12192002"/>
                </a:lnTo>
                <a:lnTo>
                  <a:pt x="5363029" y="12192002"/>
                </a:lnTo>
                <a:lnTo>
                  <a:pt x="5363029" y="12192000"/>
                </a:lnTo>
                <a:lnTo>
                  <a:pt x="0" y="12192000"/>
                </a:lnTo>
                <a:lnTo>
                  <a:pt x="0" y="0"/>
                </a:lnTo>
                <a:lnTo>
                  <a:pt x="3539398" y="0"/>
                </a:lnTo>
                <a:lnTo>
                  <a:pt x="5566229" y="2026831"/>
                </a:lnTo>
                <a:lnTo>
                  <a:pt x="5566229" y="2575538"/>
                </a:lnTo>
                <a:lnTo>
                  <a:pt x="6858000" y="3871657"/>
                </a:lnTo>
                <a:lnTo>
                  <a:pt x="5566229" y="3871657"/>
                </a:lnTo>
                <a:lnTo>
                  <a:pt x="5566229" y="3871658"/>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E597736-C478-4C26-9BAF-205FE31E977C}"/>
              </a:ext>
            </a:extLst>
          </p:cNvPr>
          <p:cNvSpPr>
            <a:spLocks noGrp="1"/>
          </p:cNvSpPr>
          <p:nvPr userDrawn="1">
            <p:ph type="ctrTitle" hasCustomPrompt="1"/>
          </p:nvPr>
        </p:nvSpPr>
        <p:spPr>
          <a:xfrm>
            <a:off x="6360242" y="3429000"/>
            <a:ext cx="4945598" cy="1243584"/>
          </a:xfrm>
        </p:spPr>
        <p:txBody>
          <a:bodyPr vert="horz" lIns="91440" tIns="45720" rIns="91440" bIns="45720" rtlCol="0" anchor="ctr">
            <a:noAutofit/>
          </a:bodyPr>
          <a:lstStyle>
            <a:lvl1pPr>
              <a:defRPr lang="en-GB" sz="5400" b="1" dirty="0">
                <a:solidFill>
                  <a:schemeClr val="bg1"/>
                </a:solidFill>
                <a:latin typeface="+mj-lt"/>
                <a:ea typeface="Tahoma" panose="020B0604030504040204" pitchFamily="34" charset="0"/>
                <a:cs typeface="Tahoma" panose="020B0604030504040204" pitchFamily="34" charset="0"/>
              </a:defRPr>
            </a:lvl1pPr>
          </a:lstStyle>
          <a:p>
            <a:pPr lvl="0"/>
            <a:r>
              <a:rPr lang="en-US" noProof="0"/>
              <a:t>Thank You</a:t>
            </a:r>
          </a:p>
        </p:txBody>
      </p:sp>
      <p:sp>
        <p:nvSpPr>
          <p:cNvPr id="35" name="Freeform: Shape 34">
            <a:extLst>
              <a:ext uri="{FF2B5EF4-FFF2-40B4-BE49-F238E27FC236}">
                <a16:creationId xmlns:a16="http://schemas.microsoft.com/office/drawing/2014/main" id="{C024DCDB-C6BF-455E-AAB8-EAF9DAB302A1}"/>
              </a:ext>
            </a:extLst>
          </p:cNvPr>
          <p:cNvSpPr/>
          <p:nvPr userDrawn="1"/>
        </p:nvSpPr>
        <p:spPr>
          <a:xfrm rot="13500000">
            <a:off x="-729899" y="-1215856"/>
            <a:ext cx="6043521" cy="8427077"/>
          </a:xfrm>
          <a:custGeom>
            <a:avLst/>
            <a:gdLst>
              <a:gd name="connsiteX0" fmla="*/ 6043521 w 6043521"/>
              <a:gd name="connsiteY0" fmla="*/ 4267535 h 8427077"/>
              <a:gd name="connsiteX1" fmla="*/ 1883979 w 6043521"/>
              <a:gd name="connsiteY1" fmla="*/ 8427077 h 8427077"/>
              <a:gd name="connsiteX2" fmla="*/ 0 w 6043521"/>
              <a:gd name="connsiteY2" fmla="*/ 8427077 h 8427077"/>
              <a:gd name="connsiteX3" fmla="*/ 0 w 6043521"/>
              <a:gd name="connsiteY3" fmla="*/ 1775986 h 8427077"/>
              <a:gd name="connsiteX4" fmla="*/ 1775985 w 6043521"/>
              <a:gd name="connsiteY4" fmla="*/ 0 h 84270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8427077">
                <a:moveTo>
                  <a:pt x="6043521" y="4267535"/>
                </a:moveTo>
                <a:lnTo>
                  <a:pt x="1883979" y="8427077"/>
                </a:lnTo>
                <a:lnTo>
                  <a:pt x="0" y="8427077"/>
                </a:lnTo>
                <a:lnTo>
                  <a:pt x="0" y="1775986"/>
                </a:lnTo>
                <a:lnTo>
                  <a:pt x="1775985"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2" name="Freeform: Shape 31">
            <a:extLst>
              <a:ext uri="{FF2B5EF4-FFF2-40B4-BE49-F238E27FC236}">
                <a16:creationId xmlns:a16="http://schemas.microsoft.com/office/drawing/2014/main" id="{26AFB47A-5D51-4F9C-B01B-977CE5E3C093}"/>
              </a:ext>
            </a:extLst>
          </p:cNvPr>
          <p:cNvSpPr/>
          <p:nvPr userDrawn="1"/>
        </p:nvSpPr>
        <p:spPr>
          <a:xfrm rot="13500000">
            <a:off x="-1145231" y="-2123853"/>
            <a:ext cx="6043521" cy="9008880"/>
          </a:xfrm>
          <a:custGeom>
            <a:avLst/>
            <a:gdLst>
              <a:gd name="connsiteX0" fmla="*/ 6043521 w 6043521"/>
              <a:gd name="connsiteY0" fmla="*/ 4849338 h 9008880"/>
              <a:gd name="connsiteX1" fmla="*/ 1883979 w 6043521"/>
              <a:gd name="connsiteY1" fmla="*/ 9008880 h 9008880"/>
              <a:gd name="connsiteX2" fmla="*/ 0 w 6043521"/>
              <a:gd name="connsiteY2" fmla="*/ 9008880 h 9008880"/>
              <a:gd name="connsiteX3" fmla="*/ 0 w 6043521"/>
              <a:gd name="connsiteY3" fmla="*/ 1194182 h 9008880"/>
              <a:gd name="connsiteX4" fmla="*/ 1194182 w 6043521"/>
              <a:gd name="connsiteY4" fmla="*/ 0 h 90088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43521" h="9008880">
                <a:moveTo>
                  <a:pt x="6043521" y="4849338"/>
                </a:moveTo>
                <a:lnTo>
                  <a:pt x="1883979" y="9008880"/>
                </a:lnTo>
                <a:lnTo>
                  <a:pt x="0" y="9008880"/>
                </a:lnTo>
                <a:lnTo>
                  <a:pt x="0" y="1194182"/>
                </a:lnTo>
                <a:lnTo>
                  <a:pt x="1194182" y="0"/>
                </a:lnTo>
                <a:close/>
              </a:path>
            </a:pathLst>
          </a:custGeom>
          <a:pattFill prst="wdDnDiag">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30" name="Freeform: Shape 29">
            <a:extLst>
              <a:ext uri="{FF2B5EF4-FFF2-40B4-BE49-F238E27FC236}">
                <a16:creationId xmlns:a16="http://schemas.microsoft.com/office/drawing/2014/main" id="{6997A4FF-7390-4173-8ACD-6CF7145AACEC}"/>
              </a:ext>
            </a:extLst>
          </p:cNvPr>
          <p:cNvSpPr/>
          <p:nvPr userDrawn="1"/>
        </p:nvSpPr>
        <p:spPr>
          <a:xfrm rot="18900000" flipH="1">
            <a:off x="-2681153" y="-465959"/>
            <a:ext cx="8639119" cy="5739762"/>
          </a:xfrm>
          <a:custGeom>
            <a:avLst/>
            <a:gdLst>
              <a:gd name="connsiteX0" fmla="*/ 3789781 w 8639119"/>
              <a:gd name="connsiteY0" fmla="*/ 0 h 5739762"/>
              <a:gd name="connsiteX1" fmla="*/ 0 w 8639119"/>
              <a:gd name="connsiteY1" fmla="*/ 3789782 h 5739762"/>
              <a:gd name="connsiteX2" fmla="*/ 0 w 8639119"/>
              <a:gd name="connsiteY2" fmla="*/ 5739761 h 5739762"/>
              <a:gd name="connsiteX3" fmla="*/ 7748695 w 8639119"/>
              <a:gd name="connsiteY3" fmla="*/ 5739762 h 5739762"/>
              <a:gd name="connsiteX4" fmla="*/ 8639119 w 8639119"/>
              <a:gd name="connsiteY4" fmla="*/ 4849338 h 5739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639119" h="5739762">
                <a:moveTo>
                  <a:pt x="3789781" y="0"/>
                </a:moveTo>
                <a:lnTo>
                  <a:pt x="0" y="3789782"/>
                </a:lnTo>
                <a:lnTo>
                  <a:pt x="0" y="5739761"/>
                </a:lnTo>
                <a:lnTo>
                  <a:pt x="7748695" y="5739762"/>
                </a:lnTo>
                <a:lnTo>
                  <a:pt x="8639119" y="4849338"/>
                </a:lnTo>
                <a:close/>
              </a:path>
            </a:pathLst>
          </a:custGeom>
          <a:solidFill>
            <a:schemeClr val="accent1">
              <a:lumMod val="50000"/>
              <a:alpha val="51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Tree>
    <p:extLst>
      <p:ext uri="{BB962C8B-B14F-4D97-AF65-F5344CB8AC3E}">
        <p14:creationId xmlns:p14="http://schemas.microsoft.com/office/powerpoint/2010/main" val="12185180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61B0E15-6FC5-434E-8780-B186D9DB0CD0}"/>
              </a:ext>
            </a:extLst>
          </p:cNvPr>
          <p:cNvSpPr>
            <a:spLocks noGrp="1"/>
          </p:cNvSpPr>
          <p:nvPr>
            <p:ph type="title"/>
          </p:nvPr>
        </p:nvSpPr>
        <p:spPr>
          <a:xfrm>
            <a:off x="838200" y="365125"/>
            <a:ext cx="10820400" cy="1325563"/>
          </a:xfrm>
          <a:prstGeom prst="rect">
            <a:avLst/>
          </a:prstGeom>
        </p:spPr>
        <p:txBody>
          <a:bodyPr vert="horz" lIns="91440" tIns="45720" rIns="91440" bIns="45720" rtlCol="0" anchor="ctr">
            <a:normAutofit/>
          </a:bodyPr>
          <a:lstStyle/>
          <a:p>
            <a:r>
              <a:rPr lang="en-US" noProof="0"/>
              <a:t>Click to edit Master title style</a:t>
            </a:r>
          </a:p>
        </p:txBody>
      </p:sp>
      <p:sp>
        <p:nvSpPr>
          <p:cNvPr id="3" name="Text Placeholder 2">
            <a:extLst>
              <a:ext uri="{FF2B5EF4-FFF2-40B4-BE49-F238E27FC236}">
                <a16:creationId xmlns:a16="http://schemas.microsoft.com/office/drawing/2014/main" id="{A9C7B128-34F3-405C-B601-8BAFDB43499C}"/>
              </a:ext>
            </a:extLst>
          </p:cNvPr>
          <p:cNvSpPr>
            <a:spLocks noGrp="1"/>
          </p:cNvSpPr>
          <p:nvPr>
            <p:ph type="body" idx="1"/>
          </p:nvPr>
        </p:nvSpPr>
        <p:spPr>
          <a:xfrm>
            <a:off x="838200" y="1825625"/>
            <a:ext cx="10820400" cy="43513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Slide Number Placeholder 5">
            <a:extLst>
              <a:ext uri="{FF2B5EF4-FFF2-40B4-BE49-F238E27FC236}">
                <a16:creationId xmlns:a16="http://schemas.microsoft.com/office/drawing/2014/main" id="{9F5A7754-E8C7-438B-922D-9027C6CF58E2}"/>
              </a:ext>
            </a:extLst>
          </p:cNvPr>
          <p:cNvSpPr>
            <a:spLocks noGrp="1"/>
          </p:cNvSpPr>
          <p:nvPr>
            <p:ph type="sldNum" sz="quarter" idx="4"/>
          </p:nvPr>
        </p:nvSpPr>
        <p:spPr>
          <a:xfrm>
            <a:off x="11112500" y="6356350"/>
            <a:ext cx="660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63D6C4-4840-40CC-AC84-17E24B3B7BDE}" type="slidenum">
              <a:rPr lang="en-US" noProof="0" smtClean="0"/>
              <a:t>‹#›</a:t>
            </a:fld>
            <a:endParaRPr lang="en-US" noProof="0" dirty="0"/>
          </a:p>
        </p:txBody>
      </p:sp>
      <p:sp>
        <p:nvSpPr>
          <p:cNvPr id="5" name="Rectangle 4">
            <a:extLst>
              <a:ext uri="{FF2B5EF4-FFF2-40B4-BE49-F238E27FC236}">
                <a16:creationId xmlns:a16="http://schemas.microsoft.com/office/drawing/2014/main" id="{7CDDDB7D-9189-9548-A2B9-81DC62C3C1A3}"/>
              </a:ext>
            </a:extLst>
          </p:cNvPr>
          <p:cNvSpPr/>
          <p:nvPr userDrawn="1"/>
        </p:nvSpPr>
        <p:spPr>
          <a:xfrm>
            <a:off x="0" y="1"/>
            <a:ext cx="12192000" cy="6857999"/>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 name="Freeform: Shape 9">
            <a:extLst>
              <a:ext uri="{FF2B5EF4-FFF2-40B4-BE49-F238E27FC236}">
                <a16:creationId xmlns:a16="http://schemas.microsoft.com/office/drawing/2014/main" id="{096D8877-6B4A-4540-8927-767DD7401718}"/>
              </a:ext>
            </a:extLst>
          </p:cNvPr>
          <p:cNvSpPr/>
          <p:nvPr userDrawn="1"/>
        </p:nvSpPr>
        <p:spPr>
          <a:xfrm>
            <a:off x="0" y="1"/>
            <a:ext cx="12192001" cy="6857999"/>
          </a:xfrm>
          <a:custGeom>
            <a:avLst/>
            <a:gdLst>
              <a:gd name="connsiteX0" fmla="*/ 0 w 12192001"/>
              <a:gd name="connsiteY0" fmla="*/ 0 h 6884191"/>
              <a:gd name="connsiteX1" fmla="*/ 7540222 w 12192001"/>
              <a:gd name="connsiteY1" fmla="*/ 0 h 6884191"/>
              <a:gd name="connsiteX2" fmla="*/ 10260629 w 12192001"/>
              <a:gd name="connsiteY2" fmla="*/ 2725573 h 6884191"/>
              <a:gd name="connsiteX3" fmla="*/ 11286710 w 12192001"/>
              <a:gd name="connsiteY3" fmla="*/ 2725573 h 6884191"/>
              <a:gd name="connsiteX4" fmla="*/ 12192000 w 12192001"/>
              <a:gd name="connsiteY4" fmla="*/ 3632581 h 6884191"/>
              <a:gd name="connsiteX5" fmla="*/ 12192001 w 12192001"/>
              <a:gd name="connsiteY5" fmla="*/ 6884191 h 6884191"/>
              <a:gd name="connsiteX6" fmla="*/ 0 w 12192001"/>
              <a:gd name="connsiteY6" fmla="*/ 6884191 h 6884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1" h="6884191">
                <a:moveTo>
                  <a:pt x="0" y="0"/>
                </a:moveTo>
                <a:lnTo>
                  <a:pt x="7540222" y="0"/>
                </a:lnTo>
                <a:lnTo>
                  <a:pt x="10260629" y="2725573"/>
                </a:lnTo>
                <a:lnTo>
                  <a:pt x="11286710" y="2725573"/>
                </a:lnTo>
                <a:lnTo>
                  <a:pt x="12192000" y="3632581"/>
                </a:lnTo>
                <a:lnTo>
                  <a:pt x="12192001" y="6884191"/>
                </a:lnTo>
                <a:lnTo>
                  <a:pt x="0" y="6884191"/>
                </a:lnTo>
                <a:close/>
              </a:path>
            </a:pathLst>
          </a:custGeom>
          <a:solidFill>
            <a:schemeClr val="accent2">
              <a:alpha val="7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8" name="Freeform: Shape 17">
            <a:extLst>
              <a:ext uri="{FF2B5EF4-FFF2-40B4-BE49-F238E27FC236}">
                <a16:creationId xmlns:a16="http://schemas.microsoft.com/office/drawing/2014/main" id="{5AF2E123-FE0F-8541-8E36-5030C450AA7E}"/>
              </a:ext>
            </a:extLst>
          </p:cNvPr>
          <p:cNvSpPr/>
          <p:nvPr userDrawn="1"/>
        </p:nvSpPr>
        <p:spPr>
          <a:xfrm rot="16200000" flipV="1">
            <a:off x="2964809" y="-2364446"/>
            <a:ext cx="6862744" cy="11591639"/>
          </a:xfrm>
          <a:custGeom>
            <a:avLst/>
            <a:gdLst>
              <a:gd name="connsiteX0" fmla="*/ 6862744 w 6862744"/>
              <a:gd name="connsiteY0" fmla="*/ 11591639 h 11591639"/>
              <a:gd name="connsiteX1" fmla="*/ 6862744 w 6862744"/>
              <a:gd name="connsiteY1" fmla="*/ 5240223 h 11591639"/>
              <a:gd name="connsiteX2" fmla="*/ 4145656 w 6862744"/>
              <a:gd name="connsiteY2" fmla="*/ 5240223 h 11591639"/>
              <a:gd name="connsiteX3" fmla="*/ 4145656 w 6862744"/>
              <a:gd name="connsiteY3" fmla="*/ 5240222 h 11591639"/>
              <a:gd name="connsiteX4" fmla="*/ 6862744 w 6862744"/>
              <a:gd name="connsiteY4" fmla="*/ 5240222 h 11591639"/>
              <a:gd name="connsiteX5" fmla="*/ 4145656 w 6862744"/>
              <a:gd name="connsiteY5" fmla="*/ 2519152 h 11591639"/>
              <a:gd name="connsiteX6" fmla="*/ 4145656 w 6862744"/>
              <a:gd name="connsiteY6" fmla="*/ 1367198 h 11591639"/>
              <a:gd name="connsiteX7" fmla="*/ 2775863 w 6862744"/>
              <a:gd name="connsiteY7" fmla="*/ 0 h 11591639"/>
              <a:gd name="connsiteX8" fmla="*/ 0 w 6862744"/>
              <a:gd name="connsiteY8" fmla="*/ 0 h 11591639"/>
              <a:gd name="connsiteX9" fmla="*/ 0 w 6862744"/>
              <a:gd name="connsiteY9" fmla="*/ 11591639 h 11591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62744" h="11591639">
                <a:moveTo>
                  <a:pt x="6862744" y="11591639"/>
                </a:moveTo>
                <a:lnTo>
                  <a:pt x="6862744" y="5240223"/>
                </a:lnTo>
                <a:lnTo>
                  <a:pt x="4145656" y="5240223"/>
                </a:lnTo>
                <a:lnTo>
                  <a:pt x="4145656" y="5240222"/>
                </a:lnTo>
                <a:lnTo>
                  <a:pt x="6862744" y="5240222"/>
                </a:lnTo>
                <a:lnTo>
                  <a:pt x="4145656" y="2519152"/>
                </a:lnTo>
                <a:lnTo>
                  <a:pt x="4145656" y="1367198"/>
                </a:lnTo>
                <a:lnTo>
                  <a:pt x="2775863" y="0"/>
                </a:lnTo>
                <a:lnTo>
                  <a:pt x="0" y="0"/>
                </a:lnTo>
                <a:lnTo>
                  <a:pt x="0" y="11591639"/>
                </a:lnTo>
                <a:close/>
              </a:path>
            </a:pathLst>
          </a:custGeom>
          <a:pattFill prst="wdDnDiag">
            <a:fgClr>
              <a:schemeClr val="accent2"/>
            </a:fgClr>
            <a:bgClr>
              <a:schemeClr val="accent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noProof="0" dirty="0"/>
          </a:p>
        </p:txBody>
      </p:sp>
      <p:sp>
        <p:nvSpPr>
          <p:cNvPr id="9" name="Freeform: Shape 11">
            <a:extLst>
              <a:ext uri="{FF2B5EF4-FFF2-40B4-BE49-F238E27FC236}">
                <a16:creationId xmlns:a16="http://schemas.microsoft.com/office/drawing/2014/main" id="{E5519D99-3B68-924A-9CD0-14B911711CA8}"/>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pattFill prst="wdUpDiag">
            <a:fgClr>
              <a:schemeClr val="accent2"/>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 name="Freeform: Shape 7">
            <a:extLst>
              <a:ext uri="{FF2B5EF4-FFF2-40B4-BE49-F238E27FC236}">
                <a16:creationId xmlns:a16="http://schemas.microsoft.com/office/drawing/2014/main" id="{A09E21A9-FBEF-144C-A152-FE484F3C55C1}"/>
              </a:ext>
            </a:extLst>
          </p:cNvPr>
          <p:cNvSpPr/>
          <p:nvPr userDrawn="1"/>
        </p:nvSpPr>
        <p:spPr>
          <a:xfrm rot="16200000" flipV="1">
            <a:off x="2664629" y="-2669372"/>
            <a:ext cx="6862744" cy="12192000"/>
          </a:xfrm>
          <a:custGeom>
            <a:avLst/>
            <a:gdLst>
              <a:gd name="connsiteX0" fmla="*/ 6849744 w 6849744"/>
              <a:gd name="connsiteY0" fmla="*/ 12192000 h 12192000"/>
              <a:gd name="connsiteX1" fmla="*/ 6849744 w 6849744"/>
              <a:gd name="connsiteY1" fmla="*/ 5840584 h 12192000"/>
              <a:gd name="connsiteX2" fmla="*/ 4137803 w 6849744"/>
              <a:gd name="connsiteY2" fmla="*/ 5840584 h 12192000"/>
              <a:gd name="connsiteX3" fmla="*/ 4137803 w 6849744"/>
              <a:gd name="connsiteY3" fmla="*/ 5840583 h 12192000"/>
              <a:gd name="connsiteX4" fmla="*/ 6849744 w 6849744"/>
              <a:gd name="connsiteY4" fmla="*/ 5840583 h 12192000"/>
              <a:gd name="connsiteX5" fmla="*/ 4137803 w 6849744"/>
              <a:gd name="connsiteY5" fmla="*/ 3119513 h 12192000"/>
              <a:gd name="connsiteX6" fmla="*/ 4137803 w 6849744"/>
              <a:gd name="connsiteY6" fmla="*/ 1967559 h 12192000"/>
              <a:gd name="connsiteX7" fmla="*/ 2170243 w 6849744"/>
              <a:gd name="connsiteY7" fmla="*/ 0 h 12192000"/>
              <a:gd name="connsiteX8" fmla="*/ 0 w 6849744"/>
              <a:gd name="connsiteY8" fmla="*/ 0 h 12192000"/>
              <a:gd name="connsiteX9" fmla="*/ 0 w 6849744"/>
              <a:gd name="connsiteY9" fmla="*/ 12192000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49744" h="12192000">
                <a:moveTo>
                  <a:pt x="6849744" y="12192000"/>
                </a:moveTo>
                <a:lnTo>
                  <a:pt x="6849744" y="5840584"/>
                </a:lnTo>
                <a:lnTo>
                  <a:pt x="4137803" y="5840584"/>
                </a:lnTo>
                <a:lnTo>
                  <a:pt x="4137803" y="5840583"/>
                </a:lnTo>
                <a:lnTo>
                  <a:pt x="6849744" y="5840583"/>
                </a:lnTo>
                <a:lnTo>
                  <a:pt x="4137803" y="3119513"/>
                </a:lnTo>
                <a:lnTo>
                  <a:pt x="4137803" y="1967559"/>
                </a:lnTo>
                <a:lnTo>
                  <a:pt x="2170243" y="0"/>
                </a:lnTo>
                <a:lnTo>
                  <a:pt x="0" y="0"/>
                </a:lnTo>
                <a:lnTo>
                  <a:pt x="0" y="12192000"/>
                </a:lnTo>
                <a:close/>
              </a:path>
            </a:pathLst>
          </a:custGeom>
          <a:solidFill>
            <a:schemeClr val="accent1">
              <a:lumMod val="5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Title 1">
            <a:extLst>
              <a:ext uri="{FF2B5EF4-FFF2-40B4-BE49-F238E27FC236}">
                <a16:creationId xmlns:a16="http://schemas.microsoft.com/office/drawing/2014/main" id="{70C7F2CB-A8CE-1545-A08D-93592C4BAEEA}"/>
              </a:ext>
            </a:extLst>
          </p:cNvPr>
          <p:cNvSpPr txBox="1">
            <a:spLocks/>
          </p:cNvSpPr>
          <p:nvPr userDrawn="1"/>
        </p:nvSpPr>
        <p:spPr>
          <a:xfrm>
            <a:off x="444500" y="542925"/>
            <a:ext cx="11214100" cy="535531"/>
          </a:xfrm>
          <a:prstGeom prst="rect">
            <a:avLst/>
          </a:prstGeom>
        </p:spPr>
        <p:txBody>
          <a:bodyPr vert="horz" wrap="square" lIns="91440" tIns="45720" rIns="91440" bIns="45720" rtlCol="0" anchor="t">
            <a:spAutoFit/>
          </a:bodyPr>
          <a:lstStyle>
            <a:lvl1pPr algn="l" defTabSz="914400" rtl="0" eaLnBrk="1" latinLnBrk="0" hangingPunct="1">
              <a:lnSpc>
                <a:spcPct val="90000"/>
              </a:lnSpc>
              <a:spcBef>
                <a:spcPct val="0"/>
              </a:spcBef>
              <a:buNone/>
              <a:defRPr lang="en-GB" sz="3200" b="1" kern="1200" spc="-70" baseline="0" dirty="0">
                <a:solidFill>
                  <a:schemeClr val="bg1"/>
                </a:solidFill>
                <a:latin typeface="Trebuchet MS" panose="020B0603020202020204" pitchFamily="34" charset="0"/>
                <a:ea typeface="+mj-ea"/>
                <a:cs typeface="+mj-cs"/>
              </a:defRPr>
            </a:lvl1pPr>
          </a:lstStyle>
          <a:p>
            <a:r>
              <a:rPr lang="en-US" noProof="0" dirty="0">
                <a:latin typeface="+mj-lt"/>
              </a:rPr>
              <a:t>Click to edit Master title style</a:t>
            </a:r>
          </a:p>
        </p:txBody>
      </p:sp>
      <p:grpSp>
        <p:nvGrpSpPr>
          <p:cNvPr id="12" name="Group 11">
            <a:extLst>
              <a:ext uri="{FF2B5EF4-FFF2-40B4-BE49-F238E27FC236}">
                <a16:creationId xmlns:a16="http://schemas.microsoft.com/office/drawing/2014/main" id="{7068FCE4-1B47-3C4B-B091-013120A97D09}"/>
              </a:ext>
            </a:extLst>
          </p:cNvPr>
          <p:cNvGrpSpPr/>
          <p:nvPr userDrawn="1"/>
        </p:nvGrpSpPr>
        <p:grpSpPr>
          <a:xfrm rot="16200000">
            <a:off x="499388" y="-322655"/>
            <a:ext cx="535531" cy="645309"/>
            <a:chOff x="10945855" y="7317026"/>
            <a:chExt cx="2483924" cy="2993104"/>
          </a:xfrm>
        </p:grpSpPr>
        <p:sp>
          <p:nvSpPr>
            <p:cNvPr id="13" name="Freeform: Shape 15">
              <a:extLst>
                <a:ext uri="{FF2B5EF4-FFF2-40B4-BE49-F238E27FC236}">
                  <a16:creationId xmlns:a16="http://schemas.microsoft.com/office/drawing/2014/main" id="{FEC3FDE7-F27E-5E4E-8752-287CAB7792D4}"/>
                </a:ext>
              </a:extLst>
            </p:cNvPr>
            <p:cNvSpPr/>
            <p:nvPr/>
          </p:nvSpPr>
          <p:spPr>
            <a:xfrm rot="2700000">
              <a:off x="10945855" y="7826207"/>
              <a:ext cx="2483923" cy="2483924"/>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Freeform: Shape 16">
              <a:extLst>
                <a:ext uri="{FF2B5EF4-FFF2-40B4-BE49-F238E27FC236}">
                  <a16:creationId xmlns:a16="http://schemas.microsoft.com/office/drawing/2014/main" id="{81C902DB-0D21-5044-82B6-9E7A70A1BF62}"/>
                </a:ext>
              </a:extLst>
            </p:cNvPr>
            <p:cNvSpPr/>
            <p:nvPr/>
          </p:nvSpPr>
          <p:spPr>
            <a:xfrm rot="8100000" flipH="1">
              <a:off x="10986797" y="7317026"/>
              <a:ext cx="2402031" cy="2402032"/>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1">
                  <a:lumMod val="60000"/>
                  <a:lumOff val="40000"/>
                </a:schemeClr>
              </a:fgClr>
              <a:bgClr>
                <a:schemeClr val="accent2">
                  <a:lumMod val="50000"/>
                </a:schemeClr>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grpSp>
        <p:nvGrpSpPr>
          <p:cNvPr id="15" name="Group 14">
            <a:extLst>
              <a:ext uri="{FF2B5EF4-FFF2-40B4-BE49-F238E27FC236}">
                <a16:creationId xmlns:a16="http://schemas.microsoft.com/office/drawing/2014/main" id="{BE1E08A0-195D-694F-947B-986A76FBB93E}"/>
              </a:ext>
            </a:extLst>
          </p:cNvPr>
          <p:cNvGrpSpPr/>
          <p:nvPr userDrawn="1"/>
        </p:nvGrpSpPr>
        <p:grpSpPr>
          <a:xfrm>
            <a:off x="-1" y="1357409"/>
            <a:ext cx="12192001" cy="4846320"/>
            <a:chOff x="-1" y="1357409"/>
            <a:chExt cx="12192001" cy="4917518"/>
          </a:xfrm>
        </p:grpSpPr>
        <p:sp>
          <p:nvSpPr>
            <p:cNvPr id="16" name="Rectangle: Single Corner Snipped 18">
              <a:extLst>
                <a:ext uri="{FF2B5EF4-FFF2-40B4-BE49-F238E27FC236}">
                  <a16:creationId xmlns:a16="http://schemas.microsoft.com/office/drawing/2014/main" id="{ED5DFFCD-1EE3-E64E-B51F-BD7D72413E0B}"/>
                </a:ext>
              </a:extLst>
            </p:cNvPr>
            <p:cNvSpPr/>
            <p:nvPr userDrawn="1"/>
          </p:nvSpPr>
          <p:spPr>
            <a:xfrm flipV="1">
              <a:off x="-1" y="1357409"/>
              <a:ext cx="12192000" cy="4917518"/>
            </a:xfrm>
            <a:prstGeom prst="snip1Rect">
              <a:avLst>
                <a:gd name="adj" fmla="val 0"/>
              </a:avLst>
            </a:prstGeom>
            <a:pattFill prst="dkVert">
              <a:fgClr>
                <a:schemeClr val="accent5"/>
              </a:fgClr>
              <a:bgClr>
                <a:schemeClr val="accent2">
                  <a:lumMod val="50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endParaRPr lang="en-US" noProof="0" dirty="0"/>
            </a:p>
          </p:txBody>
        </p:sp>
        <p:sp>
          <p:nvSpPr>
            <p:cNvPr id="17" name="Rectangle: Single Corner Snipped 2">
              <a:extLst>
                <a:ext uri="{FF2B5EF4-FFF2-40B4-BE49-F238E27FC236}">
                  <a16:creationId xmlns:a16="http://schemas.microsoft.com/office/drawing/2014/main" id="{C12DB3CA-8E64-AA43-BFBE-A2CA9A816DBE}"/>
                </a:ext>
              </a:extLst>
            </p:cNvPr>
            <p:cNvSpPr/>
            <p:nvPr userDrawn="1"/>
          </p:nvSpPr>
          <p:spPr>
            <a:xfrm flipV="1">
              <a:off x="-1" y="1357409"/>
              <a:ext cx="12192001" cy="4917518"/>
            </a:xfrm>
            <a:prstGeom prst="snip1Rect">
              <a:avLst>
                <a:gd name="adj" fmla="val 1967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18" name="Freeform: Shape 23">
            <a:extLst>
              <a:ext uri="{FF2B5EF4-FFF2-40B4-BE49-F238E27FC236}">
                <a16:creationId xmlns:a16="http://schemas.microsoft.com/office/drawing/2014/main" id="{A587DEFD-D470-4142-8E0D-A71DDB147C92}"/>
              </a:ext>
            </a:extLst>
          </p:cNvPr>
          <p:cNvSpPr/>
          <p:nvPr userDrawn="1"/>
        </p:nvSpPr>
        <p:spPr>
          <a:xfrm flipH="1">
            <a:off x="10782300" y="5448297"/>
            <a:ext cx="1409700" cy="1409703"/>
          </a:xfrm>
          <a:custGeom>
            <a:avLst/>
            <a:gdLst>
              <a:gd name="connsiteX0" fmla="*/ 754341 w 754341"/>
              <a:gd name="connsiteY0" fmla="*/ 754341 h 754341"/>
              <a:gd name="connsiteX1" fmla="*/ 0 w 754341"/>
              <a:gd name="connsiteY1" fmla="*/ 754341 h 754341"/>
              <a:gd name="connsiteX2" fmla="*/ 0 w 754341"/>
              <a:gd name="connsiteY2" fmla="*/ 0 h 754341"/>
            </a:gdLst>
            <a:ahLst/>
            <a:cxnLst>
              <a:cxn ang="0">
                <a:pos x="connsiteX0" y="connsiteY0"/>
              </a:cxn>
              <a:cxn ang="0">
                <a:pos x="connsiteX1" y="connsiteY1"/>
              </a:cxn>
              <a:cxn ang="0">
                <a:pos x="connsiteX2" y="connsiteY2"/>
              </a:cxn>
            </a:cxnLst>
            <a:rect l="l" t="t" r="r" b="b"/>
            <a:pathLst>
              <a:path w="754341" h="754341">
                <a:moveTo>
                  <a:pt x="754341" y="754341"/>
                </a:moveTo>
                <a:lnTo>
                  <a:pt x="0" y="754341"/>
                </a:lnTo>
                <a:lnTo>
                  <a:pt x="0" y="0"/>
                </a:lnTo>
                <a:close/>
              </a:path>
            </a:pathLst>
          </a:custGeom>
          <a:pattFill prst="dkHorz">
            <a:fgClr>
              <a:schemeClr val="accent2">
                <a:lumMod val="50000"/>
              </a:schemeClr>
            </a:fgClr>
            <a:bgClr>
              <a:schemeClr val="accent2"/>
            </a:bgClr>
          </a:patt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 name="Slide Number Placeholder 4">
            <a:extLst>
              <a:ext uri="{FF2B5EF4-FFF2-40B4-BE49-F238E27FC236}">
                <a16:creationId xmlns:a16="http://schemas.microsoft.com/office/drawing/2014/main" id="{7D9BF857-7910-734D-A217-5E3344220AA2}"/>
              </a:ext>
            </a:extLst>
          </p:cNvPr>
          <p:cNvSpPr txBox="1">
            <a:spLocks/>
          </p:cNvSpPr>
          <p:nvPr userDrawn="1"/>
        </p:nvSpPr>
        <p:spPr>
          <a:xfrm>
            <a:off x="11252200" y="6315075"/>
            <a:ext cx="406400" cy="365125"/>
          </a:xfrm>
          <a:prstGeom prst="rect">
            <a:avLst/>
          </a:prstGeom>
        </p:spPr>
        <p:txBody>
          <a:bodyPr/>
          <a:lstStyle>
            <a:defPPr>
              <a:defRPr lang="en-US"/>
            </a:defPPr>
            <a:lvl1pPr marL="0" algn="l" defTabSz="914400" rtl="0" eaLnBrk="1" latinLnBrk="0" hangingPunct="1">
              <a:defRPr sz="1000" kern="1200">
                <a:solidFill>
                  <a:schemeClr val="bg1"/>
                </a:solidFill>
                <a:latin typeface="Trade Gothic LT Pro" panose="020B05030403030200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263D6C4-4840-40CC-AC84-17E24B3B7BDE}" type="slidenum">
              <a:rPr lang="en-US" noProof="0" smtClean="0"/>
              <a:pPr/>
              <a:t>‹#›</a:t>
            </a:fld>
            <a:endParaRPr lang="en-US" noProof="0" dirty="0"/>
          </a:p>
        </p:txBody>
      </p:sp>
    </p:spTree>
    <p:extLst>
      <p:ext uri="{BB962C8B-B14F-4D97-AF65-F5344CB8AC3E}">
        <p14:creationId xmlns:p14="http://schemas.microsoft.com/office/powerpoint/2010/main" val="666093331"/>
      </p:ext>
    </p:extLst>
  </p:cSld>
  <p:clrMap bg1="lt1" tx1="dk1" bg2="lt2" tx2="dk2" accent1="accent1" accent2="accent2" accent3="accent3" accent4="accent4" accent5="accent5" accent6="accent6" hlink="hlink" folHlink="folHlink"/>
  <p:sldLayoutIdLst>
    <p:sldLayoutId id="2147483649" r:id="rId1"/>
    <p:sldLayoutId id="2147483651" r:id="rId2"/>
    <p:sldLayoutId id="2147483660" r:id="rId3"/>
    <p:sldLayoutId id="2147483666" r:id="rId4"/>
    <p:sldLayoutId id="2147483654" r:id="rId5"/>
    <p:sldLayoutId id="2147483661" r:id="rId6"/>
    <p:sldLayoutId id="2147483677" r:id="rId7"/>
    <p:sldLayoutId id="2147483674" r:id="rId8"/>
    <p:sldLayoutId id="2147483665" r:id="rId9"/>
    <p:sldLayoutId id="2147483673" r:id="rId10"/>
    <p:sldLayoutId id="2147483662" r:id="rId11"/>
    <p:sldLayoutId id="2147483663" r:id="rId12"/>
    <p:sldLayoutId id="2147483664" r:id="rId13"/>
    <p:sldLayoutId id="2147483675" r:id="rId14"/>
    <p:sldLayoutId id="2147483676" r:id="rId15"/>
    <p:sldLayoutId id="2147483672" r:id="rId16"/>
    <p:sldLayoutId id="2147483667" r:id="rId17"/>
    <p:sldLayoutId id="2147483668" r:id="rId1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2"/>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2"/>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2"/>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2"/>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336" userDrawn="1">
          <p15:clr>
            <a:srgbClr val="F26B43"/>
          </p15:clr>
        </p15:guide>
        <p15:guide id="4" orient="horz" pos="336" userDrawn="1">
          <p15:clr>
            <a:srgbClr val="F26B43"/>
          </p15:clr>
        </p15:guide>
        <p15:guide id="5" pos="7344" userDrawn="1">
          <p15:clr>
            <a:srgbClr val="F26B43"/>
          </p15:clr>
        </p15:guide>
        <p15:guide id="6" orient="horz" pos="398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4.png"/><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5.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1.png"/><Relationship Id="rId1" Type="http://schemas.openxmlformats.org/officeDocument/2006/relationships/slideLayout" Target="../slideLayouts/slideLayout5.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5.xml"/><Relationship Id="rId5" Type="http://schemas.openxmlformats.org/officeDocument/2006/relationships/image" Target="../media/image2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7.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BE5BF-9922-45FB-8F3F-4446D40A051B}"/>
              </a:ext>
            </a:extLst>
          </p:cNvPr>
          <p:cNvSpPr>
            <a:spLocks noGrp="1"/>
          </p:cNvSpPr>
          <p:nvPr>
            <p:ph type="ctrTitle"/>
          </p:nvPr>
        </p:nvSpPr>
        <p:spPr>
          <a:xfrm>
            <a:off x="2109555" y="2164757"/>
            <a:ext cx="9506712" cy="1659805"/>
          </a:xfrm>
        </p:spPr>
        <p:txBody>
          <a:bodyPr/>
          <a:lstStyle/>
          <a:p>
            <a:pPr algn="l"/>
            <a:r>
              <a:rPr lang="en-GB" sz="5400" dirty="0"/>
              <a:t>Tableau Project:</a:t>
            </a:r>
            <a:br>
              <a:rPr lang="en-GB" sz="1800" b="0" i="0" u="none" strike="noStrike" baseline="0" dirty="0">
                <a:solidFill>
                  <a:srgbClr val="000000"/>
                </a:solidFill>
              </a:rPr>
            </a:br>
            <a:r>
              <a:rPr lang="en-GB" sz="1800" b="0" i="0" u="none" strike="noStrike" baseline="0" dirty="0">
                <a:solidFill>
                  <a:srgbClr val="000000"/>
                </a:solidFill>
              </a:rPr>
              <a:t> </a:t>
            </a:r>
            <a:r>
              <a:rPr lang="en-GB" sz="5400" dirty="0"/>
              <a:t>Bookstore Performance &amp; Publisher Insights (Q1 2024) </a:t>
            </a:r>
            <a:endParaRPr lang="en-US" sz="5400" dirty="0"/>
          </a:p>
        </p:txBody>
      </p:sp>
      <p:sp>
        <p:nvSpPr>
          <p:cNvPr id="3" name="Subtitle 2">
            <a:extLst>
              <a:ext uri="{FF2B5EF4-FFF2-40B4-BE49-F238E27FC236}">
                <a16:creationId xmlns:a16="http://schemas.microsoft.com/office/drawing/2014/main" id="{0D537F64-4C96-4AA8-BB21-E8053A3186DD}"/>
              </a:ext>
            </a:extLst>
          </p:cNvPr>
          <p:cNvSpPr>
            <a:spLocks noGrp="1"/>
          </p:cNvSpPr>
          <p:nvPr>
            <p:ph type="subTitle" idx="1"/>
          </p:nvPr>
        </p:nvSpPr>
        <p:spPr>
          <a:xfrm>
            <a:off x="2557272" y="3824562"/>
            <a:ext cx="7077456" cy="868680"/>
          </a:xfrm>
        </p:spPr>
        <p:txBody>
          <a:bodyPr/>
          <a:lstStyle/>
          <a:p>
            <a:pPr marL="0" indent="0">
              <a:buNone/>
            </a:pPr>
            <a:r>
              <a:rPr lang="en-US" dirty="0"/>
              <a:t>Robert Bejenaru – Data analyst career program</a:t>
            </a:r>
          </a:p>
        </p:txBody>
      </p:sp>
    </p:spTree>
    <p:extLst>
      <p:ext uri="{BB962C8B-B14F-4D97-AF65-F5344CB8AC3E}">
        <p14:creationId xmlns:p14="http://schemas.microsoft.com/office/powerpoint/2010/main" val="3946934594"/>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3676648" y="257376"/>
            <a:ext cx="4838703" cy="859055"/>
          </a:xfrm>
        </p:spPr>
        <p:txBody>
          <a:bodyPr>
            <a:noAutofit/>
          </a:bodyPr>
          <a:lstStyle/>
          <a:p>
            <a:pPr algn="l"/>
            <a:br>
              <a:rPr lang="en-GB" sz="1800" b="0" i="0" u="none" strike="noStrike" baseline="0" dirty="0">
                <a:solidFill>
                  <a:srgbClr val="000000"/>
                </a:solidFill>
              </a:rPr>
            </a:br>
            <a:r>
              <a:rPr lang="en-GB" sz="1800" b="0" i="0" u="none" strike="noStrike" baseline="0" dirty="0">
                <a:solidFill>
                  <a:srgbClr val="000000"/>
                </a:solidFill>
              </a:rPr>
              <a:t> </a:t>
            </a:r>
            <a:r>
              <a:rPr lang="en-GB" sz="6000" dirty="0"/>
              <a:t>Project Brief </a:t>
            </a:r>
            <a:endParaRPr lang="en-US" sz="6000" dirty="0"/>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2</a:t>
            </a:fld>
            <a:endParaRPr lang="en-US" dirty="0"/>
          </a:p>
        </p:txBody>
      </p:sp>
      <p:sp>
        <p:nvSpPr>
          <p:cNvPr id="5" name="TextBox 4">
            <a:extLst>
              <a:ext uri="{FF2B5EF4-FFF2-40B4-BE49-F238E27FC236}">
                <a16:creationId xmlns:a16="http://schemas.microsoft.com/office/drawing/2014/main" id="{222EEC84-018C-BA3C-145E-081068827667}"/>
              </a:ext>
            </a:extLst>
          </p:cNvPr>
          <p:cNvSpPr txBox="1"/>
          <p:nvPr/>
        </p:nvSpPr>
        <p:spPr>
          <a:xfrm>
            <a:off x="1033989" y="1116431"/>
            <a:ext cx="8227486" cy="1523494"/>
          </a:xfrm>
          <a:prstGeom prst="rect">
            <a:avLst/>
          </a:prstGeom>
          <a:noFill/>
        </p:spPr>
        <p:txBody>
          <a:bodyPr wrap="square">
            <a:spAutoFit/>
          </a:bodyPr>
          <a:lstStyle/>
          <a:p>
            <a:r>
              <a:rPr lang="en-GB" sz="2000" b="1" i="0" u="sng" strike="noStrike" baseline="0" dirty="0">
                <a:solidFill>
                  <a:schemeClr val="bg1"/>
                </a:solidFill>
                <a:latin typeface="Calibri" panose="020F0502020204030204" pitchFamily="34" charset="0"/>
              </a:rPr>
              <a:t>Overview: </a:t>
            </a:r>
            <a:endParaRPr lang="en-GB" sz="1800" b="0" i="0" u="none" strike="noStrike" baseline="0" dirty="0">
              <a:solidFill>
                <a:schemeClr val="bg1"/>
              </a:solidFill>
              <a:latin typeface="Calibri" panose="020F0502020204030204" pitchFamily="34" charset="0"/>
            </a:endParaRPr>
          </a:p>
          <a:p>
            <a:endParaRPr lang="en-GB" sz="600" b="0" i="0" u="none" strike="noStrike" baseline="0" dirty="0">
              <a:solidFill>
                <a:srgbClr val="000000"/>
              </a:solidFill>
              <a:latin typeface="Calibri" panose="020F0502020204030204" pitchFamily="34" charset="0"/>
            </a:endParaRPr>
          </a:p>
          <a:p>
            <a:r>
              <a:rPr lang="en-GB" sz="1600" dirty="0">
                <a:solidFill>
                  <a:schemeClr val="bg1"/>
                </a:solidFill>
                <a:latin typeface="Calibri" panose="020F0502020204030204" pitchFamily="34" charset="0"/>
              </a:rPr>
              <a:t>I am working as a Junior Data Analyst for a national bookstore group that sells books across several U.S. regions. Management has asked for a Q1 2024 performance review to understand which genres, regions and publishers are performing well, and to identify where to focus marketing and purchasing for Q2 2024.</a:t>
            </a:r>
            <a:endParaRPr lang="en-GB" sz="1600" dirty="0">
              <a:solidFill>
                <a:schemeClr val="bg1"/>
              </a:solidFill>
            </a:endParaRPr>
          </a:p>
        </p:txBody>
      </p:sp>
      <p:sp>
        <p:nvSpPr>
          <p:cNvPr id="33" name="TextBox 32">
            <a:extLst>
              <a:ext uri="{FF2B5EF4-FFF2-40B4-BE49-F238E27FC236}">
                <a16:creationId xmlns:a16="http://schemas.microsoft.com/office/drawing/2014/main" id="{A41CC4E9-44F2-7F6C-66B5-794BD28B03CA}"/>
              </a:ext>
            </a:extLst>
          </p:cNvPr>
          <p:cNvSpPr txBox="1"/>
          <p:nvPr/>
        </p:nvSpPr>
        <p:spPr>
          <a:xfrm>
            <a:off x="1033989" y="2639925"/>
            <a:ext cx="7600954" cy="3247043"/>
          </a:xfrm>
          <a:prstGeom prst="rect">
            <a:avLst/>
          </a:prstGeom>
          <a:noFill/>
        </p:spPr>
        <p:txBody>
          <a:bodyPr wrap="square">
            <a:spAutoFit/>
          </a:bodyPr>
          <a:lstStyle/>
          <a:p>
            <a:r>
              <a:rPr lang="en-GB" sz="2000" b="1" u="sng" dirty="0">
                <a:solidFill>
                  <a:schemeClr val="bg1"/>
                </a:solidFill>
                <a:latin typeface="Calibri" panose="020F0502020204030204" pitchFamily="34" charset="0"/>
              </a:rPr>
              <a:t>Objectives / Goals: </a:t>
            </a:r>
          </a:p>
          <a:p>
            <a:pPr algn="ctr"/>
            <a:endParaRPr lang="en-GB" sz="600" dirty="0">
              <a:solidFill>
                <a:srgbClr val="000000"/>
              </a:solidFill>
              <a:latin typeface="Calibri" panose="020F0502020204030204" pitchFamily="34" charset="0"/>
            </a:endParaRPr>
          </a:p>
          <a:p>
            <a:pPr marL="285750" indent="-285750">
              <a:buFont typeface="Arial" panose="020B0604020202020204" pitchFamily="34" charset="0"/>
              <a:buChar char="•"/>
            </a:pPr>
            <a:r>
              <a:rPr lang="en-GB" sz="1600" dirty="0">
                <a:solidFill>
                  <a:schemeClr val="bg1"/>
                </a:solidFill>
                <a:latin typeface="Calibri" panose="020F0502020204030204" pitchFamily="34" charset="0"/>
              </a:rPr>
              <a:t>Identify where to focus marketing and purchasing for Q2 2024.</a:t>
            </a:r>
          </a:p>
          <a:p>
            <a:pPr marL="285750" indent="-285750">
              <a:buFont typeface="Arial" panose="020B0604020202020204" pitchFamily="34" charset="0"/>
              <a:buChar char="•"/>
            </a:pPr>
            <a:r>
              <a:rPr lang="en-GB" sz="1600" dirty="0">
                <a:solidFill>
                  <a:schemeClr val="bg1"/>
                </a:solidFill>
                <a:latin typeface="Calibri" panose="020F0502020204030204" pitchFamily="34" charset="0"/>
              </a:rPr>
              <a:t>Compare sales performance across Regions to support Q2 regional targeting.</a:t>
            </a:r>
          </a:p>
          <a:p>
            <a:pPr marL="285750" indent="-285750">
              <a:buFont typeface="Arial" panose="020B0604020202020204" pitchFamily="34" charset="0"/>
              <a:buChar char="•"/>
            </a:pPr>
            <a:r>
              <a:rPr lang="en-GB" sz="1600" dirty="0">
                <a:solidFill>
                  <a:schemeClr val="bg1"/>
                </a:solidFill>
                <a:latin typeface="Calibri" panose="020F0502020204030204" pitchFamily="34" charset="0"/>
              </a:rPr>
              <a:t>Show how sales changed week by week during Q1 2024.</a:t>
            </a:r>
          </a:p>
          <a:p>
            <a:pPr marL="285750" indent="-285750">
              <a:buFont typeface="Arial" panose="020B0604020202020204" pitchFamily="34" charset="0"/>
              <a:buChar char="•"/>
            </a:pPr>
            <a:r>
              <a:rPr lang="en-GB" sz="1600" dirty="0">
                <a:solidFill>
                  <a:schemeClr val="bg1"/>
                </a:solidFill>
                <a:latin typeface="Calibri" panose="020F0502020204030204" pitchFamily="34" charset="0"/>
              </a:rPr>
              <a:t>Identify top and bottom performing publishers in Q1 2024.</a:t>
            </a:r>
          </a:p>
          <a:p>
            <a:pPr marL="285750" indent="-285750">
              <a:buFont typeface="Arial" panose="020B0604020202020204" pitchFamily="34" charset="0"/>
              <a:buChar char="•"/>
            </a:pPr>
            <a:r>
              <a:rPr lang="en-GB" sz="1600" dirty="0">
                <a:solidFill>
                  <a:schemeClr val="bg1"/>
                </a:solidFill>
                <a:latin typeface="Calibri" panose="020F0502020204030204" pitchFamily="34" charset="0"/>
              </a:rPr>
              <a:t>Spot strong/weak areas across the business quickly.</a:t>
            </a:r>
          </a:p>
          <a:p>
            <a:pPr marL="285750" indent="-285750">
              <a:buFont typeface="Arial" panose="020B0604020202020204" pitchFamily="34" charset="0"/>
              <a:buChar char="•"/>
            </a:pPr>
            <a:r>
              <a:rPr lang="en-GB" sz="1600" dirty="0">
                <a:solidFill>
                  <a:schemeClr val="bg1"/>
                </a:solidFill>
                <a:latin typeface="Calibri" panose="020F0502020204030204" pitchFamily="34" charset="0"/>
              </a:rPr>
              <a:t>Find high-quantity or high-sales outlier orders.</a:t>
            </a:r>
          </a:p>
          <a:p>
            <a:pPr marL="285750" indent="-285750">
              <a:buFont typeface="Arial" panose="020B0604020202020204" pitchFamily="34" charset="0"/>
              <a:buChar char="•"/>
            </a:pPr>
            <a:r>
              <a:rPr lang="en-GB" sz="1600" dirty="0">
                <a:solidFill>
                  <a:schemeClr val="bg1"/>
                </a:solidFill>
                <a:latin typeface="Calibri" panose="020F0502020204030204" pitchFamily="34" charset="0"/>
              </a:rPr>
              <a:t>Show how Q1 sales accumulated over time to support Q2 targets.</a:t>
            </a:r>
          </a:p>
          <a:p>
            <a:pPr marL="285750" indent="-285750">
              <a:buFont typeface="Arial" panose="020B0604020202020204" pitchFamily="34" charset="0"/>
              <a:buChar char="•"/>
            </a:pPr>
            <a:r>
              <a:rPr lang="en-GB" sz="1600" dirty="0">
                <a:solidFill>
                  <a:schemeClr val="bg1"/>
                </a:solidFill>
                <a:latin typeface="Calibri" panose="020F0502020204030204" pitchFamily="34" charset="0"/>
              </a:rPr>
              <a:t>Present Q1 2024 Bookstore Performance in one view for management.</a:t>
            </a:r>
          </a:p>
          <a:p>
            <a:pPr marL="285750" indent="-285750">
              <a:buFont typeface="Arial" panose="020B0604020202020204" pitchFamily="34" charset="0"/>
              <a:buChar char="•"/>
            </a:pPr>
            <a:endParaRPr lang="en-GB" sz="1600" dirty="0">
              <a:solidFill>
                <a:schemeClr val="bg1"/>
              </a:solidFill>
              <a:latin typeface="Calibri" panose="020F0502020204030204" pitchFamily="34" charset="0"/>
            </a:endParaRPr>
          </a:p>
          <a:p>
            <a:pPr marL="285750" indent="-285750">
              <a:buFont typeface="Arial" panose="020B0604020202020204" pitchFamily="34" charset="0"/>
              <a:buChar char="•"/>
            </a:pPr>
            <a:endParaRPr lang="en-GB" sz="1600" dirty="0">
              <a:solidFill>
                <a:schemeClr val="bg1"/>
              </a:solidFill>
              <a:latin typeface="Calibri" panose="020F0502020204030204" pitchFamily="34" charset="0"/>
            </a:endParaRPr>
          </a:p>
          <a:p>
            <a:pPr algn="ctr"/>
            <a:endParaRPr lang="en-GB" sz="1600" b="0" i="0" u="none" strike="noStrike" baseline="0" dirty="0">
              <a:solidFill>
                <a:schemeClr val="bg1"/>
              </a:solidFill>
              <a:latin typeface="Calibri" panose="020F0502020204030204" pitchFamily="34" charset="0"/>
            </a:endParaRPr>
          </a:p>
        </p:txBody>
      </p:sp>
      <p:sp>
        <p:nvSpPr>
          <p:cNvPr id="3" name="TextBox 2">
            <a:extLst>
              <a:ext uri="{FF2B5EF4-FFF2-40B4-BE49-F238E27FC236}">
                <a16:creationId xmlns:a16="http://schemas.microsoft.com/office/drawing/2014/main" id="{CC052845-6650-2686-DDDE-A8B576AC04B9}"/>
              </a:ext>
            </a:extLst>
          </p:cNvPr>
          <p:cNvSpPr txBox="1"/>
          <p:nvPr/>
        </p:nvSpPr>
        <p:spPr>
          <a:xfrm>
            <a:off x="1033989" y="5090576"/>
            <a:ext cx="7067554" cy="984885"/>
          </a:xfrm>
          <a:prstGeom prst="rect">
            <a:avLst/>
          </a:prstGeom>
          <a:noFill/>
        </p:spPr>
        <p:txBody>
          <a:bodyPr wrap="square">
            <a:spAutoFit/>
          </a:bodyPr>
          <a:lstStyle/>
          <a:p>
            <a:r>
              <a:rPr lang="en-GB" sz="2000" b="1" u="sng" dirty="0">
                <a:solidFill>
                  <a:schemeClr val="bg1"/>
                </a:solidFill>
                <a:latin typeface="Calibri" panose="020F0502020204030204" pitchFamily="34" charset="0"/>
              </a:rPr>
              <a:t>Key questions:</a:t>
            </a:r>
          </a:p>
          <a:p>
            <a:endParaRPr lang="en-GB" sz="600" b="0" i="0" u="none" strike="noStrike" baseline="0" dirty="0">
              <a:solidFill>
                <a:srgbClr val="000000"/>
              </a:solidFill>
            </a:endParaRPr>
          </a:p>
          <a:p>
            <a:pPr marL="285750" indent="-285750">
              <a:buFont typeface="Arial" panose="020B0604020202020204" pitchFamily="34" charset="0"/>
              <a:buChar char="•"/>
            </a:pPr>
            <a:r>
              <a:rPr lang="en-GB" sz="1600" dirty="0">
                <a:solidFill>
                  <a:schemeClr val="bg1"/>
                </a:solidFill>
                <a:latin typeface="Calibri" panose="020F0502020204030204" pitchFamily="34" charset="0"/>
              </a:rPr>
              <a:t>Which genres, regions and publishers are performing well?</a:t>
            </a:r>
          </a:p>
          <a:p>
            <a:pPr marL="285750" indent="-285750">
              <a:buFont typeface="Arial" panose="020B0604020202020204" pitchFamily="34" charset="0"/>
              <a:buChar char="•"/>
            </a:pPr>
            <a:r>
              <a:rPr lang="en-GB" sz="1600" dirty="0">
                <a:solidFill>
                  <a:schemeClr val="bg1"/>
                </a:solidFill>
                <a:latin typeface="Calibri" panose="020F0502020204030204" pitchFamily="34" charset="0"/>
              </a:rPr>
              <a:t>Where should the business focus marketing and purchasing for Q2 2024?</a:t>
            </a:r>
          </a:p>
        </p:txBody>
      </p:sp>
    </p:spTree>
    <p:extLst>
      <p:ext uri="{BB962C8B-B14F-4D97-AF65-F5344CB8AC3E}">
        <p14:creationId xmlns:p14="http://schemas.microsoft.com/office/powerpoint/2010/main" val="290279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2849031" y="359458"/>
            <a:ext cx="6493934" cy="859055"/>
          </a:xfrm>
        </p:spPr>
        <p:txBody>
          <a:bodyPr>
            <a:noAutofit/>
          </a:bodyPr>
          <a:lstStyle/>
          <a:p>
            <a:r>
              <a:rPr lang="en-US" sz="6000" dirty="0"/>
              <a:t>Dataset Overview</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3</a:t>
            </a:fld>
            <a:endParaRPr lang="en-US" dirty="0"/>
          </a:p>
        </p:txBody>
      </p:sp>
      <p:sp>
        <p:nvSpPr>
          <p:cNvPr id="5" name="TextBox 4">
            <a:extLst>
              <a:ext uri="{FF2B5EF4-FFF2-40B4-BE49-F238E27FC236}">
                <a16:creationId xmlns:a16="http://schemas.microsoft.com/office/drawing/2014/main" id="{222EEC84-018C-BA3C-145E-081068827667}"/>
              </a:ext>
            </a:extLst>
          </p:cNvPr>
          <p:cNvSpPr txBox="1"/>
          <p:nvPr/>
        </p:nvSpPr>
        <p:spPr>
          <a:xfrm>
            <a:off x="478364" y="1218513"/>
            <a:ext cx="3695702" cy="1723549"/>
          </a:xfrm>
          <a:prstGeom prst="rect">
            <a:avLst/>
          </a:prstGeom>
          <a:noFill/>
        </p:spPr>
        <p:txBody>
          <a:bodyPr wrap="square">
            <a:spAutoFit/>
          </a:bodyPr>
          <a:lstStyle/>
          <a:p>
            <a:r>
              <a:rPr lang="en-GB" sz="2000" b="1" i="0" u="sng" strike="noStrike" baseline="0" dirty="0">
                <a:solidFill>
                  <a:schemeClr val="bg1"/>
                </a:solidFill>
                <a:latin typeface="Calibri" panose="020F0502020204030204" pitchFamily="34" charset="0"/>
              </a:rPr>
              <a:t>Source of Data:</a:t>
            </a:r>
          </a:p>
          <a:p>
            <a:endParaRPr lang="en-GB" sz="600" b="1" i="0" u="sng" strike="noStrike" baseline="0" dirty="0">
              <a:solidFill>
                <a:schemeClr val="bg1"/>
              </a:solidFill>
              <a:latin typeface="Calibri" panose="020F0502020204030204" pitchFamily="34" charset="0"/>
            </a:endParaRPr>
          </a:p>
          <a:p>
            <a:r>
              <a:rPr lang="en-GB" sz="1600" dirty="0">
                <a:solidFill>
                  <a:schemeClr val="bg1"/>
                </a:solidFill>
                <a:latin typeface="Calibri" panose="020F0502020204030204" pitchFamily="34" charset="0"/>
              </a:rPr>
              <a:t>1. Bookstore_Monthly_Sales_2024_01.csv</a:t>
            </a:r>
          </a:p>
          <a:p>
            <a:r>
              <a:rPr lang="en-GB" sz="1600" dirty="0">
                <a:solidFill>
                  <a:schemeClr val="bg1"/>
                </a:solidFill>
                <a:latin typeface="Calibri" panose="020F0502020204030204" pitchFamily="34" charset="0"/>
              </a:rPr>
              <a:t>2. Bookstore_Monthly_Sales_2024_02.csv</a:t>
            </a:r>
          </a:p>
          <a:p>
            <a:r>
              <a:rPr lang="en-GB" sz="1600" dirty="0">
                <a:solidFill>
                  <a:schemeClr val="bg1"/>
                </a:solidFill>
                <a:latin typeface="Calibri" panose="020F0502020204030204" pitchFamily="34" charset="0"/>
              </a:rPr>
              <a:t>3. Bookstore_Monthly_Sales_2024_03.csv</a:t>
            </a:r>
          </a:p>
          <a:p>
            <a:r>
              <a:rPr lang="en-GB" sz="1600" dirty="0">
                <a:solidFill>
                  <a:schemeClr val="bg1"/>
                </a:solidFill>
                <a:latin typeface="Calibri" panose="020F0502020204030204" pitchFamily="34" charset="0"/>
              </a:rPr>
              <a:t>4. Bookstore_Sales.csv</a:t>
            </a:r>
          </a:p>
          <a:p>
            <a:r>
              <a:rPr lang="en-GB" sz="1600" dirty="0">
                <a:solidFill>
                  <a:schemeClr val="bg1"/>
                </a:solidFill>
                <a:latin typeface="Calibri" panose="020F0502020204030204" pitchFamily="34" charset="0"/>
              </a:rPr>
              <a:t>5. Publisher_Info.csv</a:t>
            </a:r>
          </a:p>
        </p:txBody>
      </p:sp>
      <p:sp>
        <p:nvSpPr>
          <p:cNvPr id="33" name="TextBox 32">
            <a:extLst>
              <a:ext uri="{FF2B5EF4-FFF2-40B4-BE49-F238E27FC236}">
                <a16:creationId xmlns:a16="http://schemas.microsoft.com/office/drawing/2014/main" id="{A41CC4E9-44F2-7F6C-66B5-794BD28B03CA}"/>
              </a:ext>
            </a:extLst>
          </p:cNvPr>
          <p:cNvSpPr txBox="1"/>
          <p:nvPr/>
        </p:nvSpPr>
        <p:spPr>
          <a:xfrm>
            <a:off x="478364" y="4911832"/>
            <a:ext cx="5431369" cy="1477328"/>
          </a:xfrm>
          <a:prstGeom prst="rect">
            <a:avLst/>
          </a:prstGeom>
          <a:noFill/>
        </p:spPr>
        <p:txBody>
          <a:bodyPr wrap="square">
            <a:spAutoFit/>
          </a:bodyPr>
          <a:lstStyle/>
          <a:p>
            <a:r>
              <a:rPr lang="en-GB" sz="2000" b="1" u="sng" dirty="0">
                <a:solidFill>
                  <a:schemeClr val="bg1"/>
                </a:solidFill>
                <a:latin typeface="Calibri" panose="020F0502020204030204" pitchFamily="34" charset="0"/>
              </a:rPr>
              <a:t>Relevance of Dataset to Project Goals</a:t>
            </a:r>
          </a:p>
          <a:p>
            <a:endParaRPr lang="en-GB" sz="600" dirty="0">
              <a:solidFill>
                <a:srgbClr val="000000"/>
              </a:solidFill>
              <a:latin typeface="Calibri" panose="020F0502020204030204" pitchFamily="34" charset="0"/>
            </a:endParaRPr>
          </a:p>
          <a:p>
            <a:pPr marL="285750" indent="-285750">
              <a:buFont typeface="Arial" panose="020B0604020202020204" pitchFamily="34" charset="0"/>
              <a:buChar char="•"/>
            </a:pPr>
            <a:r>
              <a:rPr lang="en-GB" sz="1600" dirty="0">
                <a:solidFill>
                  <a:schemeClr val="bg1"/>
                </a:solidFill>
                <a:latin typeface="Calibri" panose="020F0502020204030204" pitchFamily="34" charset="0"/>
              </a:rPr>
              <a:t>Contains Quantity and Unit price to determine sale amount.</a:t>
            </a:r>
          </a:p>
          <a:p>
            <a:pPr marL="285750" indent="-285750">
              <a:buFont typeface="Arial" panose="020B0604020202020204" pitchFamily="34" charset="0"/>
              <a:buChar char="•"/>
            </a:pPr>
            <a:r>
              <a:rPr lang="en-GB" sz="1600" dirty="0" err="1">
                <a:solidFill>
                  <a:schemeClr val="bg1"/>
                </a:solidFill>
                <a:latin typeface="Calibri" panose="020F0502020204030204" pitchFamily="34" charset="0"/>
              </a:rPr>
              <a:t>OrderDate</a:t>
            </a:r>
            <a:r>
              <a:rPr lang="en-GB" sz="1600" dirty="0">
                <a:solidFill>
                  <a:schemeClr val="bg1"/>
                </a:solidFill>
                <a:latin typeface="Calibri" panose="020F0502020204030204" pitchFamily="34" charset="0"/>
              </a:rPr>
              <a:t> to compare sales over a period of time.</a:t>
            </a:r>
          </a:p>
          <a:p>
            <a:pPr marL="285750" indent="-285750">
              <a:buFont typeface="Arial" panose="020B0604020202020204" pitchFamily="34" charset="0"/>
              <a:buChar char="•"/>
            </a:pPr>
            <a:r>
              <a:rPr lang="en-GB" sz="1600" dirty="0">
                <a:solidFill>
                  <a:schemeClr val="bg1"/>
                </a:solidFill>
                <a:latin typeface="Calibri" panose="020F0502020204030204" pitchFamily="34" charset="0"/>
              </a:rPr>
              <a:t>Region to explore which areas are performing better than others.</a:t>
            </a:r>
          </a:p>
        </p:txBody>
      </p:sp>
      <p:sp>
        <p:nvSpPr>
          <p:cNvPr id="3" name="TextBox 2">
            <a:extLst>
              <a:ext uri="{FF2B5EF4-FFF2-40B4-BE49-F238E27FC236}">
                <a16:creationId xmlns:a16="http://schemas.microsoft.com/office/drawing/2014/main" id="{EDB9FDBB-77C9-EEDA-D5B2-4570120E8B48}"/>
              </a:ext>
            </a:extLst>
          </p:cNvPr>
          <p:cNvSpPr txBox="1"/>
          <p:nvPr/>
        </p:nvSpPr>
        <p:spPr>
          <a:xfrm>
            <a:off x="478364" y="2942062"/>
            <a:ext cx="6735235" cy="1969770"/>
          </a:xfrm>
          <a:prstGeom prst="rect">
            <a:avLst/>
          </a:prstGeom>
          <a:noFill/>
        </p:spPr>
        <p:txBody>
          <a:bodyPr wrap="square">
            <a:spAutoFit/>
          </a:bodyPr>
          <a:lstStyle/>
          <a:p>
            <a:r>
              <a:rPr lang="en-GB" sz="2000" b="1" i="0" u="sng" strike="noStrike" baseline="0" dirty="0">
                <a:solidFill>
                  <a:schemeClr val="bg1"/>
                </a:solidFill>
                <a:latin typeface="Calibri" panose="020F0502020204030204" pitchFamily="34" charset="0"/>
              </a:rPr>
              <a:t>Description of Dataset Content:</a:t>
            </a:r>
          </a:p>
          <a:p>
            <a:endParaRPr lang="en-GB" sz="600" b="0" i="0" u="none" strike="noStrike" baseline="0" dirty="0">
              <a:solidFill>
                <a:schemeClr val="bg1"/>
              </a:solidFill>
              <a:latin typeface="Calibri" panose="020F0502020204030204" pitchFamily="34" charset="0"/>
            </a:endParaRPr>
          </a:p>
          <a:p>
            <a:r>
              <a:rPr lang="en-GB" sz="1600" b="0" i="0" u="none" strike="noStrike" baseline="0" dirty="0">
                <a:solidFill>
                  <a:schemeClr val="bg1"/>
                </a:solidFill>
                <a:latin typeface="Calibri" panose="020F0502020204030204" pitchFamily="34" charset="0"/>
              </a:rPr>
              <a:t>Bookstore monthly sales union number of columns: 11</a:t>
            </a:r>
          </a:p>
          <a:p>
            <a:r>
              <a:rPr lang="en-GB" sz="1600" dirty="0">
                <a:solidFill>
                  <a:schemeClr val="bg1"/>
                </a:solidFill>
                <a:latin typeface="Calibri" panose="020F0502020204030204" pitchFamily="34" charset="0"/>
              </a:rPr>
              <a:t>Bookstore_Sales.csv number of columns: 16</a:t>
            </a:r>
          </a:p>
          <a:p>
            <a:r>
              <a:rPr lang="en-GB" sz="1600" dirty="0">
                <a:solidFill>
                  <a:schemeClr val="bg1"/>
                </a:solidFill>
                <a:latin typeface="Calibri" panose="020F0502020204030204" pitchFamily="34" charset="0"/>
              </a:rPr>
              <a:t>Publisher_Info.csv n</a:t>
            </a:r>
            <a:r>
              <a:rPr lang="en-GB" sz="1600" b="0" i="0" u="none" strike="noStrike" baseline="0" dirty="0">
                <a:solidFill>
                  <a:schemeClr val="bg1"/>
                </a:solidFill>
                <a:latin typeface="Calibri" panose="020F0502020204030204" pitchFamily="34" charset="0"/>
              </a:rPr>
              <a:t>u</a:t>
            </a:r>
            <a:r>
              <a:rPr lang="en-GB" sz="1600" dirty="0">
                <a:solidFill>
                  <a:schemeClr val="bg1"/>
                </a:solidFill>
                <a:latin typeface="Calibri" panose="020F0502020204030204" pitchFamily="34" charset="0"/>
              </a:rPr>
              <a:t>mber of columns: 6</a:t>
            </a:r>
          </a:p>
          <a:p>
            <a:r>
              <a:rPr lang="en-GB" sz="1600" b="0" i="0" u="none" strike="noStrike" baseline="0" dirty="0">
                <a:solidFill>
                  <a:schemeClr val="bg1"/>
                </a:solidFill>
                <a:latin typeface="Calibri" panose="020F0502020204030204" pitchFamily="34" charset="0"/>
              </a:rPr>
              <a:t>Total number of records: 750</a:t>
            </a:r>
          </a:p>
          <a:p>
            <a:r>
              <a:rPr lang="en-GB" sz="1600" dirty="0">
                <a:solidFill>
                  <a:schemeClr val="bg1"/>
                </a:solidFill>
                <a:latin typeface="Calibri" panose="020F0502020204030204" pitchFamily="34" charset="0"/>
              </a:rPr>
              <a:t>Data sources joined on </a:t>
            </a:r>
            <a:r>
              <a:rPr lang="en-GB" sz="1600" dirty="0" err="1">
                <a:solidFill>
                  <a:schemeClr val="bg1"/>
                </a:solidFill>
                <a:latin typeface="Calibri" panose="020F0502020204030204" pitchFamily="34" charset="0"/>
              </a:rPr>
              <a:t>PublisherID</a:t>
            </a:r>
            <a:endParaRPr lang="en-GB" sz="1600" b="0" i="0" u="none" strike="noStrike" baseline="0" dirty="0">
              <a:solidFill>
                <a:schemeClr val="bg1"/>
              </a:solidFill>
              <a:latin typeface="Calibri" panose="020F0502020204030204" pitchFamily="34" charset="0"/>
            </a:endParaRPr>
          </a:p>
          <a:p>
            <a:r>
              <a:rPr lang="en-GB" sz="1600" dirty="0">
                <a:solidFill>
                  <a:schemeClr val="bg1"/>
                </a:solidFill>
                <a:latin typeface="Calibri" panose="020F0502020204030204" pitchFamily="34" charset="0"/>
              </a:rPr>
              <a:t>Union of 3 of the bookstore monthly sales to make Q1</a:t>
            </a:r>
            <a:endParaRPr lang="en-GB" sz="1600" b="0" i="0" u="none" strike="noStrike" baseline="0" dirty="0">
              <a:solidFill>
                <a:schemeClr val="bg1"/>
              </a:solidFill>
              <a:latin typeface="Calibri" panose="020F0502020204030204" pitchFamily="34" charset="0"/>
            </a:endParaRPr>
          </a:p>
        </p:txBody>
      </p:sp>
      <p:pic>
        <p:nvPicPr>
          <p:cNvPr id="7" name="Picture 6">
            <a:extLst>
              <a:ext uri="{FF2B5EF4-FFF2-40B4-BE49-F238E27FC236}">
                <a16:creationId xmlns:a16="http://schemas.microsoft.com/office/drawing/2014/main" id="{D0F25642-6F70-09C5-5C95-DFA04255B627}"/>
              </a:ext>
            </a:extLst>
          </p:cNvPr>
          <p:cNvPicPr>
            <a:picLocks noChangeAspect="1"/>
          </p:cNvPicPr>
          <p:nvPr/>
        </p:nvPicPr>
        <p:blipFill>
          <a:blip r:embed="rId2"/>
          <a:stretch>
            <a:fillRect/>
          </a:stretch>
        </p:blipFill>
        <p:spPr>
          <a:xfrm>
            <a:off x="5283201" y="2332705"/>
            <a:ext cx="6798732" cy="2192590"/>
          </a:xfrm>
          <a:prstGeom prst="rect">
            <a:avLst/>
          </a:prstGeom>
        </p:spPr>
      </p:pic>
    </p:spTree>
    <p:extLst>
      <p:ext uri="{BB962C8B-B14F-4D97-AF65-F5344CB8AC3E}">
        <p14:creationId xmlns:p14="http://schemas.microsoft.com/office/powerpoint/2010/main" val="2253331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2849031" y="359458"/>
            <a:ext cx="6493934" cy="859055"/>
          </a:xfrm>
        </p:spPr>
        <p:txBody>
          <a:bodyPr>
            <a:noAutofit/>
          </a:bodyPr>
          <a:lstStyle/>
          <a:p>
            <a:r>
              <a:rPr lang="en-US" sz="6000" dirty="0"/>
              <a:t>Dataset Structure</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4</a:t>
            </a:fld>
            <a:endParaRPr lang="en-US" dirty="0"/>
          </a:p>
        </p:txBody>
      </p:sp>
      <p:sp>
        <p:nvSpPr>
          <p:cNvPr id="5" name="TextBox 4">
            <a:extLst>
              <a:ext uri="{FF2B5EF4-FFF2-40B4-BE49-F238E27FC236}">
                <a16:creationId xmlns:a16="http://schemas.microsoft.com/office/drawing/2014/main" id="{222EEC84-018C-BA3C-145E-081068827667}"/>
              </a:ext>
            </a:extLst>
          </p:cNvPr>
          <p:cNvSpPr txBox="1"/>
          <p:nvPr/>
        </p:nvSpPr>
        <p:spPr>
          <a:xfrm>
            <a:off x="679447" y="1392072"/>
            <a:ext cx="5262034" cy="400110"/>
          </a:xfrm>
          <a:prstGeom prst="rect">
            <a:avLst/>
          </a:prstGeom>
          <a:noFill/>
        </p:spPr>
        <p:txBody>
          <a:bodyPr wrap="square">
            <a:spAutoFit/>
          </a:bodyPr>
          <a:lstStyle/>
          <a:p>
            <a:r>
              <a:rPr lang="en-GB" sz="2000" b="1" i="0" u="sng" strike="noStrike" baseline="0" dirty="0">
                <a:solidFill>
                  <a:schemeClr val="bg1"/>
                </a:solidFill>
                <a:latin typeface="Calibri" panose="020F0502020204030204" pitchFamily="34" charset="0"/>
              </a:rPr>
              <a:t>The dataset contains the following key columns: </a:t>
            </a:r>
          </a:p>
        </p:txBody>
      </p:sp>
      <p:sp>
        <p:nvSpPr>
          <p:cNvPr id="6" name="TextBox 5">
            <a:extLst>
              <a:ext uri="{FF2B5EF4-FFF2-40B4-BE49-F238E27FC236}">
                <a16:creationId xmlns:a16="http://schemas.microsoft.com/office/drawing/2014/main" id="{813D125D-6BE2-5F2A-C907-24F445CC504A}"/>
              </a:ext>
            </a:extLst>
          </p:cNvPr>
          <p:cNvSpPr txBox="1"/>
          <p:nvPr/>
        </p:nvSpPr>
        <p:spPr>
          <a:xfrm>
            <a:off x="679447" y="1965741"/>
            <a:ext cx="1428752" cy="400110"/>
          </a:xfrm>
          <a:prstGeom prst="rect">
            <a:avLst/>
          </a:prstGeom>
          <a:noFill/>
        </p:spPr>
        <p:txBody>
          <a:bodyPr wrap="square">
            <a:spAutoFit/>
          </a:bodyPr>
          <a:lstStyle/>
          <a:p>
            <a:r>
              <a:rPr lang="en-GB" sz="2000" b="1" i="0" u="sng" strike="noStrike" baseline="0" dirty="0">
                <a:solidFill>
                  <a:schemeClr val="bg1"/>
                </a:solidFill>
                <a:latin typeface="Calibri" panose="020F0502020204030204" pitchFamily="34" charset="0"/>
              </a:rPr>
              <a:t>Categorical</a:t>
            </a:r>
            <a:r>
              <a:rPr lang="en-GB" sz="1800" b="1" i="0" u="sng" strike="noStrike" baseline="0" dirty="0">
                <a:solidFill>
                  <a:schemeClr val="bg1"/>
                </a:solidFill>
                <a:latin typeface="Calibri" panose="020F0502020204030204" pitchFamily="34" charset="0"/>
              </a:rPr>
              <a:t>:</a:t>
            </a:r>
            <a:endParaRPr lang="en-GB" dirty="0"/>
          </a:p>
        </p:txBody>
      </p:sp>
      <p:sp>
        <p:nvSpPr>
          <p:cNvPr id="7" name="TextBox 6">
            <a:extLst>
              <a:ext uri="{FF2B5EF4-FFF2-40B4-BE49-F238E27FC236}">
                <a16:creationId xmlns:a16="http://schemas.microsoft.com/office/drawing/2014/main" id="{A9B970B8-E7D7-1A55-7722-1A824045AF73}"/>
              </a:ext>
            </a:extLst>
          </p:cNvPr>
          <p:cNvSpPr txBox="1"/>
          <p:nvPr/>
        </p:nvSpPr>
        <p:spPr>
          <a:xfrm>
            <a:off x="679447" y="4166049"/>
            <a:ext cx="1428752" cy="400110"/>
          </a:xfrm>
          <a:prstGeom prst="rect">
            <a:avLst/>
          </a:prstGeom>
          <a:noFill/>
        </p:spPr>
        <p:txBody>
          <a:bodyPr wrap="square">
            <a:spAutoFit/>
          </a:bodyPr>
          <a:lstStyle/>
          <a:p>
            <a:r>
              <a:rPr lang="en-GB" sz="2000" b="1" u="sng" dirty="0">
                <a:solidFill>
                  <a:schemeClr val="bg1"/>
                </a:solidFill>
                <a:latin typeface="Calibri" panose="020F0502020204030204" pitchFamily="34" charset="0"/>
              </a:rPr>
              <a:t>Numerical</a:t>
            </a:r>
            <a:r>
              <a:rPr lang="en-GB" sz="1800" b="1" i="0" u="sng" strike="noStrike" baseline="0" dirty="0">
                <a:solidFill>
                  <a:schemeClr val="bg1"/>
                </a:solidFill>
                <a:latin typeface="Calibri" panose="020F0502020204030204" pitchFamily="34" charset="0"/>
              </a:rPr>
              <a:t>:</a:t>
            </a:r>
            <a:endParaRPr lang="en-GB" dirty="0"/>
          </a:p>
        </p:txBody>
      </p:sp>
      <p:sp>
        <p:nvSpPr>
          <p:cNvPr id="8" name="TextBox 7">
            <a:extLst>
              <a:ext uri="{FF2B5EF4-FFF2-40B4-BE49-F238E27FC236}">
                <a16:creationId xmlns:a16="http://schemas.microsoft.com/office/drawing/2014/main" id="{8340FFBE-2503-F3EF-AE51-941432D98AD0}"/>
              </a:ext>
            </a:extLst>
          </p:cNvPr>
          <p:cNvSpPr txBox="1"/>
          <p:nvPr/>
        </p:nvSpPr>
        <p:spPr>
          <a:xfrm>
            <a:off x="679447" y="2297400"/>
            <a:ext cx="8092020" cy="1815882"/>
          </a:xfrm>
          <a:prstGeom prst="rect">
            <a:avLst/>
          </a:prstGeom>
          <a:noFill/>
        </p:spPr>
        <p:txBody>
          <a:bodyPr wrap="square" rtlCol="0">
            <a:spAutoFit/>
          </a:bodyPr>
          <a:lstStyle/>
          <a:p>
            <a:r>
              <a:rPr lang="en-GB" sz="1600" dirty="0" err="1">
                <a:solidFill>
                  <a:schemeClr val="bg1"/>
                </a:solidFill>
                <a:latin typeface="Calibri" panose="020F0502020204030204" pitchFamily="34" charset="0"/>
              </a:rPr>
              <a:t>OrderID</a:t>
            </a:r>
            <a:r>
              <a:rPr lang="en-GB" sz="1600" dirty="0">
                <a:solidFill>
                  <a:schemeClr val="bg1"/>
                </a:solidFill>
                <a:latin typeface="Calibri" panose="020F0502020204030204" pitchFamily="34" charset="0"/>
              </a:rPr>
              <a:t> -&gt; Individual ID of each order.</a:t>
            </a:r>
          </a:p>
          <a:p>
            <a:r>
              <a:rPr lang="en-GB" sz="1600" dirty="0" err="1">
                <a:solidFill>
                  <a:schemeClr val="bg1"/>
                </a:solidFill>
                <a:latin typeface="Calibri" panose="020F0502020204030204" pitchFamily="34" charset="0"/>
              </a:rPr>
              <a:t>OrderDate</a:t>
            </a:r>
            <a:r>
              <a:rPr lang="en-GB" sz="1600" dirty="0">
                <a:solidFill>
                  <a:schemeClr val="bg1"/>
                </a:solidFill>
                <a:latin typeface="Calibri" panose="020F0502020204030204" pitchFamily="34" charset="0"/>
              </a:rPr>
              <a:t> -&gt; The date an order was placed.</a:t>
            </a:r>
          </a:p>
          <a:p>
            <a:r>
              <a:rPr lang="en-GB" sz="1600" dirty="0" err="1">
                <a:solidFill>
                  <a:schemeClr val="bg1"/>
                </a:solidFill>
                <a:latin typeface="Calibri" panose="020F0502020204030204" pitchFamily="34" charset="0"/>
              </a:rPr>
              <a:t>PublisherID</a:t>
            </a:r>
            <a:r>
              <a:rPr lang="en-GB" sz="1600" dirty="0">
                <a:solidFill>
                  <a:schemeClr val="bg1"/>
                </a:solidFill>
                <a:latin typeface="Calibri" panose="020F0502020204030204" pitchFamily="34" charset="0"/>
              </a:rPr>
              <a:t> -&gt;  The ID of the publisher of the book. Used to join the data sources together.</a:t>
            </a:r>
          </a:p>
          <a:p>
            <a:r>
              <a:rPr lang="en-GB" sz="1600" dirty="0">
                <a:solidFill>
                  <a:schemeClr val="bg1"/>
                </a:solidFill>
                <a:latin typeface="Calibri" panose="020F0502020204030204" pitchFamily="34" charset="0"/>
              </a:rPr>
              <a:t>Genre -&gt; Different genres of books.</a:t>
            </a:r>
          </a:p>
          <a:p>
            <a:r>
              <a:rPr lang="en-GB" sz="1600" dirty="0">
                <a:solidFill>
                  <a:schemeClr val="bg1"/>
                </a:solidFill>
                <a:latin typeface="Calibri" panose="020F0502020204030204" pitchFamily="34" charset="0"/>
              </a:rPr>
              <a:t>State -&gt; The state the book was purchased from.</a:t>
            </a:r>
          </a:p>
          <a:p>
            <a:r>
              <a:rPr lang="en-GB" sz="1600" dirty="0">
                <a:solidFill>
                  <a:schemeClr val="bg1"/>
                </a:solidFill>
                <a:latin typeface="Calibri" panose="020F0502020204030204" pitchFamily="34" charset="0"/>
              </a:rPr>
              <a:t>City -&gt; The city the book was purchased from.</a:t>
            </a:r>
          </a:p>
          <a:p>
            <a:r>
              <a:rPr lang="en-GB" sz="1600" dirty="0">
                <a:solidFill>
                  <a:schemeClr val="bg1"/>
                </a:solidFill>
                <a:latin typeface="Calibri" panose="020F0502020204030204" pitchFamily="34" charset="0"/>
              </a:rPr>
              <a:t>Region -&gt;  The region the book was purchased from. (Central, East, South, West).</a:t>
            </a:r>
          </a:p>
        </p:txBody>
      </p:sp>
      <p:sp>
        <p:nvSpPr>
          <p:cNvPr id="9" name="TextBox 8">
            <a:extLst>
              <a:ext uri="{FF2B5EF4-FFF2-40B4-BE49-F238E27FC236}">
                <a16:creationId xmlns:a16="http://schemas.microsoft.com/office/drawing/2014/main" id="{CCA9F5AA-323D-6B70-E400-8809B041B177}"/>
              </a:ext>
            </a:extLst>
          </p:cNvPr>
          <p:cNvSpPr txBox="1"/>
          <p:nvPr/>
        </p:nvSpPr>
        <p:spPr>
          <a:xfrm>
            <a:off x="679447" y="4492150"/>
            <a:ext cx="6695022" cy="830997"/>
          </a:xfrm>
          <a:prstGeom prst="rect">
            <a:avLst/>
          </a:prstGeom>
          <a:noFill/>
        </p:spPr>
        <p:txBody>
          <a:bodyPr wrap="square" rtlCol="0">
            <a:spAutoFit/>
          </a:bodyPr>
          <a:lstStyle/>
          <a:p>
            <a:r>
              <a:rPr lang="en-GB" sz="1600" dirty="0">
                <a:solidFill>
                  <a:schemeClr val="bg1"/>
                </a:solidFill>
                <a:latin typeface="Calibri" panose="020F0502020204030204" pitchFamily="34" charset="0"/>
              </a:rPr>
              <a:t>Quantity -&gt; The amount of books purchased.</a:t>
            </a:r>
          </a:p>
          <a:p>
            <a:r>
              <a:rPr lang="en-GB" sz="1600" dirty="0" err="1">
                <a:solidFill>
                  <a:schemeClr val="bg1"/>
                </a:solidFill>
                <a:latin typeface="Calibri" panose="020F0502020204030204" pitchFamily="34" charset="0"/>
              </a:rPr>
              <a:t>UnitPrice</a:t>
            </a:r>
            <a:r>
              <a:rPr lang="en-GB" sz="1600" dirty="0">
                <a:solidFill>
                  <a:schemeClr val="bg1"/>
                </a:solidFill>
                <a:latin typeface="Calibri" panose="020F0502020204030204" pitchFamily="34" charset="0"/>
              </a:rPr>
              <a:t> -&gt; The price per unit (book).</a:t>
            </a:r>
          </a:p>
          <a:p>
            <a:r>
              <a:rPr lang="en-GB" sz="1600" dirty="0">
                <a:solidFill>
                  <a:schemeClr val="bg1"/>
                </a:solidFill>
                <a:latin typeface="Calibri" panose="020F0502020204030204" pitchFamily="34" charset="0"/>
              </a:rPr>
              <a:t>Sales -&gt;  The total sale amount.</a:t>
            </a:r>
          </a:p>
        </p:txBody>
      </p:sp>
    </p:spTree>
    <p:extLst>
      <p:ext uri="{BB962C8B-B14F-4D97-AF65-F5344CB8AC3E}">
        <p14:creationId xmlns:p14="http://schemas.microsoft.com/office/powerpoint/2010/main" val="1709434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3BD8413-C238-49D7-A4E1-E8FEF1811A0E}"/>
              </a:ext>
            </a:extLst>
          </p:cNvPr>
          <p:cNvSpPr>
            <a:spLocks noGrp="1"/>
          </p:cNvSpPr>
          <p:nvPr>
            <p:ph type="title"/>
          </p:nvPr>
        </p:nvSpPr>
        <p:spPr>
          <a:xfrm>
            <a:off x="2227086" y="1132744"/>
            <a:ext cx="7737828" cy="859055"/>
          </a:xfrm>
        </p:spPr>
        <p:txBody>
          <a:bodyPr>
            <a:noAutofit/>
          </a:bodyPr>
          <a:lstStyle/>
          <a:p>
            <a:r>
              <a:rPr lang="en-US" sz="6000" dirty="0"/>
              <a:t>Identified Problems / Data Cleaning</a:t>
            </a:r>
          </a:p>
        </p:txBody>
      </p:sp>
      <p:sp>
        <p:nvSpPr>
          <p:cNvPr id="2" name="Slide Number Placeholder 1">
            <a:extLst>
              <a:ext uri="{FF2B5EF4-FFF2-40B4-BE49-F238E27FC236}">
                <a16:creationId xmlns:a16="http://schemas.microsoft.com/office/drawing/2014/main" id="{0B24BF10-2B55-43AB-9F77-F1A1410384A9}"/>
              </a:ext>
            </a:extLst>
          </p:cNvPr>
          <p:cNvSpPr>
            <a:spLocks noGrp="1"/>
          </p:cNvSpPr>
          <p:nvPr>
            <p:ph type="sldNum" sz="quarter" idx="12"/>
          </p:nvPr>
        </p:nvSpPr>
        <p:spPr/>
        <p:txBody>
          <a:bodyPr/>
          <a:lstStyle/>
          <a:p>
            <a:fld id="{C263D6C4-4840-40CC-AC84-17E24B3B7BDE}" type="slidenum">
              <a:rPr lang="en-US" smtClean="0"/>
              <a:pPr/>
              <a:t>5</a:t>
            </a:fld>
            <a:endParaRPr lang="en-US" dirty="0"/>
          </a:p>
        </p:txBody>
      </p:sp>
      <p:pic>
        <p:nvPicPr>
          <p:cNvPr id="7" name="Picture 6">
            <a:extLst>
              <a:ext uri="{FF2B5EF4-FFF2-40B4-BE49-F238E27FC236}">
                <a16:creationId xmlns:a16="http://schemas.microsoft.com/office/drawing/2014/main" id="{4485E37B-660D-4B51-A800-14B07C12AAE1}"/>
              </a:ext>
            </a:extLst>
          </p:cNvPr>
          <p:cNvPicPr>
            <a:picLocks noChangeAspect="1"/>
          </p:cNvPicPr>
          <p:nvPr/>
        </p:nvPicPr>
        <p:blipFill>
          <a:blip r:embed="rId2"/>
          <a:stretch>
            <a:fillRect/>
          </a:stretch>
        </p:blipFill>
        <p:spPr>
          <a:xfrm>
            <a:off x="6096000" y="2727265"/>
            <a:ext cx="5503333" cy="1959379"/>
          </a:xfrm>
          <a:prstGeom prst="rect">
            <a:avLst/>
          </a:prstGeom>
        </p:spPr>
      </p:pic>
      <p:pic>
        <p:nvPicPr>
          <p:cNvPr id="10" name="Picture 9">
            <a:extLst>
              <a:ext uri="{FF2B5EF4-FFF2-40B4-BE49-F238E27FC236}">
                <a16:creationId xmlns:a16="http://schemas.microsoft.com/office/drawing/2014/main" id="{CF79B61D-5DEB-C654-9C90-ADD86FD9DA32}"/>
              </a:ext>
            </a:extLst>
          </p:cNvPr>
          <p:cNvPicPr>
            <a:picLocks noChangeAspect="1"/>
          </p:cNvPicPr>
          <p:nvPr/>
        </p:nvPicPr>
        <p:blipFill>
          <a:blip r:embed="rId3"/>
          <a:stretch>
            <a:fillRect/>
          </a:stretch>
        </p:blipFill>
        <p:spPr>
          <a:xfrm>
            <a:off x="3248412" y="2732582"/>
            <a:ext cx="2270385" cy="1954062"/>
          </a:xfrm>
          <a:prstGeom prst="rect">
            <a:avLst/>
          </a:prstGeom>
        </p:spPr>
      </p:pic>
      <p:pic>
        <p:nvPicPr>
          <p:cNvPr id="14" name="Picture 13">
            <a:extLst>
              <a:ext uri="{FF2B5EF4-FFF2-40B4-BE49-F238E27FC236}">
                <a16:creationId xmlns:a16="http://schemas.microsoft.com/office/drawing/2014/main" id="{E1E15C3D-3931-6241-C8B1-DFB3B2665B95}"/>
              </a:ext>
            </a:extLst>
          </p:cNvPr>
          <p:cNvPicPr>
            <a:picLocks noChangeAspect="1"/>
          </p:cNvPicPr>
          <p:nvPr/>
        </p:nvPicPr>
        <p:blipFill>
          <a:blip r:embed="rId4"/>
          <a:stretch>
            <a:fillRect/>
          </a:stretch>
        </p:blipFill>
        <p:spPr>
          <a:xfrm>
            <a:off x="685406" y="2732581"/>
            <a:ext cx="1915273" cy="1954063"/>
          </a:xfrm>
          <a:prstGeom prst="rect">
            <a:avLst/>
          </a:prstGeom>
        </p:spPr>
      </p:pic>
      <p:sp>
        <p:nvSpPr>
          <p:cNvPr id="19" name="TextBox 18">
            <a:extLst>
              <a:ext uri="{FF2B5EF4-FFF2-40B4-BE49-F238E27FC236}">
                <a16:creationId xmlns:a16="http://schemas.microsoft.com/office/drawing/2014/main" id="{4961FE4C-5F8E-ED09-509E-D7CE987651AF}"/>
              </a:ext>
            </a:extLst>
          </p:cNvPr>
          <p:cNvSpPr txBox="1"/>
          <p:nvPr/>
        </p:nvSpPr>
        <p:spPr>
          <a:xfrm>
            <a:off x="533400" y="4866202"/>
            <a:ext cx="6121400" cy="1754326"/>
          </a:xfrm>
          <a:prstGeom prst="rect">
            <a:avLst/>
          </a:prstGeom>
          <a:noFill/>
        </p:spPr>
        <p:txBody>
          <a:bodyPr wrap="square">
            <a:spAutoFit/>
          </a:bodyPr>
          <a:lstStyle/>
          <a:p>
            <a:r>
              <a:rPr lang="en-GB" sz="1600" dirty="0">
                <a:solidFill>
                  <a:schemeClr val="bg1"/>
                </a:solidFill>
                <a:latin typeface="Calibri" panose="020F0502020204030204" pitchFamily="34" charset="0"/>
              </a:rPr>
              <a:t>There is a data quality issue where there is a duplicated </a:t>
            </a:r>
            <a:r>
              <a:rPr lang="en-GB" sz="1600" dirty="0" err="1">
                <a:solidFill>
                  <a:schemeClr val="bg1"/>
                </a:solidFill>
                <a:latin typeface="Calibri" panose="020F0502020204030204" pitchFamily="34" charset="0"/>
              </a:rPr>
              <a:t>OrderID</a:t>
            </a:r>
            <a:r>
              <a:rPr lang="en-GB" sz="1600" dirty="0">
                <a:solidFill>
                  <a:schemeClr val="bg1"/>
                </a:solidFill>
                <a:latin typeface="Calibri" panose="020F0502020204030204" pitchFamily="34" charset="0"/>
              </a:rPr>
              <a:t> “BM-03-493700”.</a:t>
            </a:r>
          </a:p>
          <a:p>
            <a:endParaRPr lang="en-GB" sz="600" dirty="0">
              <a:solidFill>
                <a:schemeClr val="bg1"/>
              </a:solidFill>
              <a:latin typeface="Calibri" panose="020F0502020204030204" pitchFamily="34" charset="0"/>
            </a:endParaRPr>
          </a:p>
          <a:p>
            <a:r>
              <a:rPr lang="en-GB" sz="1600" dirty="0">
                <a:solidFill>
                  <a:schemeClr val="bg1"/>
                </a:solidFill>
                <a:latin typeface="Calibri" panose="020F0502020204030204" pitchFamily="34" charset="0"/>
              </a:rPr>
              <a:t>In this instance I have left it as it is. If I were to change it, I would be creating an ID that never existed and it would go against best practise.</a:t>
            </a:r>
          </a:p>
          <a:p>
            <a:endParaRPr lang="en-GB" sz="600" dirty="0">
              <a:solidFill>
                <a:schemeClr val="bg1"/>
              </a:solidFill>
              <a:latin typeface="Calibri" panose="020F0502020204030204" pitchFamily="34" charset="0"/>
            </a:endParaRPr>
          </a:p>
          <a:p>
            <a:r>
              <a:rPr lang="en-GB" sz="1600" dirty="0">
                <a:solidFill>
                  <a:schemeClr val="bg1"/>
                </a:solidFill>
                <a:latin typeface="Calibri" panose="020F0502020204030204" pitchFamily="34" charset="0"/>
              </a:rPr>
              <a:t>This issue implies that there lies an error in creating unique a </a:t>
            </a:r>
            <a:r>
              <a:rPr lang="en-GB" sz="1600" dirty="0" err="1">
                <a:solidFill>
                  <a:schemeClr val="bg1"/>
                </a:solidFill>
                <a:latin typeface="Calibri" panose="020F0502020204030204" pitchFamily="34" charset="0"/>
              </a:rPr>
              <a:t>OrderID</a:t>
            </a:r>
            <a:r>
              <a:rPr lang="en-GB" sz="1600" dirty="0">
                <a:solidFill>
                  <a:schemeClr val="bg1"/>
                </a:solidFill>
                <a:latin typeface="Calibri" panose="020F0502020204030204" pitchFamily="34" charset="0"/>
              </a:rPr>
              <a:t> for each order made.</a:t>
            </a:r>
          </a:p>
        </p:txBody>
      </p:sp>
      <p:sp>
        <p:nvSpPr>
          <p:cNvPr id="6" name="TextBox 5">
            <a:extLst>
              <a:ext uri="{FF2B5EF4-FFF2-40B4-BE49-F238E27FC236}">
                <a16:creationId xmlns:a16="http://schemas.microsoft.com/office/drawing/2014/main" id="{C91111EC-4BE4-E455-ED4E-37C741DBFCDE}"/>
              </a:ext>
            </a:extLst>
          </p:cNvPr>
          <p:cNvSpPr txBox="1"/>
          <p:nvPr/>
        </p:nvSpPr>
        <p:spPr>
          <a:xfrm>
            <a:off x="685406" y="2039026"/>
            <a:ext cx="2194473" cy="646331"/>
          </a:xfrm>
          <a:prstGeom prst="rect">
            <a:avLst/>
          </a:prstGeom>
          <a:noFill/>
        </p:spPr>
        <p:txBody>
          <a:bodyPr wrap="square">
            <a:spAutoFit/>
          </a:bodyPr>
          <a:lstStyle/>
          <a:p>
            <a:r>
              <a:rPr lang="en-GB" sz="1800" b="1" i="0" u="sng" strike="noStrike" baseline="0" dirty="0">
                <a:solidFill>
                  <a:schemeClr val="bg1"/>
                </a:solidFill>
                <a:latin typeface="Calibri" panose="020F0502020204030204" pitchFamily="34" charset="0"/>
              </a:rPr>
              <a:t>Check for duplicates</a:t>
            </a:r>
          </a:p>
          <a:p>
            <a:r>
              <a:rPr lang="en-GB" b="1" u="sng" dirty="0">
                <a:solidFill>
                  <a:schemeClr val="bg1"/>
                </a:solidFill>
                <a:latin typeface="Calibri" panose="020F0502020204030204" pitchFamily="34" charset="0"/>
              </a:rPr>
              <a:t>of </a:t>
            </a:r>
            <a:r>
              <a:rPr lang="en-GB" b="1" u="sng" dirty="0" err="1">
                <a:solidFill>
                  <a:schemeClr val="bg1"/>
                </a:solidFill>
                <a:latin typeface="Calibri" panose="020F0502020204030204" pitchFamily="34" charset="0"/>
              </a:rPr>
              <a:t>OrderID</a:t>
            </a:r>
            <a:endParaRPr lang="en-GB" sz="1800" b="1" i="0" u="sng" strike="noStrike" baseline="0" dirty="0">
              <a:solidFill>
                <a:schemeClr val="bg1"/>
              </a:solidFill>
              <a:latin typeface="Calibri" panose="020F0502020204030204" pitchFamily="34" charset="0"/>
            </a:endParaRPr>
          </a:p>
        </p:txBody>
      </p:sp>
      <p:sp>
        <p:nvSpPr>
          <p:cNvPr id="8" name="TextBox 7">
            <a:extLst>
              <a:ext uri="{FF2B5EF4-FFF2-40B4-BE49-F238E27FC236}">
                <a16:creationId xmlns:a16="http://schemas.microsoft.com/office/drawing/2014/main" id="{3C0BC11B-FC4A-B3A5-43D9-D3E455A7FCBC}"/>
              </a:ext>
            </a:extLst>
          </p:cNvPr>
          <p:cNvSpPr txBox="1"/>
          <p:nvPr/>
        </p:nvSpPr>
        <p:spPr>
          <a:xfrm>
            <a:off x="3248412" y="2039025"/>
            <a:ext cx="1953173" cy="646331"/>
          </a:xfrm>
          <a:prstGeom prst="rect">
            <a:avLst/>
          </a:prstGeom>
          <a:noFill/>
        </p:spPr>
        <p:txBody>
          <a:bodyPr wrap="square">
            <a:spAutoFit/>
          </a:bodyPr>
          <a:lstStyle/>
          <a:p>
            <a:r>
              <a:rPr lang="en-GB" b="1" u="sng" dirty="0">
                <a:solidFill>
                  <a:schemeClr val="bg1"/>
                </a:solidFill>
                <a:latin typeface="Calibri" panose="020F0502020204030204" pitchFamily="34" charset="0"/>
              </a:rPr>
              <a:t>The duplicated </a:t>
            </a:r>
            <a:r>
              <a:rPr lang="en-GB" b="1" u="sng" dirty="0" err="1">
                <a:solidFill>
                  <a:schemeClr val="bg1"/>
                </a:solidFill>
                <a:latin typeface="Calibri" panose="020F0502020204030204" pitchFamily="34" charset="0"/>
              </a:rPr>
              <a:t>OrderID</a:t>
            </a:r>
            <a:r>
              <a:rPr lang="en-GB" b="1" u="sng" dirty="0">
                <a:solidFill>
                  <a:schemeClr val="bg1"/>
                </a:solidFill>
                <a:latin typeface="Calibri" panose="020F0502020204030204" pitchFamily="34" charset="0"/>
              </a:rPr>
              <a:t>:</a:t>
            </a:r>
            <a:endParaRPr lang="en-GB" sz="1800" b="1" i="0" u="sng" strike="noStrike" baseline="0" dirty="0">
              <a:solidFill>
                <a:schemeClr val="bg1"/>
              </a:solidFill>
              <a:latin typeface="Calibri" panose="020F0502020204030204" pitchFamily="34" charset="0"/>
            </a:endParaRPr>
          </a:p>
        </p:txBody>
      </p:sp>
      <p:sp>
        <p:nvSpPr>
          <p:cNvPr id="11" name="TextBox 10">
            <a:extLst>
              <a:ext uri="{FF2B5EF4-FFF2-40B4-BE49-F238E27FC236}">
                <a16:creationId xmlns:a16="http://schemas.microsoft.com/office/drawing/2014/main" id="{727371C1-450A-8BD5-AF06-938075056818}"/>
              </a:ext>
            </a:extLst>
          </p:cNvPr>
          <p:cNvSpPr txBox="1"/>
          <p:nvPr/>
        </p:nvSpPr>
        <p:spPr>
          <a:xfrm>
            <a:off x="6096000" y="2039025"/>
            <a:ext cx="3310467" cy="646331"/>
          </a:xfrm>
          <a:prstGeom prst="rect">
            <a:avLst/>
          </a:prstGeom>
          <a:noFill/>
        </p:spPr>
        <p:txBody>
          <a:bodyPr wrap="square">
            <a:spAutoFit/>
          </a:bodyPr>
          <a:lstStyle/>
          <a:p>
            <a:r>
              <a:rPr lang="en-GB" b="1" u="sng" dirty="0">
                <a:solidFill>
                  <a:schemeClr val="bg1"/>
                </a:solidFill>
                <a:latin typeface="Calibri" panose="020F0502020204030204" pitchFamily="34" charset="0"/>
              </a:rPr>
              <a:t>The duplicated row </a:t>
            </a:r>
          </a:p>
          <a:p>
            <a:r>
              <a:rPr lang="en-GB" b="1" u="sng" dirty="0">
                <a:solidFill>
                  <a:schemeClr val="bg1"/>
                </a:solidFill>
                <a:latin typeface="Calibri" panose="020F0502020204030204" pitchFamily="34" charset="0"/>
              </a:rPr>
              <a:t>in the dataset:</a:t>
            </a:r>
            <a:endParaRPr lang="en-GB" sz="1800" b="1" i="0" u="sng" strike="noStrike" baseline="0" dirty="0">
              <a:solidFill>
                <a:schemeClr val="bg1"/>
              </a:solidFill>
              <a:latin typeface="Calibri" panose="020F0502020204030204" pitchFamily="34" charset="0"/>
            </a:endParaRPr>
          </a:p>
        </p:txBody>
      </p:sp>
      <p:pic>
        <p:nvPicPr>
          <p:cNvPr id="15" name="Picture 14">
            <a:extLst>
              <a:ext uri="{FF2B5EF4-FFF2-40B4-BE49-F238E27FC236}">
                <a16:creationId xmlns:a16="http://schemas.microsoft.com/office/drawing/2014/main" id="{9F6DED61-2E80-5991-1706-9CFA83D49AF7}"/>
              </a:ext>
            </a:extLst>
          </p:cNvPr>
          <p:cNvPicPr>
            <a:picLocks noChangeAspect="1"/>
          </p:cNvPicPr>
          <p:nvPr/>
        </p:nvPicPr>
        <p:blipFill>
          <a:blip r:embed="rId5"/>
          <a:stretch>
            <a:fillRect/>
          </a:stretch>
        </p:blipFill>
        <p:spPr>
          <a:xfrm>
            <a:off x="4071814" y="3863976"/>
            <a:ext cx="1379250" cy="575203"/>
          </a:xfrm>
          <a:prstGeom prst="rect">
            <a:avLst/>
          </a:prstGeom>
        </p:spPr>
      </p:pic>
      <p:sp>
        <p:nvSpPr>
          <p:cNvPr id="17" name="TextBox 16">
            <a:extLst>
              <a:ext uri="{FF2B5EF4-FFF2-40B4-BE49-F238E27FC236}">
                <a16:creationId xmlns:a16="http://schemas.microsoft.com/office/drawing/2014/main" id="{898001B1-59EB-3D93-D8E0-0D00AF3A181C}"/>
              </a:ext>
            </a:extLst>
          </p:cNvPr>
          <p:cNvSpPr txBox="1"/>
          <p:nvPr/>
        </p:nvSpPr>
        <p:spPr>
          <a:xfrm>
            <a:off x="6980569" y="4872537"/>
            <a:ext cx="3945861" cy="1754326"/>
          </a:xfrm>
          <a:prstGeom prst="rect">
            <a:avLst/>
          </a:prstGeom>
          <a:noFill/>
        </p:spPr>
        <p:txBody>
          <a:bodyPr wrap="square">
            <a:spAutoFit/>
          </a:bodyPr>
          <a:lstStyle/>
          <a:p>
            <a:r>
              <a:rPr lang="en-GB" sz="1600" dirty="0">
                <a:solidFill>
                  <a:schemeClr val="bg1"/>
                </a:solidFill>
                <a:latin typeface="Calibri" panose="020F0502020204030204" pitchFamily="34" charset="0"/>
              </a:rPr>
              <a:t>There are no missing values in the data.</a:t>
            </a:r>
          </a:p>
          <a:p>
            <a:endParaRPr lang="en-GB" sz="600" dirty="0">
              <a:solidFill>
                <a:schemeClr val="bg1"/>
              </a:solidFill>
              <a:latin typeface="Calibri" panose="020F0502020204030204" pitchFamily="34" charset="0"/>
            </a:endParaRPr>
          </a:p>
          <a:p>
            <a:r>
              <a:rPr lang="en-GB" sz="1600" dirty="0">
                <a:solidFill>
                  <a:schemeClr val="bg1"/>
                </a:solidFill>
                <a:latin typeface="Calibri" panose="020F0502020204030204" pitchFamily="34" charset="0"/>
              </a:rPr>
              <a:t>To check this I opened the data source tab and sorted each column from smallest to largest.</a:t>
            </a:r>
          </a:p>
          <a:p>
            <a:endParaRPr lang="en-GB" sz="600" dirty="0">
              <a:solidFill>
                <a:schemeClr val="bg1"/>
              </a:solidFill>
              <a:latin typeface="Calibri" panose="020F0502020204030204" pitchFamily="34" charset="0"/>
            </a:endParaRPr>
          </a:p>
          <a:p>
            <a:r>
              <a:rPr lang="en-GB" sz="1600" dirty="0">
                <a:solidFill>
                  <a:schemeClr val="bg1"/>
                </a:solidFill>
                <a:latin typeface="Calibri" panose="020F0502020204030204" pitchFamily="34" charset="0"/>
              </a:rPr>
              <a:t>If there were missing values, it would’ve shown as an empty cell.</a:t>
            </a:r>
          </a:p>
        </p:txBody>
      </p:sp>
    </p:spTree>
    <p:extLst>
      <p:ext uri="{BB962C8B-B14F-4D97-AF65-F5344CB8AC3E}">
        <p14:creationId xmlns:p14="http://schemas.microsoft.com/office/powerpoint/2010/main" val="3459342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2311135" y="324246"/>
            <a:ext cx="7569729" cy="859055"/>
          </a:xfrm>
        </p:spPr>
        <p:txBody>
          <a:bodyPr>
            <a:noAutofit/>
          </a:bodyPr>
          <a:lstStyle/>
          <a:p>
            <a:r>
              <a:rPr lang="en-US" sz="6000" dirty="0"/>
              <a:t>Data Transformation</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6</a:t>
            </a:fld>
            <a:endParaRPr lang="en-US" dirty="0"/>
          </a:p>
        </p:txBody>
      </p:sp>
      <p:sp>
        <p:nvSpPr>
          <p:cNvPr id="10" name="TextBox 9">
            <a:extLst>
              <a:ext uri="{FF2B5EF4-FFF2-40B4-BE49-F238E27FC236}">
                <a16:creationId xmlns:a16="http://schemas.microsoft.com/office/drawing/2014/main" id="{1A9BBD15-BAFA-3386-B6A1-7774F216F7BA}"/>
              </a:ext>
            </a:extLst>
          </p:cNvPr>
          <p:cNvSpPr txBox="1"/>
          <p:nvPr/>
        </p:nvSpPr>
        <p:spPr>
          <a:xfrm>
            <a:off x="324541" y="1458868"/>
            <a:ext cx="3613678" cy="646331"/>
          </a:xfrm>
          <a:prstGeom prst="rect">
            <a:avLst/>
          </a:prstGeom>
          <a:noFill/>
        </p:spPr>
        <p:txBody>
          <a:bodyPr wrap="square" rtlCol="0">
            <a:spAutoFit/>
          </a:bodyPr>
          <a:lstStyle/>
          <a:p>
            <a:r>
              <a:rPr lang="en-GB" b="1" u="sng" dirty="0">
                <a:solidFill>
                  <a:schemeClr val="bg1"/>
                </a:solidFill>
                <a:latin typeface="Calibri" panose="020F0502020204030204" pitchFamily="34" charset="0"/>
              </a:rPr>
              <a:t>Changed Formatting to Currency for </a:t>
            </a:r>
            <a:r>
              <a:rPr lang="en-GB" b="1" u="sng" dirty="0" err="1">
                <a:solidFill>
                  <a:schemeClr val="bg1"/>
                </a:solidFill>
                <a:latin typeface="Calibri" panose="020F0502020204030204" pitchFamily="34" charset="0"/>
              </a:rPr>
              <a:t>UnitPrice</a:t>
            </a:r>
            <a:r>
              <a:rPr lang="en-GB" b="1" u="sng" dirty="0">
                <a:solidFill>
                  <a:schemeClr val="bg1"/>
                </a:solidFill>
                <a:latin typeface="Calibri" panose="020F0502020204030204" pitchFamily="34" charset="0"/>
              </a:rPr>
              <a:t> and Sales Column</a:t>
            </a:r>
          </a:p>
        </p:txBody>
      </p:sp>
      <p:pic>
        <p:nvPicPr>
          <p:cNvPr id="6" name="Picture 5">
            <a:extLst>
              <a:ext uri="{FF2B5EF4-FFF2-40B4-BE49-F238E27FC236}">
                <a16:creationId xmlns:a16="http://schemas.microsoft.com/office/drawing/2014/main" id="{E6094DC5-12C5-9FFD-C1DB-F8EE524CF0D3}"/>
              </a:ext>
            </a:extLst>
          </p:cNvPr>
          <p:cNvPicPr>
            <a:picLocks noChangeAspect="1"/>
          </p:cNvPicPr>
          <p:nvPr/>
        </p:nvPicPr>
        <p:blipFill>
          <a:blip r:embed="rId2"/>
          <a:stretch>
            <a:fillRect/>
          </a:stretch>
        </p:blipFill>
        <p:spPr>
          <a:xfrm>
            <a:off x="416453" y="2288433"/>
            <a:ext cx="980547" cy="1971362"/>
          </a:xfrm>
          <a:prstGeom prst="rect">
            <a:avLst/>
          </a:prstGeom>
        </p:spPr>
      </p:pic>
      <p:pic>
        <p:nvPicPr>
          <p:cNvPr id="12" name="Picture 11">
            <a:extLst>
              <a:ext uri="{FF2B5EF4-FFF2-40B4-BE49-F238E27FC236}">
                <a16:creationId xmlns:a16="http://schemas.microsoft.com/office/drawing/2014/main" id="{A82167D3-6311-81B7-A575-48FD9DD69D02}"/>
              </a:ext>
            </a:extLst>
          </p:cNvPr>
          <p:cNvPicPr>
            <a:picLocks noChangeAspect="1"/>
          </p:cNvPicPr>
          <p:nvPr/>
        </p:nvPicPr>
        <p:blipFill>
          <a:blip r:embed="rId3"/>
          <a:stretch>
            <a:fillRect/>
          </a:stretch>
        </p:blipFill>
        <p:spPr>
          <a:xfrm>
            <a:off x="1817007" y="2288433"/>
            <a:ext cx="988255" cy="1971363"/>
          </a:xfrm>
          <a:prstGeom prst="rect">
            <a:avLst/>
          </a:prstGeom>
        </p:spPr>
      </p:pic>
      <p:sp>
        <p:nvSpPr>
          <p:cNvPr id="13" name="Arrow: Right 12">
            <a:extLst>
              <a:ext uri="{FF2B5EF4-FFF2-40B4-BE49-F238E27FC236}">
                <a16:creationId xmlns:a16="http://schemas.microsoft.com/office/drawing/2014/main" id="{8AA9FA3F-96BC-C307-4BA5-7951861DF7F5}"/>
              </a:ext>
            </a:extLst>
          </p:cNvPr>
          <p:cNvSpPr/>
          <p:nvPr/>
        </p:nvSpPr>
        <p:spPr>
          <a:xfrm>
            <a:off x="1443567" y="3138647"/>
            <a:ext cx="326874" cy="270933"/>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extBox 17">
            <a:extLst>
              <a:ext uri="{FF2B5EF4-FFF2-40B4-BE49-F238E27FC236}">
                <a16:creationId xmlns:a16="http://schemas.microsoft.com/office/drawing/2014/main" id="{C602DA06-0338-3381-A9C6-3C57934520D0}"/>
              </a:ext>
            </a:extLst>
          </p:cNvPr>
          <p:cNvSpPr txBox="1"/>
          <p:nvPr/>
        </p:nvSpPr>
        <p:spPr>
          <a:xfrm>
            <a:off x="7926917" y="1735867"/>
            <a:ext cx="2647950" cy="369332"/>
          </a:xfrm>
          <a:prstGeom prst="rect">
            <a:avLst/>
          </a:prstGeom>
          <a:noFill/>
        </p:spPr>
        <p:txBody>
          <a:bodyPr wrap="square">
            <a:spAutoFit/>
          </a:bodyPr>
          <a:lstStyle/>
          <a:p>
            <a:r>
              <a:rPr lang="en-GB" sz="1800" b="1" u="sng" dirty="0">
                <a:solidFill>
                  <a:schemeClr val="bg1"/>
                </a:solidFill>
                <a:latin typeface="Calibri" panose="020F0502020204030204" pitchFamily="34" charset="0"/>
              </a:rPr>
              <a:t>Avg. Unit Price (weighted)</a:t>
            </a:r>
            <a:endParaRPr lang="en-GB" dirty="0"/>
          </a:p>
        </p:txBody>
      </p:sp>
      <p:sp>
        <p:nvSpPr>
          <p:cNvPr id="20" name="TextBox 19">
            <a:extLst>
              <a:ext uri="{FF2B5EF4-FFF2-40B4-BE49-F238E27FC236}">
                <a16:creationId xmlns:a16="http://schemas.microsoft.com/office/drawing/2014/main" id="{21B2CA5B-9EB4-1E61-AAA9-3EDD017FAB58}"/>
              </a:ext>
            </a:extLst>
          </p:cNvPr>
          <p:cNvSpPr txBox="1"/>
          <p:nvPr/>
        </p:nvSpPr>
        <p:spPr>
          <a:xfrm>
            <a:off x="4404783" y="3789401"/>
            <a:ext cx="1157816" cy="369332"/>
          </a:xfrm>
          <a:prstGeom prst="rect">
            <a:avLst/>
          </a:prstGeom>
          <a:noFill/>
        </p:spPr>
        <p:txBody>
          <a:bodyPr wrap="square">
            <a:spAutoFit/>
          </a:bodyPr>
          <a:lstStyle/>
          <a:p>
            <a:r>
              <a:rPr lang="en-GB" sz="1800" b="1" u="sng" dirty="0">
                <a:solidFill>
                  <a:schemeClr val="bg1"/>
                </a:solidFill>
                <a:latin typeface="Calibri" panose="020F0502020204030204" pitchFamily="34" charset="0"/>
              </a:rPr>
              <a:t>Order Size</a:t>
            </a:r>
            <a:endParaRPr lang="en-GB" dirty="0"/>
          </a:p>
        </p:txBody>
      </p:sp>
      <p:sp>
        <p:nvSpPr>
          <p:cNvPr id="22" name="TextBox 21">
            <a:extLst>
              <a:ext uri="{FF2B5EF4-FFF2-40B4-BE49-F238E27FC236}">
                <a16:creationId xmlns:a16="http://schemas.microsoft.com/office/drawing/2014/main" id="{988936C6-82C0-D76B-914D-217D0A9E1449}"/>
              </a:ext>
            </a:extLst>
          </p:cNvPr>
          <p:cNvSpPr txBox="1"/>
          <p:nvPr/>
        </p:nvSpPr>
        <p:spPr>
          <a:xfrm>
            <a:off x="4404783" y="1720478"/>
            <a:ext cx="2097617" cy="369332"/>
          </a:xfrm>
          <a:prstGeom prst="rect">
            <a:avLst/>
          </a:prstGeom>
          <a:noFill/>
        </p:spPr>
        <p:txBody>
          <a:bodyPr wrap="square">
            <a:spAutoFit/>
          </a:bodyPr>
          <a:lstStyle/>
          <a:p>
            <a:r>
              <a:rPr lang="en-GB" sz="1800" b="1" u="sng" dirty="0">
                <a:solidFill>
                  <a:schemeClr val="bg1"/>
                </a:solidFill>
                <a:latin typeface="Calibri" panose="020F0502020204030204" pitchFamily="34" charset="0"/>
              </a:rPr>
              <a:t>Avg. Sales Per Order</a:t>
            </a:r>
            <a:endParaRPr lang="en-GB" dirty="0"/>
          </a:p>
        </p:txBody>
      </p:sp>
      <p:pic>
        <p:nvPicPr>
          <p:cNvPr id="24" name="Picture 23">
            <a:extLst>
              <a:ext uri="{FF2B5EF4-FFF2-40B4-BE49-F238E27FC236}">
                <a16:creationId xmlns:a16="http://schemas.microsoft.com/office/drawing/2014/main" id="{D90447B2-2075-9A9D-9B22-C42222D18B1E}"/>
              </a:ext>
            </a:extLst>
          </p:cNvPr>
          <p:cNvPicPr>
            <a:picLocks noChangeAspect="1"/>
          </p:cNvPicPr>
          <p:nvPr/>
        </p:nvPicPr>
        <p:blipFill>
          <a:blip r:embed="rId4"/>
          <a:stretch>
            <a:fillRect/>
          </a:stretch>
        </p:blipFill>
        <p:spPr>
          <a:xfrm>
            <a:off x="4404783" y="2251917"/>
            <a:ext cx="2686050" cy="838200"/>
          </a:xfrm>
          <a:prstGeom prst="rect">
            <a:avLst/>
          </a:prstGeom>
        </p:spPr>
      </p:pic>
      <p:pic>
        <p:nvPicPr>
          <p:cNvPr id="26" name="Picture 25">
            <a:extLst>
              <a:ext uri="{FF2B5EF4-FFF2-40B4-BE49-F238E27FC236}">
                <a16:creationId xmlns:a16="http://schemas.microsoft.com/office/drawing/2014/main" id="{D45836A1-45AE-E4A3-F038-AF74C8F3FEC8}"/>
              </a:ext>
            </a:extLst>
          </p:cNvPr>
          <p:cNvPicPr>
            <a:picLocks noChangeAspect="1"/>
          </p:cNvPicPr>
          <p:nvPr/>
        </p:nvPicPr>
        <p:blipFill>
          <a:blip r:embed="rId5"/>
          <a:stretch>
            <a:fillRect/>
          </a:stretch>
        </p:blipFill>
        <p:spPr>
          <a:xfrm>
            <a:off x="7992534" y="2259285"/>
            <a:ext cx="2491846" cy="837029"/>
          </a:xfrm>
          <a:prstGeom prst="rect">
            <a:avLst/>
          </a:prstGeom>
        </p:spPr>
      </p:pic>
      <p:pic>
        <p:nvPicPr>
          <p:cNvPr id="28" name="Picture 27">
            <a:extLst>
              <a:ext uri="{FF2B5EF4-FFF2-40B4-BE49-F238E27FC236}">
                <a16:creationId xmlns:a16="http://schemas.microsoft.com/office/drawing/2014/main" id="{E11BBB10-1099-16FE-A6AB-2FDE1D7EF51A}"/>
              </a:ext>
            </a:extLst>
          </p:cNvPr>
          <p:cNvPicPr>
            <a:picLocks noChangeAspect="1"/>
          </p:cNvPicPr>
          <p:nvPr/>
        </p:nvPicPr>
        <p:blipFill>
          <a:blip r:embed="rId6"/>
          <a:stretch>
            <a:fillRect/>
          </a:stretch>
        </p:blipFill>
        <p:spPr>
          <a:xfrm>
            <a:off x="4404783" y="4304753"/>
            <a:ext cx="3448050" cy="1257300"/>
          </a:xfrm>
          <a:prstGeom prst="rect">
            <a:avLst/>
          </a:prstGeom>
        </p:spPr>
      </p:pic>
    </p:spTree>
    <p:extLst>
      <p:ext uri="{BB962C8B-B14F-4D97-AF65-F5344CB8AC3E}">
        <p14:creationId xmlns:p14="http://schemas.microsoft.com/office/powerpoint/2010/main" val="3487569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D179B88-D43C-4A31-9A52-3498E9430782}"/>
              </a:ext>
            </a:extLst>
          </p:cNvPr>
          <p:cNvSpPr>
            <a:spLocks noGrp="1"/>
          </p:cNvSpPr>
          <p:nvPr>
            <p:ph type="title"/>
          </p:nvPr>
        </p:nvSpPr>
        <p:spPr>
          <a:xfrm>
            <a:off x="2205228" y="361793"/>
            <a:ext cx="7781544" cy="859055"/>
          </a:xfrm>
        </p:spPr>
        <p:txBody>
          <a:bodyPr/>
          <a:lstStyle/>
          <a:p>
            <a:r>
              <a:rPr lang="en-US" dirty="0"/>
              <a:t>Data Exploration (EDA)</a:t>
            </a:r>
          </a:p>
        </p:txBody>
      </p:sp>
      <p:sp>
        <p:nvSpPr>
          <p:cNvPr id="2" name="Slide Number Placeholder 1">
            <a:extLst>
              <a:ext uri="{FF2B5EF4-FFF2-40B4-BE49-F238E27FC236}">
                <a16:creationId xmlns:a16="http://schemas.microsoft.com/office/drawing/2014/main" id="{8B065C75-272B-4BB5-BA23-D80E8654D621}"/>
              </a:ext>
            </a:extLst>
          </p:cNvPr>
          <p:cNvSpPr>
            <a:spLocks noGrp="1"/>
          </p:cNvSpPr>
          <p:nvPr>
            <p:ph type="sldNum" sz="quarter" idx="12"/>
          </p:nvPr>
        </p:nvSpPr>
        <p:spPr/>
        <p:txBody>
          <a:bodyPr/>
          <a:lstStyle/>
          <a:p>
            <a:fld id="{C263D6C4-4840-40CC-AC84-17E24B3B7BDE}" type="slidenum">
              <a:rPr lang="en-US" smtClean="0"/>
              <a:pPr/>
              <a:t>7</a:t>
            </a:fld>
            <a:endParaRPr lang="en-US" dirty="0"/>
          </a:p>
        </p:txBody>
      </p:sp>
      <p:pic>
        <p:nvPicPr>
          <p:cNvPr id="8" name="Picture 7">
            <a:extLst>
              <a:ext uri="{FF2B5EF4-FFF2-40B4-BE49-F238E27FC236}">
                <a16:creationId xmlns:a16="http://schemas.microsoft.com/office/drawing/2014/main" id="{C4096ED8-50E9-F55D-1A7A-2E6A7C7160D9}"/>
              </a:ext>
            </a:extLst>
          </p:cNvPr>
          <p:cNvPicPr>
            <a:picLocks noChangeAspect="1"/>
          </p:cNvPicPr>
          <p:nvPr/>
        </p:nvPicPr>
        <p:blipFill>
          <a:blip r:embed="rId2"/>
          <a:stretch>
            <a:fillRect/>
          </a:stretch>
        </p:blipFill>
        <p:spPr>
          <a:xfrm>
            <a:off x="760073" y="1991798"/>
            <a:ext cx="3481726" cy="2886668"/>
          </a:xfrm>
          <a:prstGeom prst="rect">
            <a:avLst/>
          </a:prstGeom>
        </p:spPr>
      </p:pic>
      <p:sp>
        <p:nvSpPr>
          <p:cNvPr id="10" name="TextBox 9">
            <a:extLst>
              <a:ext uri="{FF2B5EF4-FFF2-40B4-BE49-F238E27FC236}">
                <a16:creationId xmlns:a16="http://schemas.microsoft.com/office/drawing/2014/main" id="{AD72D575-BBDA-C0C7-9346-9243E1F280EB}"/>
              </a:ext>
            </a:extLst>
          </p:cNvPr>
          <p:cNvSpPr txBox="1"/>
          <p:nvPr/>
        </p:nvSpPr>
        <p:spPr>
          <a:xfrm>
            <a:off x="5130800" y="2179731"/>
            <a:ext cx="6121400" cy="2369880"/>
          </a:xfrm>
          <a:prstGeom prst="rect">
            <a:avLst/>
          </a:prstGeom>
          <a:noFill/>
        </p:spPr>
        <p:txBody>
          <a:bodyPr wrap="square">
            <a:spAutoFit/>
          </a:bodyPr>
          <a:lstStyle/>
          <a:p>
            <a:r>
              <a:rPr lang="en-GB" sz="2000" b="1" u="sng" dirty="0">
                <a:solidFill>
                  <a:schemeClr val="bg1"/>
                </a:solidFill>
                <a:latin typeface="Calibri" panose="020F0502020204030204" pitchFamily="34" charset="0"/>
              </a:rPr>
              <a:t>From this brief overview, we can see that:</a:t>
            </a:r>
          </a:p>
          <a:p>
            <a:endParaRPr lang="en-GB" sz="1600" dirty="0">
              <a:solidFill>
                <a:schemeClr val="bg1"/>
              </a:solidFill>
              <a:latin typeface="Calibri" panose="020F0502020204030204" pitchFamily="34" charset="0"/>
            </a:endParaRPr>
          </a:p>
          <a:p>
            <a:r>
              <a:rPr lang="en-GB" sz="1600" dirty="0">
                <a:solidFill>
                  <a:schemeClr val="bg1"/>
                </a:solidFill>
                <a:latin typeface="Calibri" panose="020F0502020204030204" pitchFamily="34" charset="0"/>
              </a:rPr>
              <a:t>The average sale amount is £98.39</a:t>
            </a:r>
          </a:p>
          <a:p>
            <a:endParaRPr lang="en-GB" sz="1600" dirty="0">
              <a:solidFill>
                <a:schemeClr val="bg1"/>
              </a:solidFill>
              <a:latin typeface="Calibri" panose="020F0502020204030204" pitchFamily="34" charset="0"/>
            </a:endParaRPr>
          </a:p>
          <a:p>
            <a:r>
              <a:rPr lang="en-GB" sz="1600" dirty="0">
                <a:solidFill>
                  <a:schemeClr val="bg1"/>
                </a:solidFill>
                <a:latin typeface="Calibri" panose="020F0502020204030204" pitchFamily="34" charset="0"/>
              </a:rPr>
              <a:t>The total number of orders placed for Q1 was 750</a:t>
            </a:r>
          </a:p>
          <a:p>
            <a:endParaRPr lang="en-GB" sz="1600" dirty="0">
              <a:solidFill>
                <a:schemeClr val="bg1"/>
              </a:solidFill>
              <a:latin typeface="Calibri" panose="020F0502020204030204" pitchFamily="34" charset="0"/>
            </a:endParaRPr>
          </a:p>
          <a:p>
            <a:r>
              <a:rPr lang="en-GB" sz="1600" dirty="0">
                <a:solidFill>
                  <a:schemeClr val="bg1"/>
                </a:solidFill>
                <a:latin typeface="Calibri" panose="020F0502020204030204" pitchFamily="34" charset="0"/>
              </a:rPr>
              <a:t>The typical sale value was £82.84</a:t>
            </a:r>
          </a:p>
          <a:p>
            <a:endParaRPr lang="en-GB" sz="1600" dirty="0">
              <a:solidFill>
                <a:schemeClr val="bg1"/>
              </a:solidFill>
              <a:latin typeface="Calibri" panose="020F0502020204030204" pitchFamily="34" charset="0"/>
            </a:endParaRPr>
          </a:p>
          <a:p>
            <a:r>
              <a:rPr lang="en-GB" sz="1600" dirty="0">
                <a:solidFill>
                  <a:schemeClr val="bg1"/>
                </a:solidFill>
                <a:latin typeface="Calibri" panose="020F0502020204030204" pitchFamily="34" charset="0"/>
              </a:rPr>
              <a:t>The total amount of sales for Q1 was £73,792.73</a:t>
            </a:r>
          </a:p>
        </p:txBody>
      </p:sp>
    </p:spTree>
    <p:extLst>
      <p:ext uri="{BB962C8B-B14F-4D97-AF65-F5344CB8AC3E}">
        <p14:creationId xmlns:p14="http://schemas.microsoft.com/office/powerpoint/2010/main" val="709828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8</a:t>
            </a:fld>
            <a:endParaRPr lang="en-US" dirty="0"/>
          </a:p>
        </p:txBody>
      </p:sp>
      <p:sp>
        <p:nvSpPr>
          <p:cNvPr id="3" name="Title 3">
            <a:extLst>
              <a:ext uri="{FF2B5EF4-FFF2-40B4-BE49-F238E27FC236}">
                <a16:creationId xmlns:a16="http://schemas.microsoft.com/office/drawing/2014/main" id="{99E9D8AE-96D7-1B52-DD5F-DB40FF0409F1}"/>
              </a:ext>
            </a:extLst>
          </p:cNvPr>
          <p:cNvSpPr>
            <a:spLocks noGrp="1"/>
          </p:cNvSpPr>
          <p:nvPr>
            <p:ph type="title"/>
          </p:nvPr>
        </p:nvSpPr>
        <p:spPr>
          <a:xfrm>
            <a:off x="3758935" y="243260"/>
            <a:ext cx="4674130" cy="859055"/>
          </a:xfrm>
        </p:spPr>
        <p:txBody>
          <a:bodyPr>
            <a:normAutofit/>
          </a:bodyPr>
          <a:lstStyle/>
          <a:p>
            <a:r>
              <a:rPr lang="en-US" sz="5400" dirty="0"/>
              <a:t>Visual Analysis</a:t>
            </a:r>
          </a:p>
        </p:txBody>
      </p:sp>
      <p:sp>
        <p:nvSpPr>
          <p:cNvPr id="4" name="TextBox 3">
            <a:extLst>
              <a:ext uri="{FF2B5EF4-FFF2-40B4-BE49-F238E27FC236}">
                <a16:creationId xmlns:a16="http://schemas.microsoft.com/office/drawing/2014/main" id="{AFE03A6E-C90E-4F31-C8AE-EF4B5EA237F6}"/>
              </a:ext>
            </a:extLst>
          </p:cNvPr>
          <p:cNvSpPr txBox="1"/>
          <p:nvPr/>
        </p:nvSpPr>
        <p:spPr>
          <a:xfrm>
            <a:off x="4180416" y="917649"/>
            <a:ext cx="3831168" cy="369332"/>
          </a:xfrm>
          <a:prstGeom prst="rect">
            <a:avLst/>
          </a:prstGeom>
          <a:noFill/>
        </p:spPr>
        <p:txBody>
          <a:bodyPr wrap="square" rtlCol="0">
            <a:spAutoFit/>
          </a:bodyPr>
          <a:lstStyle/>
          <a:p>
            <a:r>
              <a:rPr lang="en-GB" dirty="0">
                <a:solidFill>
                  <a:schemeClr val="bg1"/>
                </a:solidFill>
              </a:rPr>
              <a:t>Q1 Sales by Genre (Core KPI View) </a:t>
            </a:r>
          </a:p>
        </p:txBody>
      </p:sp>
      <p:pic>
        <p:nvPicPr>
          <p:cNvPr id="11" name="Picture 10">
            <a:extLst>
              <a:ext uri="{FF2B5EF4-FFF2-40B4-BE49-F238E27FC236}">
                <a16:creationId xmlns:a16="http://schemas.microsoft.com/office/drawing/2014/main" id="{E7BC77D2-4ACA-B4E0-4ABF-74C9E96DF3FE}"/>
              </a:ext>
            </a:extLst>
          </p:cNvPr>
          <p:cNvPicPr>
            <a:picLocks noChangeAspect="1"/>
          </p:cNvPicPr>
          <p:nvPr/>
        </p:nvPicPr>
        <p:blipFill>
          <a:blip r:embed="rId2"/>
          <a:stretch>
            <a:fillRect/>
          </a:stretch>
        </p:blipFill>
        <p:spPr>
          <a:xfrm>
            <a:off x="677333" y="1509135"/>
            <a:ext cx="4270419" cy="4988502"/>
          </a:xfrm>
          <a:prstGeom prst="rect">
            <a:avLst/>
          </a:prstGeom>
        </p:spPr>
      </p:pic>
      <p:pic>
        <p:nvPicPr>
          <p:cNvPr id="8" name="Picture 7">
            <a:extLst>
              <a:ext uri="{FF2B5EF4-FFF2-40B4-BE49-F238E27FC236}">
                <a16:creationId xmlns:a16="http://schemas.microsoft.com/office/drawing/2014/main" id="{C738B874-2DC4-EE38-8DB7-5455DA3ABAA6}"/>
              </a:ext>
            </a:extLst>
          </p:cNvPr>
          <p:cNvPicPr>
            <a:picLocks noChangeAspect="1"/>
          </p:cNvPicPr>
          <p:nvPr/>
        </p:nvPicPr>
        <p:blipFill>
          <a:blip r:embed="rId3"/>
          <a:stretch>
            <a:fillRect/>
          </a:stretch>
        </p:blipFill>
        <p:spPr>
          <a:xfrm>
            <a:off x="3522133" y="2516642"/>
            <a:ext cx="1358137" cy="986969"/>
          </a:xfrm>
          <a:prstGeom prst="rect">
            <a:avLst/>
          </a:prstGeom>
        </p:spPr>
      </p:pic>
      <p:sp>
        <p:nvSpPr>
          <p:cNvPr id="16" name="TextBox 15">
            <a:extLst>
              <a:ext uri="{FF2B5EF4-FFF2-40B4-BE49-F238E27FC236}">
                <a16:creationId xmlns:a16="http://schemas.microsoft.com/office/drawing/2014/main" id="{CF87931B-257A-05B3-9162-B198296A3871}"/>
              </a:ext>
            </a:extLst>
          </p:cNvPr>
          <p:cNvSpPr txBox="1"/>
          <p:nvPr/>
        </p:nvSpPr>
        <p:spPr>
          <a:xfrm>
            <a:off x="4990350" y="2049543"/>
            <a:ext cx="4270419" cy="4616648"/>
          </a:xfrm>
          <a:prstGeom prst="rect">
            <a:avLst/>
          </a:prstGeom>
          <a:noFill/>
        </p:spPr>
        <p:txBody>
          <a:bodyPr wrap="square">
            <a:spAutoFit/>
          </a:bodyPr>
          <a:lstStyle/>
          <a:p>
            <a:r>
              <a:rPr lang="en-GB" b="1" u="sng" dirty="0">
                <a:solidFill>
                  <a:schemeClr val="bg1"/>
                </a:solidFill>
                <a:latin typeface="Calibri" panose="020F0502020204030204" pitchFamily="34" charset="0"/>
              </a:rPr>
              <a:t>Goal: Identify which book genres generated the highest sales in Q1 2024</a:t>
            </a:r>
          </a:p>
          <a:p>
            <a:endParaRPr lang="en-GB" sz="1600" dirty="0">
              <a:solidFill>
                <a:schemeClr val="bg1"/>
              </a:solidFill>
              <a:latin typeface="Calibri" panose="020F0502020204030204" pitchFamily="34" charset="0"/>
            </a:endParaRPr>
          </a:p>
          <a:p>
            <a:pPr marL="285750" indent="-285750">
              <a:buFont typeface="Arial" panose="020B0604020202020204" pitchFamily="34" charset="0"/>
              <a:buChar char="•"/>
            </a:pPr>
            <a:r>
              <a:rPr lang="en-GB" sz="1600" dirty="0">
                <a:solidFill>
                  <a:schemeClr val="bg1"/>
                </a:solidFill>
                <a:latin typeface="Calibri" panose="020F0502020204030204" pitchFamily="34" charset="0"/>
              </a:rPr>
              <a:t>From the graph we can see that the history genre has the highest amount of sales in Q1 with £12,316.63</a:t>
            </a:r>
            <a:endParaRPr lang="en-GB" sz="1600" b="1" u="sng" dirty="0">
              <a:solidFill>
                <a:schemeClr val="bg1"/>
              </a:solidFill>
              <a:latin typeface="Calibri" panose="020F0502020204030204" pitchFamily="34" charset="0"/>
            </a:endParaRPr>
          </a:p>
          <a:p>
            <a:pPr marL="285750" indent="-285750">
              <a:buFont typeface="Arial" panose="020B0604020202020204" pitchFamily="34" charset="0"/>
              <a:buChar char="•"/>
            </a:pPr>
            <a:endParaRPr lang="en-GB" sz="600" b="1" u="sng" dirty="0">
              <a:solidFill>
                <a:schemeClr val="bg1"/>
              </a:solidFill>
              <a:latin typeface="Calibri" panose="020F0502020204030204" pitchFamily="34" charset="0"/>
            </a:endParaRPr>
          </a:p>
          <a:p>
            <a:pPr marL="285750" indent="-285750">
              <a:buFont typeface="Arial" panose="020B0604020202020204" pitchFamily="34" charset="0"/>
              <a:buChar char="•"/>
            </a:pPr>
            <a:r>
              <a:rPr lang="en-GB" sz="1600" dirty="0">
                <a:solidFill>
                  <a:schemeClr val="bg1"/>
                </a:solidFill>
                <a:latin typeface="Calibri" panose="020F0502020204030204" pitchFamily="34" charset="0"/>
              </a:rPr>
              <a:t>We can also see that children books performed the worst in sales with £6,886.85 in Q1</a:t>
            </a:r>
          </a:p>
          <a:p>
            <a:pPr marL="285750" indent="-285750">
              <a:buFont typeface="Arial" panose="020B0604020202020204" pitchFamily="34" charset="0"/>
              <a:buChar char="•"/>
            </a:pPr>
            <a:endParaRPr lang="en-GB" sz="600" dirty="0">
              <a:solidFill>
                <a:schemeClr val="bg1"/>
              </a:solidFill>
              <a:latin typeface="Calibri" panose="020F0502020204030204" pitchFamily="34" charset="0"/>
            </a:endParaRPr>
          </a:p>
          <a:p>
            <a:pPr marL="285750" indent="-285750">
              <a:buFont typeface="Arial" panose="020B0604020202020204" pitchFamily="34" charset="0"/>
              <a:buChar char="•"/>
            </a:pPr>
            <a:r>
              <a:rPr lang="en-GB" sz="1600" dirty="0">
                <a:solidFill>
                  <a:schemeClr val="bg1"/>
                </a:solidFill>
                <a:latin typeface="Calibri" panose="020F0502020204030204" pitchFamily="34" charset="0"/>
              </a:rPr>
              <a:t>Despite history being the best selling genre overall, Sci-Fi sales (£2,065.03), Fiction sales (£2,071.33), Fantasy sales (£1,699.10) and Mystery sales (£2,139.91) overtake History sales (£1,598.50) in the Central region</a:t>
            </a:r>
          </a:p>
          <a:p>
            <a:pPr marL="285750" indent="-285750">
              <a:buFont typeface="Arial" panose="020B0604020202020204" pitchFamily="34" charset="0"/>
              <a:buChar char="•"/>
            </a:pPr>
            <a:endParaRPr lang="en-GB" sz="600" dirty="0">
              <a:solidFill>
                <a:schemeClr val="bg1"/>
              </a:solidFill>
              <a:latin typeface="Calibri" panose="020F0502020204030204" pitchFamily="34" charset="0"/>
            </a:endParaRPr>
          </a:p>
          <a:p>
            <a:pPr marL="285750" indent="-285750">
              <a:buFont typeface="Arial" panose="020B0604020202020204" pitchFamily="34" charset="0"/>
              <a:buChar char="•"/>
            </a:pPr>
            <a:r>
              <a:rPr lang="en-GB" sz="1600" dirty="0">
                <a:solidFill>
                  <a:schemeClr val="bg1"/>
                </a:solidFill>
                <a:latin typeface="Calibri" panose="020F0502020204030204" pitchFamily="34" charset="0"/>
              </a:rPr>
              <a:t>This suggests that customer preferences in the Central region differ from the overall trend</a:t>
            </a:r>
          </a:p>
        </p:txBody>
      </p:sp>
    </p:spTree>
    <p:extLst>
      <p:ext uri="{BB962C8B-B14F-4D97-AF65-F5344CB8AC3E}">
        <p14:creationId xmlns:p14="http://schemas.microsoft.com/office/powerpoint/2010/main" val="3733486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DE2E18A6-86D6-776F-468F-516F4219FD8F}"/>
              </a:ext>
            </a:extLst>
          </p:cNvPr>
          <p:cNvPicPr>
            <a:picLocks noChangeAspect="1"/>
          </p:cNvPicPr>
          <p:nvPr/>
        </p:nvPicPr>
        <p:blipFill>
          <a:blip r:embed="rId2"/>
          <a:stretch>
            <a:fillRect/>
          </a:stretch>
        </p:blipFill>
        <p:spPr>
          <a:xfrm>
            <a:off x="694267" y="1329314"/>
            <a:ext cx="3767666" cy="5047363"/>
          </a:xfrm>
          <a:prstGeom prst="rect">
            <a:avLst/>
          </a:prstGeom>
        </p:spPr>
      </p:pic>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9</a:t>
            </a:fld>
            <a:endParaRPr lang="en-US" dirty="0"/>
          </a:p>
        </p:txBody>
      </p:sp>
      <p:sp>
        <p:nvSpPr>
          <p:cNvPr id="3" name="Title 3">
            <a:extLst>
              <a:ext uri="{FF2B5EF4-FFF2-40B4-BE49-F238E27FC236}">
                <a16:creationId xmlns:a16="http://schemas.microsoft.com/office/drawing/2014/main" id="{99E9D8AE-96D7-1B52-DD5F-DB40FF0409F1}"/>
              </a:ext>
            </a:extLst>
          </p:cNvPr>
          <p:cNvSpPr>
            <a:spLocks noGrp="1"/>
          </p:cNvSpPr>
          <p:nvPr>
            <p:ph type="title"/>
          </p:nvPr>
        </p:nvSpPr>
        <p:spPr>
          <a:xfrm>
            <a:off x="3758935" y="243260"/>
            <a:ext cx="4674130" cy="859055"/>
          </a:xfrm>
        </p:spPr>
        <p:txBody>
          <a:bodyPr>
            <a:normAutofit/>
          </a:bodyPr>
          <a:lstStyle/>
          <a:p>
            <a:r>
              <a:rPr lang="en-US" sz="5400" dirty="0"/>
              <a:t>Visual Analysis</a:t>
            </a:r>
          </a:p>
        </p:txBody>
      </p:sp>
      <p:sp>
        <p:nvSpPr>
          <p:cNvPr id="4" name="TextBox 3">
            <a:extLst>
              <a:ext uri="{FF2B5EF4-FFF2-40B4-BE49-F238E27FC236}">
                <a16:creationId xmlns:a16="http://schemas.microsoft.com/office/drawing/2014/main" id="{AFE03A6E-C90E-4F31-C8AE-EF4B5EA237F6}"/>
              </a:ext>
            </a:extLst>
          </p:cNvPr>
          <p:cNvSpPr txBox="1"/>
          <p:nvPr/>
        </p:nvSpPr>
        <p:spPr>
          <a:xfrm>
            <a:off x="4358216" y="917649"/>
            <a:ext cx="3475568" cy="369332"/>
          </a:xfrm>
          <a:prstGeom prst="rect">
            <a:avLst/>
          </a:prstGeom>
          <a:noFill/>
        </p:spPr>
        <p:txBody>
          <a:bodyPr wrap="square" rtlCol="0">
            <a:spAutoFit/>
          </a:bodyPr>
          <a:lstStyle/>
          <a:p>
            <a:r>
              <a:rPr lang="en-GB" dirty="0">
                <a:solidFill>
                  <a:schemeClr val="bg1"/>
                </a:solidFill>
              </a:rPr>
              <a:t>Regional Performance Overview </a:t>
            </a:r>
          </a:p>
        </p:txBody>
      </p:sp>
      <p:pic>
        <p:nvPicPr>
          <p:cNvPr id="8" name="Picture 7">
            <a:extLst>
              <a:ext uri="{FF2B5EF4-FFF2-40B4-BE49-F238E27FC236}">
                <a16:creationId xmlns:a16="http://schemas.microsoft.com/office/drawing/2014/main" id="{C738B874-2DC4-EE38-8DB7-5455DA3ABAA6}"/>
              </a:ext>
            </a:extLst>
          </p:cNvPr>
          <p:cNvPicPr>
            <a:picLocks noChangeAspect="1"/>
          </p:cNvPicPr>
          <p:nvPr/>
        </p:nvPicPr>
        <p:blipFill>
          <a:blip r:embed="rId3"/>
          <a:stretch>
            <a:fillRect/>
          </a:stretch>
        </p:blipFill>
        <p:spPr>
          <a:xfrm>
            <a:off x="3494847" y="2078456"/>
            <a:ext cx="796235" cy="578630"/>
          </a:xfrm>
          <a:prstGeom prst="rect">
            <a:avLst/>
          </a:prstGeom>
        </p:spPr>
      </p:pic>
      <p:pic>
        <p:nvPicPr>
          <p:cNvPr id="14" name="Picture 13">
            <a:extLst>
              <a:ext uri="{FF2B5EF4-FFF2-40B4-BE49-F238E27FC236}">
                <a16:creationId xmlns:a16="http://schemas.microsoft.com/office/drawing/2014/main" id="{4C05F174-79C5-045A-3131-E91472BF9B0D}"/>
              </a:ext>
            </a:extLst>
          </p:cNvPr>
          <p:cNvPicPr>
            <a:picLocks noChangeAspect="1"/>
          </p:cNvPicPr>
          <p:nvPr/>
        </p:nvPicPr>
        <p:blipFill>
          <a:blip r:embed="rId4"/>
          <a:stretch>
            <a:fillRect/>
          </a:stretch>
        </p:blipFill>
        <p:spPr>
          <a:xfrm>
            <a:off x="3494847" y="2685382"/>
            <a:ext cx="835847" cy="1419868"/>
          </a:xfrm>
          <a:prstGeom prst="rect">
            <a:avLst/>
          </a:prstGeom>
        </p:spPr>
      </p:pic>
      <p:sp>
        <p:nvSpPr>
          <p:cNvPr id="16" name="TextBox 15">
            <a:extLst>
              <a:ext uri="{FF2B5EF4-FFF2-40B4-BE49-F238E27FC236}">
                <a16:creationId xmlns:a16="http://schemas.microsoft.com/office/drawing/2014/main" id="{945247A1-230D-CBA9-4B2A-22C1B4E65B53}"/>
              </a:ext>
            </a:extLst>
          </p:cNvPr>
          <p:cNvSpPr txBox="1"/>
          <p:nvPr/>
        </p:nvSpPr>
        <p:spPr>
          <a:xfrm>
            <a:off x="4461932" y="2078456"/>
            <a:ext cx="4783667" cy="4154984"/>
          </a:xfrm>
          <a:prstGeom prst="rect">
            <a:avLst/>
          </a:prstGeom>
          <a:noFill/>
        </p:spPr>
        <p:txBody>
          <a:bodyPr wrap="square">
            <a:spAutoFit/>
          </a:bodyPr>
          <a:lstStyle/>
          <a:p>
            <a:r>
              <a:rPr lang="en-GB" b="1" u="sng" dirty="0">
                <a:solidFill>
                  <a:schemeClr val="bg1"/>
                </a:solidFill>
                <a:latin typeface="Calibri" panose="020F0502020204030204" pitchFamily="34" charset="0"/>
              </a:rPr>
              <a:t>Goal: Compare sales performance across Regions to support Q2 regional targeting</a:t>
            </a:r>
          </a:p>
          <a:p>
            <a:endParaRPr lang="en-GB" b="1" u="sng" dirty="0">
              <a:solidFill>
                <a:schemeClr val="bg1"/>
              </a:solidFill>
              <a:latin typeface="Calibri" panose="020F0502020204030204" pitchFamily="34" charset="0"/>
            </a:endParaRPr>
          </a:p>
          <a:p>
            <a:pPr marL="285750" indent="-285750">
              <a:buFont typeface="Arial" panose="020B0604020202020204" pitchFamily="34" charset="0"/>
              <a:buChar char="•"/>
            </a:pPr>
            <a:r>
              <a:rPr lang="en-GB" sz="1600" dirty="0">
                <a:solidFill>
                  <a:schemeClr val="bg1"/>
                </a:solidFill>
                <a:latin typeface="Calibri" panose="020F0502020204030204" pitchFamily="34" charset="0"/>
              </a:rPr>
              <a:t>We can see that the West region is the highest performing in sales.</a:t>
            </a:r>
          </a:p>
          <a:p>
            <a:pPr marL="171450" indent="-171450">
              <a:buFont typeface="Arial" panose="020B0604020202020204" pitchFamily="34" charset="0"/>
              <a:buChar char="•"/>
            </a:pPr>
            <a:endParaRPr lang="en-GB" sz="600" dirty="0">
              <a:solidFill>
                <a:schemeClr val="bg1"/>
              </a:solidFill>
              <a:latin typeface="Calibri" panose="020F0502020204030204" pitchFamily="34" charset="0"/>
            </a:endParaRPr>
          </a:p>
          <a:p>
            <a:pPr marL="285750" indent="-285750">
              <a:buFont typeface="Arial" panose="020B0604020202020204" pitchFamily="34" charset="0"/>
              <a:buChar char="•"/>
            </a:pPr>
            <a:r>
              <a:rPr lang="en-GB" sz="1600" dirty="0">
                <a:solidFill>
                  <a:schemeClr val="bg1"/>
                </a:solidFill>
                <a:latin typeface="Calibri" panose="020F0502020204030204" pitchFamily="34" charset="0"/>
              </a:rPr>
              <a:t>It generates over double the amount of sales of the next best selling region – East (£36,666.66 VS £17,056.30).</a:t>
            </a:r>
          </a:p>
          <a:p>
            <a:pPr marL="171450" indent="-171450">
              <a:buFont typeface="Arial" panose="020B0604020202020204" pitchFamily="34" charset="0"/>
              <a:buChar char="•"/>
            </a:pPr>
            <a:endParaRPr lang="en-GB" sz="600" dirty="0">
              <a:solidFill>
                <a:schemeClr val="bg1"/>
              </a:solidFill>
              <a:latin typeface="Calibri" panose="020F0502020204030204" pitchFamily="34" charset="0"/>
            </a:endParaRPr>
          </a:p>
          <a:p>
            <a:pPr marL="285750" indent="-285750">
              <a:buFont typeface="Arial" panose="020B0604020202020204" pitchFamily="34" charset="0"/>
              <a:buChar char="•"/>
            </a:pPr>
            <a:r>
              <a:rPr lang="en-GB" sz="1600" dirty="0">
                <a:solidFill>
                  <a:schemeClr val="bg1"/>
                </a:solidFill>
                <a:latin typeface="Calibri" panose="020F0502020204030204" pitchFamily="34" charset="0"/>
              </a:rPr>
              <a:t>By selecting each genre, we can see that the west region outperforms every other region in sales.</a:t>
            </a:r>
          </a:p>
          <a:p>
            <a:pPr marL="171450" indent="-171450">
              <a:buFont typeface="Arial" panose="020B0604020202020204" pitchFamily="34" charset="0"/>
              <a:buChar char="•"/>
            </a:pPr>
            <a:endParaRPr lang="en-GB" sz="600" dirty="0">
              <a:solidFill>
                <a:schemeClr val="bg1"/>
              </a:solidFill>
              <a:latin typeface="Calibri" panose="020F0502020204030204" pitchFamily="34" charset="0"/>
            </a:endParaRPr>
          </a:p>
          <a:p>
            <a:pPr marL="285750" indent="-285750">
              <a:buFont typeface="Arial" panose="020B0604020202020204" pitchFamily="34" charset="0"/>
              <a:buChar char="•"/>
            </a:pPr>
            <a:r>
              <a:rPr lang="en-GB" sz="1600" dirty="0">
                <a:solidFill>
                  <a:schemeClr val="bg1"/>
                </a:solidFill>
                <a:latin typeface="Calibri" panose="020F0502020204030204" pitchFamily="34" charset="0"/>
              </a:rPr>
              <a:t>This could mean that there are more customers in the west region than other regions or that customers from the west region place multiple orders but we wouldn’t be able to determine this since we don’t have any customer data.</a:t>
            </a:r>
          </a:p>
        </p:txBody>
      </p:sp>
    </p:spTree>
    <p:extLst>
      <p:ext uri="{BB962C8B-B14F-4D97-AF65-F5344CB8AC3E}">
        <p14:creationId xmlns:p14="http://schemas.microsoft.com/office/powerpoint/2010/main" val="69627922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D02BAEDF-265F-1432-ADEB-040355BA709C}"/>
              </a:ext>
            </a:extLst>
          </p:cNvPr>
          <p:cNvPicPr>
            <a:picLocks noChangeAspect="1"/>
          </p:cNvPicPr>
          <p:nvPr/>
        </p:nvPicPr>
        <p:blipFill>
          <a:blip r:embed="rId2"/>
          <a:stretch>
            <a:fillRect/>
          </a:stretch>
        </p:blipFill>
        <p:spPr>
          <a:xfrm>
            <a:off x="696328" y="1776704"/>
            <a:ext cx="4781606" cy="4537621"/>
          </a:xfrm>
          <a:prstGeom prst="rect">
            <a:avLst/>
          </a:prstGeom>
        </p:spPr>
      </p:pic>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10</a:t>
            </a:fld>
            <a:endParaRPr lang="en-US" dirty="0"/>
          </a:p>
        </p:txBody>
      </p:sp>
      <p:sp>
        <p:nvSpPr>
          <p:cNvPr id="3" name="Title 3">
            <a:extLst>
              <a:ext uri="{FF2B5EF4-FFF2-40B4-BE49-F238E27FC236}">
                <a16:creationId xmlns:a16="http://schemas.microsoft.com/office/drawing/2014/main" id="{99E9D8AE-96D7-1B52-DD5F-DB40FF0409F1}"/>
              </a:ext>
            </a:extLst>
          </p:cNvPr>
          <p:cNvSpPr>
            <a:spLocks noGrp="1"/>
          </p:cNvSpPr>
          <p:nvPr>
            <p:ph type="title"/>
          </p:nvPr>
        </p:nvSpPr>
        <p:spPr>
          <a:xfrm>
            <a:off x="3758935" y="243260"/>
            <a:ext cx="4674130" cy="859055"/>
          </a:xfrm>
        </p:spPr>
        <p:txBody>
          <a:bodyPr>
            <a:normAutofit/>
          </a:bodyPr>
          <a:lstStyle/>
          <a:p>
            <a:r>
              <a:rPr lang="en-US" sz="5400" dirty="0"/>
              <a:t>Visual Analysis</a:t>
            </a:r>
          </a:p>
        </p:txBody>
      </p:sp>
      <p:sp>
        <p:nvSpPr>
          <p:cNvPr id="4" name="TextBox 3">
            <a:extLst>
              <a:ext uri="{FF2B5EF4-FFF2-40B4-BE49-F238E27FC236}">
                <a16:creationId xmlns:a16="http://schemas.microsoft.com/office/drawing/2014/main" id="{AFE03A6E-C90E-4F31-C8AE-EF4B5EA237F6}"/>
              </a:ext>
            </a:extLst>
          </p:cNvPr>
          <p:cNvSpPr txBox="1"/>
          <p:nvPr/>
        </p:nvSpPr>
        <p:spPr>
          <a:xfrm>
            <a:off x="4541308" y="917649"/>
            <a:ext cx="3109384" cy="369332"/>
          </a:xfrm>
          <a:prstGeom prst="rect">
            <a:avLst/>
          </a:prstGeom>
          <a:noFill/>
        </p:spPr>
        <p:txBody>
          <a:bodyPr wrap="square" rtlCol="0">
            <a:spAutoFit/>
          </a:bodyPr>
          <a:lstStyle/>
          <a:p>
            <a:r>
              <a:rPr lang="en-GB" dirty="0">
                <a:solidFill>
                  <a:schemeClr val="bg1"/>
                </a:solidFill>
              </a:rPr>
              <a:t>State Performance Overview </a:t>
            </a:r>
          </a:p>
        </p:txBody>
      </p:sp>
      <p:pic>
        <p:nvPicPr>
          <p:cNvPr id="9" name="Picture 8">
            <a:extLst>
              <a:ext uri="{FF2B5EF4-FFF2-40B4-BE49-F238E27FC236}">
                <a16:creationId xmlns:a16="http://schemas.microsoft.com/office/drawing/2014/main" id="{8F528C21-C3D3-E26D-CB57-C8FA1E46246C}"/>
              </a:ext>
            </a:extLst>
          </p:cNvPr>
          <p:cNvPicPr>
            <a:picLocks noChangeAspect="1"/>
          </p:cNvPicPr>
          <p:nvPr/>
        </p:nvPicPr>
        <p:blipFill>
          <a:blip r:embed="rId3"/>
          <a:stretch>
            <a:fillRect/>
          </a:stretch>
        </p:blipFill>
        <p:spPr>
          <a:xfrm>
            <a:off x="3758935" y="2226772"/>
            <a:ext cx="655259" cy="1202227"/>
          </a:xfrm>
          <a:prstGeom prst="rect">
            <a:avLst/>
          </a:prstGeom>
        </p:spPr>
      </p:pic>
      <p:sp>
        <p:nvSpPr>
          <p:cNvPr id="14" name="TextBox 13">
            <a:extLst>
              <a:ext uri="{FF2B5EF4-FFF2-40B4-BE49-F238E27FC236}">
                <a16:creationId xmlns:a16="http://schemas.microsoft.com/office/drawing/2014/main" id="{FE046227-3BB0-0F04-A0F5-6C5C60B77756}"/>
              </a:ext>
            </a:extLst>
          </p:cNvPr>
          <p:cNvSpPr txBox="1"/>
          <p:nvPr/>
        </p:nvSpPr>
        <p:spPr>
          <a:xfrm>
            <a:off x="5542144" y="3666093"/>
            <a:ext cx="5155466" cy="2831544"/>
          </a:xfrm>
          <a:prstGeom prst="rect">
            <a:avLst/>
          </a:prstGeom>
          <a:noFill/>
        </p:spPr>
        <p:txBody>
          <a:bodyPr wrap="square">
            <a:spAutoFit/>
          </a:bodyPr>
          <a:lstStyle/>
          <a:p>
            <a:pPr marL="285750" indent="-285750">
              <a:buFont typeface="Arial" panose="020B0604020202020204" pitchFamily="34" charset="0"/>
              <a:buChar char="•"/>
            </a:pPr>
            <a:r>
              <a:rPr lang="en-GB" sz="1600" dirty="0">
                <a:solidFill>
                  <a:schemeClr val="bg1"/>
                </a:solidFill>
                <a:latin typeface="Calibri" panose="020F0502020204030204" pitchFamily="34" charset="0"/>
              </a:rPr>
              <a:t>We can see that Nevada is the highest performing state in sales, generating £8,781.48.</a:t>
            </a:r>
          </a:p>
          <a:p>
            <a:pPr marL="285750" indent="-285750">
              <a:buFont typeface="Arial" panose="020B0604020202020204" pitchFamily="34" charset="0"/>
              <a:buChar char="•"/>
            </a:pPr>
            <a:endParaRPr lang="en-GB" sz="600" dirty="0">
              <a:solidFill>
                <a:schemeClr val="bg1"/>
              </a:solidFill>
              <a:latin typeface="Calibri" panose="020F0502020204030204" pitchFamily="34" charset="0"/>
            </a:endParaRPr>
          </a:p>
          <a:p>
            <a:pPr marL="285750" indent="-285750">
              <a:buFont typeface="Arial" panose="020B0604020202020204" pitchFamily="34" charset="0"/>
              <a:buChar char="•"/>
            </a:pPr>
            <a:r>
              <a:rPr lang="en-GB" sz="1600" dirty="0">
                <a:solidFill>
                  <a:schemeClr val="bg1"/>
                </a:solidFill>
                <a:latin typeface="Calibri" panose="020F0502020204030204" pitchFamily="34" charset="0"/>
              </a:rPr>
              <a:t>By breaking down the data into state and region, we can see that Florida is the only southern region.</a:t>
            </a:r>
          </a:p>
          <a:p>
            <a:pPr marL="285750" indent="-285750">
              <a:buFont typeface="Arial" panose="020B0604020202020204" pitchFamily="34" charset="0"/>
              <a:buChar char="•"/>
            </a:pPr>
            <a:endParaRPr lang="en-GB" sz="600" dirty="0">
              <a:solidFill>
                <a:schemeClr val="bg1"/>
              </a:solidFill>
              <a:latin typeface="Calibri" panose="020F0502020204030204" pitchFamily="34" charset="0"/>
            </a:endParaRPr>
          </a:p>
          <a:p>
            <a:pPr marL="285750" indent="-285750">
              <a:buFont typeface="Arial" panose="020B0604020202020204" pitchFamily="34" charset="0"/>
              <a:buChar char="•"/>
            </a:pPr>
            <a:r>
              <a:rPr lang="en-GB" sz="1600" dirty="0">
                <a:solidFill>
                  <a:schemeClr val="bg1"/>
                </a:solidFill>
                <a:latin typeface="Calibri" panose="020F0502020204030204" pitchFamily="34" charset="0"/>
              </a:rPr>
              <a:t>This indicates why the South region accounts for a small amount of sales.</a:t>
            </a:r>
          </a:p>
          <a:p>
            <a:pPr marL="285750" indent="-285750">
              <a:buFont typeface="Arial" panose="020B0604020202020204" pitchFamily="34" charset="0"/>
              <a:buChar char="•"/>
            </a:pPr>
            <a:endParaRPr lang="en-GB" sz="600" dirty="0">
              <a:solidFill>
                <a:schemeClr val="bg1"/>
              </a:solidFill>
              <a:latin typeface="Calibri" panose="020F0502020204030204" pitchFamily="34" charset="0"/>
            </a:endParaRPr>
          </a:p>
          <a:p>
            <a:pPr marL="285750" indent="-285750">
              <a:buFont typeface="Arial" panose="020B0604020202020204" pitchFamily="34" charset="0"/>
              <a:buChar char="•"/>
            </a:pPr>
            <a:r>
              <a:rPr lang="en-GB" sz="1600" dirty="0">
                <a:solidFill>
                  <a:schemeClr val="bg1"/>
                </a:solidFill>
                <a:latin typeface="Calibri" panose="020F0502020204030204" pitchFamily="34" charset="0"/>
              </a:rPr>
              <a:t>We can see that 5/10 states are in the west region, explaining the disparity in sales distributions between the regions and the fact that the west region had double the amount of sales than the East region</a:t>
            </a:r>
          </a:p>
        </p:txBody>
      </p:sp>
      <p:pic>
        <p:nvPicPr>
          <p:cNvPr id="17" name="Picture 16">
            <a:extLst>
              <a:ext uri="{FF2B5EF4-FFF2-40B4-BE49-F238E27FC236}">
                <a16:creationId xmlns:a16="http://schemas.microsoft.com/office/drawing/2014/main" id="{832BC8E5-7E23-6EB7-C0DF-2867D66C3931}"/>
              </a:ext>
            </a:extLst>
          </p:cNvPr>
          <p:cNvPicPr>
            <a:picLocks noChangeAspect="1"/>
          </p:cNvPicPr>
          <p:nvPr/>
        </p:nvPicPr>
        <p:blipFill>
          <a:blip r:embed="rId4"/>
          <a:stretch>
            <a:fillRect/>
          </a:stretch>
        </p:blipFill>
        <p:spPr>
          <a:xfrm>
            <a:off x="4609548" y="2637256"/>
            <a:ext cx="796235" cy="578630"/>
          </a:xfrm>
          <a:prstGeom prst="rect">
            <a:avLst/>
          </a:prstGeom>
        </p:spPr>
      </p:pic>
      <p:sp>
        <p:nvSpPr>
          <p:cNvPr id="18" name="TextBox 17">
            <a:extLst>
              <a:ext uri="{FF2B5EF4-FFF2-40B4-BE49-F238E27FC236}">
                <a16:creationId xmlns:a16="http://schemas.microsoft.com/office/drawing/2014/main" id="{CED655D3-B094-8B86-A856-D10C4C2C754C}"/>
              </a:ext>
            </a:extLst>
          </p:cNvPr>
          <p:cNvSpPr txBox="1"/>
          <p:nvPr/>
        </p:nvSpPr>
        <p:spPr>
          <a:xfrm>
            <a:off x="5542144" y="2754221"/>
            <a:ext cx="4175263" cy="923330"/>
          </a:xfrm>
          <a:prstGeom prst="rect">
            <a:avLst/>
          </a:prstGeom>
          <a:noFill/>
        </p:spPr>
        <p:txBody>
          <a:bodyPr wrap="square" rtlCol="0">
            <a:spAutoFit/>
          </a:bodyPr>
          <a:lstStyle/>
          <a:p>
            <a:r>
              <a:rPr lang="en-GB" b="1" u="sng" dirty="0">
                <a:solidFill>
                  <a:schemeClr val="bg1"/>
                </a:solidFill>
                <a:latin typeface="Calibri" panose="020F0502020204030204" pitchFamily="34" charset="0"/>
              </a:rPr>
              <a:t>Goal: Compare sales performance across States to support Q2 State targeting. </a:t>
            </a:r>
          </a:p>
          <a:p>
            <a:endParaRPr lang="en-GB" dirty="0"/>
          </a:p>
        </p:txBody>
      </p:sp>
    </p:spTree>
    <p:extLst>
      <p:ext uri="{BB962C8B-B14F-4D97-AF65-F5344CB8AC3E}">
        <p14:creationId xmlns:p14="http://schemas.microsoft.com/office/powerpoint/2010/main" val="83240508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11</a:t>
            </a:fld>
            <a:endParaRPr lang="en-US" dirty="0"/>
          </a:p>
        </p:txBody>
      </p:sp>
      <p:sp>
        <p:nvSpPr>
          <p:cNvPr id="3" name="Title 3">
            <a:extLst>
              <a:ext uri="{FF2B5EF4-FFF2-40B4-BE49-F238E27FC236}">
                <a16:creationId xmlns:a16="http://schemas.microsoft.com/office/drawing/2014/main" id="{99E9D8AE-96D7-1B52-DD5F-DB40FF0409F1}"/>
              </a:ext>
            </a:extLst>
          </p:cNvPr>
          <p:cNvSpPr>
            <a:spLocks noGrp="1"/>
          </p:cNvSpPr>
          <p:nvPr>
            <p:ph type="title"/>
          </p:nvPr>
        </p:nvSpPr>
        <p:spPr>
          <a:xfrm>
            <a:off x="3758935" y="243260"/>
            <a:ext cx="4674130" cy="859055"/>
          </a:xfrm>
        </p:spPr>
        <p:txBody>
          <a:bodyPr>
            <a:normAutofit/>
          </a:bodyPr>
          <a:lstStyle/>
          <a:p>
            <a:r>
              <a:rPr lang="en-US" sz="5400" dirty="0"/>
              <a:t>Visual Analysis</a:t>
            </a:r>
          </a:p>
        </p:txBody>
      </p:sp>
      <p:sp>
        <p:nvSpPr>
          <p:cNvPr id="4" name="TextBox 3">
            <a:extLst>
              <a:ext uri="{FF2B5EF4-FFF2-40B4-BE49-F238E27FC236}">
                <a16:creationId xmlns:a16="http://schemas.microsoft.com/office/drawing/2014/main" id="{AFE03A6E-C90E-4F31-C8AE-EF4B5EA237F6}"/>
              </a:ext>
            </a:extLst>
          </p:cNvPr>
          <p:cNvSpPr txBox="1"/>
          <p:nvPr/>
        </p:nvSpPr>
        <p:spPr>
          <a:xfrm>
            <a:off x="4173008" y="917649"/>
            <a:ext cx="3845984" cy="369332"/>
          </a:xfrm>
          <a:prstGeom prst="rect">
            <a:avLst/>
          </a:prstGeom>
          <a:noFill/>
        </p:spPr>
        <p:txBody>
          <a:bodyPr wrap="square" rtlCol="0">
            <a:spAutoFit/>
          </a:bodyPr>
          <a:lstStyle/>
          <a:p>
            <a:r>
              <a:rPr lang="en-GB" dirty="0">
                <a:solidFill>
                  <a:schemeClr val="bg1"/>
                </a:solidFill>
              </a:rPr>
              <a:t>Weekly Sales Trend (Time Analysis) </a:t>
            </a:r>
          </a:p>
        </p:txBody>
      </p:sp>
      <p:pic>
        <p:nvPicPr>
          <p:cNvPr id="14" name="Picture 13">
            <a:extLst>
              <a:ext uri="{FF2B5EF4-FFF2-40B4-BE49-F238E27FC236}">
                <a16:creationId xmlns:a16="http://schemas.microsoft.com/office/drawing/2014/main" id="{B05211BC-F9EA-13BE-F578-0956DBF22404}"/>
              </a:ext>
            </a:extLst>
          </p:cNvPr>
          <p:cNvPicPr>
            <a:picLocks noChangeAspect="1"/>
          </p:cNvPicPr>
          <p:nvPr/>
        </p:nvPicPr>
        <p:blipFill>
          <a:blip r:embed="rId2"/>
          <a:stretch>
            <a:fillRect/>
          </a:stretch>
        </p:blipFill>
        <p:spPr>
          <a:xfrm>
            <a:off x="696232" y="1894188"/>
            <a:ext cx="7156750" cy="4243096"/>
          </a:xfrm>
          <a:prstGeom prst="rect">
            <a:avLst/>
          </a:prstGeom>
        </p:spPr>
      </p:pic>
      <p:pic>
        <p:nvPicPr>
          <p:cNvPr id="12" name="Picture 11">
            <a:extLst>
              <a:ext uri="{FF2B5EF4-FFF2-40B4-BE49-F238E27FC236}">
                <a16:creationId xmlns:a16="http://schemas.microsoft.com/office/drawing/2014/main" id="{1770D49A-6DA8-BAD5-B7BB-ABDD686E93C1}"/>
              </a:ext>
            </a:extLst>
          </p:cNvPr>
          <p:cNvPicPr>
            <a:picLocks noChangeAspect="1"/>
          </p:cNvPicPr>
          <p:nvPr/>
        </p:nvPicPr>
        <p:blipFill>
          <a:blip r:embed="rId3"/>
          <a:stretch>
            <a:fillRect/>
          </a:stretch>
        </p:blipFill>
        <p:spPr>
          <a:xfrm>
            <a:off x="3677328" y="2214585"/>
            <a:ext cx="991359" cy="1214415"/>
          </a:xfrm>
          <a:prstGeom prst="rect">
            <a:avLst/>
          </a:prstGeom>
        </p:spPr>
      </p:pic>
      <p:pic>
        <p:nvPicPr>
          <p:cNvPr id="10" name="Picture 9">
            <a:extLst>
              <a:ext uri="{FF2B5EF4-FFF2-40B4-BE49-F238E27FC236}">
                <a16:creationId xmlns:a16="http://schemas.microsoft.com/office/drawing/2014/main" id="{BE1281CE-F790-99C3-30BB-F2C2D142497C}"/>
              </a:ext>
            </a:extLst>
          </p:cNvPr>
          <p:cNvPicPr>
            <a:picLocks noChangeAspect="1"/>
          </p:cNvPicPr>
          <p:nvPr/>
        </p:nvPicPr>
        <p:blipFill>
          <a:blip r:embed="rId4"/>
          <a:stretch>
            <a:fillRect/>
          </a:stretch>
        </p:blipFill>
        <p:spPr>
          <a:xfrm>
            <a:off x="2519362" y="2568575"/>
            <a:ext cx="991359" cy="860425"/>
          </a:xfrm>
          <a:prstGeom prst="rect">
            <a:avLst/>
          </a:prstGeom>
        </p:spPr>
      </p:pic>
      <p:sp>
        <p:nvSpPr>
          <p:cNvPr id="16" name="TextBox 15">
            <a:extLst>
              <a:ext uri="{FF2B5EF4-FFF2-40B4-BE49-F238E27FC236}">
                <a16:creationId xmlns:a16="http://schemas.microsoft.com/office/drawing/2014/main" id="{8DA33D40-CD13-CEA8-FB6F-34E3F8595C46}"/>
              </a:ext>
            </a:extLst>
          </p:cNvPr>
          <p:cNvSpPr txBox="1"/>
          <p:nvPr/>
        </p:nvSpPr>
        <p:spPr>
          <a:xfrm>
            <a:off x="8072570" y="2111025"/>
            <a:ext cx="3200135" cy="646331"/>
          </a:xfrm>
          <a:prstGeom prst="rect">
            <a:avLst/>
          </a:prstGeom>
          <a:noFill/>
        </p:spPr>
        <p:txBody>
          <a:bodyPr wrap="square">
            <a:spAutoFit/>
          </a:bodyPr>
          <a:lstStyle/>
          <a:p>
            <a:r>
              <a:rPr lang="en-GB" b="1" u="sng" dirty="0">
                <a:solidFill>
                  <a:schemeClr val="bg1"/>
                </a:solidFill>
                <a:latin typeface="Calibri" panose="020F0502020204030204" pitchFamily="34" charset="0"/>
              </a:rPr>
              <a:t>Goal: Show how sales changed week by week during Q1 2024. </a:t>
            </a:r>
          </a:p>
        </p:txBody>
      </p:sp>
      <p:sp>
        <p:nvSpPr>
          <p:cNvPr id="17" name="TextBox 16">
            <a:extLst>
              <a:ext uri="{FF2B5EF4-FFF2-40B4-BE49-F238E27FC236}">
                <a16:creationId xmlns:a16="http://schemas.microsoft.com/office/drawing/2014/main" id="{CEA8C49C-6EDC-F66E-FC8B-967C7C84628D}"/>
              </a:ext>
            </a:extLst>
          </p:cNvPr>
          <p:cNvSpPr txBox="1"/>
          <p:nvPr/>
        </p:nvSpPr>
        <p:spPr>
          <a:xfrm>
            <a:off x="7852982" y="2821792"/>
            <a:ext cx="4038600" cy="3077766"/>
          </a:xfrm>
          <a:prstGeom prst="rect">
            <a:avLst/>
          </a:prstGeom>
          <a:noFill/>
        </p:spPr>
        <p:txBody>
          <a:bodyPr wrap="square" rtlCol="0">
            <a:spAutoFit/>
          </a:bodyPr>
          <a:lstStyle/>
          <a:p>
            <a:pPr marL="285750" indent="-285750">
              <a:buFont typeface="Arial" panose="020B0604020202020204" pitchFamily="34" charset="0"/>
              <a:buChar char="•"/>
            </a:pPr>
            <a:r>
              <a:rPr lang="en-GB" sz="1600" dirty="0">
                <a:solidFill>
                  <a:schemeClr val="bg1"/>
                </a:solidFill>
              </a:rPr>
              <a:t>Weekly sales fluctuate across all genres.</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There is no clear consistent upwards or downwards trend except with sales declining towards the 29</a:t>
            </a:r>
            <a:r>
              <a:rPr lang="en-GB" sz="1600" baseline="30000" dirty="0">
                <a:solidFill>
                  <a:schemeClr val="bg1"/>
                </a:solidFill>
              </a:rPr>
              <a:t>th</a:t>
            </a:r>
            <a:r>
              <a:rPr lang="en-GB" sz="1600" dirty="0">
                <a:solidFill>
                  <a:schemeClr val="bg1"/>
                </a:solidFill>
              </a:rPr>
              <a:t> of January and the 25</a:t>
            </a:r>
            <a:r>
              <a:rPr lang="en-GB" sz="1600" baseline="30000" dirty="0">
                <a:solidFill>
                  <a:schemeClr val="bg1"/>
                </a:solidFill>
              </a:rPr>
              <a:t>th</a:t>
            </a:r>
            <a:r>
              <a:rPr lang="en-GB" sz="1600" dirty="0">
                <a:solidFill>
                  <a:schemeClr val="bg1"/>
                </a:solidFill>
              </a:rPr>
              <a:t> of March.</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Different genres peak at different times</a:t>
            </a:r>
          </a:p>
          <a:p>
            <a:pPr marL="285750" indent="-285750">
              <a:buFont typeface="Arial" panose="020B0604020202020204" pitchFamily="34" charset="0"/>
              <a:buChar char="•"/>
            </a:pPr>
            <a:endParaRPr lang="en-GB" sz="600" dirty="0"/>
          </a:p>
          <a:p>
            <a:pPr marL="285750" indent="-285750">
              <a:buFont typeface="Arial" panose="020B0604020202020204" pitchFamily="34" charset="0"/>
              <a:buChar char="•"/>
            </a:pPr>
            <a:r>
              <a:rPr lang="en-GB" sz="1600" dirty="0">
                <a:solidFill>
                  <a:schemeClr val="bg1"/>
                </a:solidFill>
              </a:rPr>
              <a:t>This suggests that demand is not stable and it may be influenced by seasonal factors but we would need more data to be sure.</a:t>
            </a:r>
          </a:p>
        </p:txBody>
      </p:sp>
    </p:spTree>
    <p:extLst>
      <p:ext uri="{BB962C8B-B14F-4D97-AF65-F5344CB8AC3E}">
        <p14:creationId xmlns:p14="http://schemas.microsoft.com/office/powerpoint/2010/main" val="3965028739"/>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12</a:t>
            </a:fld>
            <a:endParaRPr lang="en-US" dirty="0"/>
          </a:p>
        </p:txBody>
      </p:sp>
      <p:sp>
        <p:nvSpPr>
          <p:cNvPr id="3" name="Title 3">
            <a:extLst>
              <a:ext uri="{FF2B5EF4-FFF2-40B4-BE49-F238E27FC236}">
                <a16:creationId xmlns:a16="http://schemas.microsoft.com/office/drawing/2014/main" id="{99E9D8AE-96D7-1B52-DD5F-DB40FF0409F1}"/>
              </a:ext>
            </a:extLst>
          </p:cNvPr>
          <p:cNvSpPr>
            <a:spLocks noGrp="1"/>
          </p:cNvSpPr>
          <p:nvPr>
            <p:ph type="title"/>
          </p:nvPr>
        </p:nvSpPr>
        <p:spPr>
          <a:xfrm>
            <a:off x="3758935" y="243260"/>
            <a:ext cx="4674130" cy="859055"/>
          </a:xfrm>
        </p:spPr>
        <p:txBody>
          <a:bodyPr>
            <a:normAutofit/>
          </a:bodyPr>
          <a:lstStyle/>
          <a:p>
            <a:r>
              <a:rPr lang="en-US" sz="5400" dirty="0"/>
              <a:t>Visual Analysis</a:t>
            </a:r>
          </a:p>
        </p:txBody>
      </p:sp>
      <p:sp>
        <p:nvSpPr>
          <p:cNvPr id="4" name="TextBox 3">
            <a:extLst>
              <a:ext uri="{FF2B5EF4-FFF2-40B4-BE49-F238E27FC236}">
                <a16:creationId xmlns:a16="http://schemas.microsoft.com/office/drawing/2014/main" id="{AFE03A6E-C90E-4F31-C8AE-EF4B5EA237F6}"/>
              </a:ext>
            </a:extLst>
          </p:cNvPr>
          <p:cNvSpPr txBox="1"/>
          <p:nvPr/>
        </p:nvSpPr>
        <p:spPr>
          <a:xfrm>
            <a:off x="3863560" y="917649"/>
            <a:ext cx="4464879" cy="369332"/>
          </a:xfrm>
          <a:prstGeom prst="rect">
            <a:avLst/>
          </a:prstGeom>
          <a:noFill/>
        </p:spPr>
        <p:txBody>
          <a:bodyPr wrap="square" rtlCol="0">
            <a:spAutoFit/>
          </a:bodyPr>
          <a:lstStyle/>
          <a:p>
            <a:r>
              <a:rPr lang="en-GB" dirty="0">
                <a:solidFill>
                  <a:schemeClr val="bg1"/>
                </a:solidFill>
              </a:rPr>
              <a:t>Publisher Performance (Partnership View)  </a:t>
            </a:r>
          </a:p>
        </p:txBody>
      </p:sp>
      <p:pic>
        <p:nvPicPr>
          <p:cNvPr id="6" name="Picture 5">
            <a:extLst>
              <a:ext uri="{FF2B5EF4-FFF2-40B4-BE49-F238E27FC236}">
                <a16:creationId xmlns:a16="http://schemas.microsoft.com/office/drawing/2014/main" id="{728CF3C4-0C78-DBA9-2137-0C159111DD96}"/>
              </a:ext>
            </a:extLst>
          </p:cNvPr>
          <p:cNvPicPr>
            <a:picLocks noChangeAspect="1"/>
          </p:cNvPicPr>
          <p:nvPr/>
        </p:nvPicPr>
        <p:blipFill>
          <a:blip r:embed="rId2"/>
          <a:stretch>
            <a:fillRect/>
          </a:stretch>
        </p:blipFill>
        <p:spPr>
          <a:xfrm>
            <a:off x="694267" y="1871134"/>
            <a:ext cx="7138591" cy="4233190"/>
          </a:xfrm>
          <a:prstGeom prst="rect">
            <a:avLst/>
          </a:prstGeom>
        </p:spPr>
      </p:pic>
      <p:pic>
        <p:nvPicPr>
          <p:cNvPr id="10" name="Picture 9">
            <a:extLst>
              <a:ext uri="{FF2B5EF4-FFF2-40B4-BE49-F238E27FC236}">
                <a16:creationId xmlns:a16="http://schemas.microsoft.com/office/drawing/2014/main" id="{BE1281CE-F790-99C3-30BB-F2C2D142497C}"/>
              </a:ext>
            </a:extLst>
          </p:cNvPr>
          <p:cNvPicPr>
            <a:picLocks noChangeAspect="1"/>
          </p:cNvPicPr>
          <p:nvPr/>
        </p:nvPicPr>
        <p:blipFill>
          <a:blip r:embed="rId3"/>
          <a:stretch>
            <a:fillRect/>
          </a:stretch>
        </p:blipFill>
        <p:spPr>
          <a:xfrm>
            <a:off x="4779961" y="2630236"/>
            <a:ext cx="1203211" cy="1044297"/>
          </a:xfrm>
          <a:prstGeom prst="rect">
            <a:avLst/>
          </a:prstGeom>
        </p:spPr>
      </p:pic>
      <p:pic>
        <p:nvPicPr>
          <p:cNvPr id="7" name="Picture 6">
            <a:extLst>
              <a:ext uri="{FF2B5EF4-FFF2-40B4-BE49-F238E27FC236}">
                <a16:creationId xmlns:a16="http://schemas.microsoft.com/office/drawing/2014/main" id="{9D13766E-20C8-421C-F72E-5E42D4D4CC5A}"/>
              </a:ext>
            </a:extLst>
          </p:cNvPr>
          <p:cNvPicPr>
            <a:picLocks noChangeAspect="1"/>
          </p:cNvPicPr>
          <p:nvPr/>
        </p:nvPicPr>
        <p:blipFill>
          <a:blip r:embed="rId4"/>
          <a:stretch>
            <a:fillRect/>
          </a:stretch>
        </p:blipFill>
        <p:spPr>
          <a:xfrm>
            <a:off x="6095999" y="2630236"/>
            <a:ext cx="1099153" cy="798763"/>
          </a:xfrm>
          <a:prstGeom prst="rect">
            <a:avLst/>
          </a:prstGeom>
        </p:spPr>
      </p:pic>
      <p:sp>
        <p:nvSpPr>
          <p:cNvPr id="9" name="TextBox 8">
            <a:extLst>
              <a:ext uri="{FF2B5EF4-FFF2-40B4-BE49-F238E27FC236}">
                <a16:creationId xmlns:a16="http://schemas.microsoft.com/office/drawing/2014/main" id="{5569C353-E492-108C-3422-941ABB41D1C7}"/>
              </a:ext>
            </a:extLst>
          </p:cNvPr>
          <p:cNvSpPr txBox="1"/>
          <p:nvPr/>
        </p:nvSpPr>
        <p:spPr>
          <a:xfrm>
            <a:off x="8263467" y="1871134"/>
            <a:ext cx="3928533" cy="646331"/>
          </a:xfrm>
          <a:prstGeom prst="rect">
            <a:avLst/>
          </a:prstGeom>
          <a:noFill/>
        </p:spPr>
        <p:txBody>
          <a:bodyPr wrap="square">
            <a:spAutoFit/>
          </a:bodyPr>
          <a:lstStyle/>
          <a:p>
            <a:r>
              <a:rPr lang="en-GB" b="1" u="sng" dirty="0">
                <a:solidFill>
                  <a:schemeClr val="bg1"/>
                </a:solidFill>
                <a:latin typeface="Calibri" panose="020F0502020204030204" pitchFamily="34" charset="0"/>
              </a:rPr>
              <a:t>Goal: Identify top and bottom performing publishers in Q1 2024. </a:t>
            </a:r>
          </a:p>
        </p:txBody>
      </p:sp>
      <p:sp>
        <p:nvSpPr>
          <p:cNvPr id="11" name="TextBox 10">
            <a:extLst>
              <a:ext uri="{FF2B5EF4-FFF2-40B4-BE49-F238E27FC236}">
                <a16:creationId xmlns:a16="http://schemas.microsoft.com/office/drawing/2014/main" id="{60DB399B-C6CE-9743-394E-7152D05C7328}"/>
              </a:ext>
            </a:extLst>
          </p:cNvPr>
          <p:cNvSpPr txBox="1"/>
          <p:nvPr/>
        </p:nvSpPr>
        <p:spPr>
          <a:xfrm>
            <a:off x="7832858" y="2711985"/>
            <a:ext cx="4359142" cy="3724096"/>
          </a:xfrm>
          <a:prstGeom prst="rect">
            <a:avLst/>
          </a:prstGeom>
          <a:noFill/>
        </p:spPr>
        <p:txBody>
          <a:bodyPr wrap="square" rtlCol="0">
            <a:spAutoFit/>
          </a:bodyPr>
          <a:lstStyle/>
          <a:p>
            <a:pPr marL="285750" indent="-285750">
              <a:buFont typeface="Arial" panose="020B0604020202020204" pitchFamily="34" charset="0"/>
              <a:buChar char="•"/>
            </a:pPr>
            <a:r>
              <a:rPr lang="en-GB" sz="1600" dirty="0">
                <a:solidFill>
                  <a:schemeClr val="bg1"/>
                </a:solidFill>
              </a:rPr>
              <a:t>From this graph, we can see which publishers perform better in different regions.</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This information can be used to help region specific marketing, allowing the business to focus resources on areas where each publisher performs the strongest.</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For example, Publisher_013, has the highest sales in the West region compared to other publishers but they have no sales in the South region so the business could consider increasing their presence in the south region to further improve sales.</a:t>
            </a:r>
          </a:p>
        </p:txBody>
      </p:sp>
    </p:spTree>
    <p:extLst>
      <p:ext uri="{BB962C8B-B14F-4D97-AF65-F5344CB8AC3E}">
        <p14:creationId xmlns:p14="http://schemas.microsoft.com/office/powerpoint/2010/main" val="1825413840"/>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DA2B98B8-1BB2-C969-8AEA-06E205350292}"/>
              </a:ext>
            </a:extLst>
          </p:cNvPr>
          <p:cNvPicPr>
            <a:picLocks noChangeAspect="1"/>
          </p:cNvPicPr>
          <p:nvPr/>
        </p:nvPicPr>
        <p:blipFill>
          <a:blip r:embed="rId2"/>
          <a:stretch>
            <a:fillRect/>
          </a:stretch>
        </p:blipFill>
        <p:spPr>
          <a:xfrm>
            <a:off x="6683689" y="2102285"/>
            <a:ext cx="2747186" cy="4029798"/>
          </a:xfrm>
          <a:prstGeom prst="rect">
            <a:avLst/>
          </a:prstGeom>
        </p:spPr>
      </p:pic>
      <p:pic>
        <p:nvPicPr>
          <p:cNvPr id="21" name="Picture 20">
            <a:extLst>
              <a:ext uri="{FF2B5EF4-FFF2-40B4-BE49-F238E27FC236}">
                <a16:creationId xmlns:a16="http://schemas.microsoft.com/office/drawing/2014/main" id="{B6EE1A46-F61F-DD12-4665-7B6F93D0F7F4}"/>
              </a:ext>
            </a:extLst>
          </p:cNvPr>
          <p:cNvPicPr>
            <a:picLocks noChangeAspect="1"/>
          </p:cNvPicPr>
          <p:nvPr/>
        </p:nvPicPr>
        <p:blipFill>
          <a:blip r:embed="rId3"/>
          <a:stretch>
            <a:fillRect/>
          </a:stretch>
        </p:blipFill>
        <p:spPr>
          <a:xfrm>
            <a:off x="707636" y="2113181"/>
            <a:ext cx="3051299" cy="4075855"/>
          </a:xfrm>
          <a:prstGeom prst="rect">
            <a:avLst/>
          </a:prstGeom>
        </p:spPr>
      </p:pic>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13</a:t>
            </a:fld>
            <a:endParaRPr lang="en-US" dirty="0"/>
          </a:p>
        </p:txBody>
      </p:sp>
      <p:sp>
        <p:nvSpPr>
          <p:cNvPr id="3" name="Title 3">
            <a:extLst>
              <a:ext uri="{FF2B5EF4-FFF2-40B4-BE49-F238E27FC236}">
                <a16:creationId xmlns:a16="http://schemas.microsoft.com/office/drawing/2014/main" id="{99E9D8AE-96D7-1B52-DD5F-DB40FF0409F1}"/>
              </a:ext>
            </a:extLst>
          </p:cNvPr>
          <p:cNvSpPr>
            <a:spLocks noGrp="1"/>
          </p:cNvSpPr>
          <p:nvPr>
            <p:ph type="title"/>
          </p:nvPr>
        </p:nvSpPr>
        <p:spPr>
          <a:xfrm>
            <a:off x="3758935" y="243260"/>
            <a:ext cx="4674130" cy="859055"/>
          </a:xfrm>
        </p:spPr>
        <p:txBody>
          <a:bodyPr>
            <a:normAutofit/>
          </a:bodyPr>
          <a:lstStyle/>
          <a:p>
            <a:r>
              <a:rPr lang="en-US" sz="5400" dirty="0"/>
              <a:t>Visual Analysis</a:t>
            </a:r>
          </a:p>
        </p:txBody>
      </p:sp>
      <p:sp>
        <p:nvSpPr>
          <p:cNvPr id="4" name="TextBox 3">
            <a:extLst>
              <a:ext uri="{FF2B5EF4-FFF2-40B4-BE49-F238E27FC236}">
                <a16:creationId xmlns:a16="http://schemas.microsoft.com/office/drawing/2014/main" id="{AFE03A6E-C90E-4F31-C8AE-EF4B5EA237F6}"/>
              </a:ext>
            </a:extLst>
          </p:cNvPr>
          <p:cNvSpPr txBox="1"/>
          <p:nvPr/>
        </p:nvSpPr>
        <p:spPr>
          <a:xfrm>
            <a:off x="4409752" y="917649"/>
            <a:ext cx="3146840" cy="369332"/>
          </a:xfrm>
          <a:prstGeom prst="rect">
            <a:avLst/>
          </a:prstGeom>
          <a:noFill/>
        </p:spPr>
        <p:txBody>
          <a:bodyPr wrap="square" rtlCol="0">
            <a:spAutoFit/>
          </a:bodyPr>
          <a:lstStyle/>
          <a:p>
            <a:r>
              <a:rPr lang="en-GB" dirty="0">
                <a:solidFill>
                  <a:schemeClr val="bg1"/>
                </a:solidFill>
              </a:rPr>
              <a:t>Create Key Calculated Fields </a:t>
            </a:r>
          </a:p>
        </p:txBody>
      </p:sp>
      <p:sp>
        <p:nvSpPr>
          <p:cNvPr id="11" name="TextBox 10">
            <a:extLst>
              <a:ext uri="{FF2B5EF4-FFF2-40B4-BE49-F238E27FC236}">
                <a16:creationId xmlns:a16="http://schemas.microsoft.com/office/drawing/2014/main" id="{3C620413-1E6D-D41B-DC68-F66EDF7DA44F}"/>
              </a:ext>
            </a:extLst>
          </p:cNvPr>
          <p:cNvSpPr txBox="1"/>
          <p:nvPr/>
        </p:nvSpPr>
        <p:spPr>
          <a:xfrm>
            <a:off x="516360" y="1625904"/>
            <a:ext cx="3454665" cy="369332"/>
          </a:xfrm>
          <a:prstGeom prst="rect">
            <a:avLst/>
          </a:prstGeom>
          <a:noFill/>
        </p:spPr>
        <p:txBody>
          <a:bodyPr wrap="square">
            <a:spAutoFit/>
          </a:bodyPr>
          <a:lstStyle/>
          <a:p>
            <a:r>
              <a:rPr lang="en-GB" sz="1800" b="1" u="sng" dirty="0">
                <a:solidFill>
                  <a:schemeClr val="bg1"/>
                </a:solidFill>
                <a:latin typeface="Calibri" panose="020F0502020204030204" pitchFamily="34" charset="0"/>
              </a:rPr>
              <a:t>Average Sales per order per region</a:t>
            </a:r>
            <a:endParaRPr lang="en-GB" dirty="0"/>
          </a:p>
        </p:txBody>
      </p:sp>
      <p:sp>
        <p:nvSpPr>
          <p:cNvPr id="14" name="TextBox 13">
            <a:extLst>
              <a:ext uri="{FF2B5EF4-FFF2-40B4-BE49-F238E27FC236}">
                <a16:creationId xmlns:a16="http://schemas.microsoft.com/office/drawing/2014/main" id="{6FB501FE-F82B-E923-AC0E-91B89D5C8F1B}"/>
              </a:ext>
            </a:extLst>
          </p:cNvPr>
          <p:cNvSpPr txBox="1"/>
          <p:nvPr/>
        </p:nvSpPr>
        <p:spPr>
          <a:xfrm>
            <a:off x="6877576" y="1670658"/>
            <a:ext cx="2094973" cy="369332"/>
          </a:xfrm>
          <a:prstGeom prst="rect">
            <a:avLst/>
          </a:prstGeom>
          <a:noFill/>
        </p:spPr>
        <p:txBody>
          <a:bodyPr wrap="square">
            <a:spAutoFit/>
          </a:bodyPr>
          <a:lstStyle/>
          <a:p>
            <a:r>
              <a:rPr lang="en-GB" sz="1800" b="1" u="sng" dirty="0">
                <a:solidFill>
                  <a:schemeClr val="bg1"/>
                </a:solidFill>
                <a:latin typeface="Calibri" panose="020F0502020204030204" pitchFamily="34" charset="0"/>
              </a:rPr>
              <a:t>Sales by Order Size</a:t>
            </a:r>
            <a:endParaRPr lang="en-GB" dirty="0"/>
          </a:p>
        </p:txBody>
      </p:sp>
      <p:pic>
        <p:nvPicPr>
          <p:cNvPr id="15" name="Picture 14">
            <a:extLst>
              <a:ext uri="{FF2B5EF4-FFF2-40B4-BE49-F238E27FC236}">
                <a16:creationId xmlns:a16="http://schemas.microsoft.com/office/drawing/2014/main" id="{73E9C35E-A4F9-2A8D-DE1C-39546F9A58E3}"/>
              </a:ext>
            </a:extLst>
          </p:cNvPr>
          <p:cNvPicPr>
            <a:picLocks noChangeAspect="1"/>
          </p:cNvPicPr>
          <p:nvPr/>
        </p:nvPicPr>
        <p:blipFill>
          <a:blip r:embed="rId4"/>
          <a:stretch>
            <a:fillRect/>
          </a:stretch>
        </p:blipFill>
        <p:spPr>
          <a:xfrm>
            <a:off x="2815944" y="2716743"/>
            <a:ext cx="875258" cy="636057"/>
          </a:xfrm>
          <a:prstGeom prst="rect">
            <a:avLst/>
          </a:prstGeom>
        </p:spPr>
      </p:pic>
      <p:pic>
        <p:nvPicPr>
          <p:cNvPr id="17" name="Picture 16">
            <a:extLst>
              <a:ext uri="{FF2B5EF4-FFF2-40B4-BE49-F238E27FC236}">
                <a16:creationId xmlns:a16="http://schemas.microsoft.com/office/drawing/2014/main" id="{7AD8BA9E-FA43-25C3-C85A-C9776C2C6254}"/>
              </a:ext>
            </a:extLst>
          </p:cNvPr>
          <p:cNvPicPr>
            <a:picLocks noChangeAspect="1"/>
          </p:cNvPicPr>
          <p:nvPr/>
        </p:nvPicPr>
        <p:blipFill>
          <a:blip r:embed="rId5"/>
          <a:stretch>
            <a:fillRect/>
          </a:stretch>
        </p:blipFill>
        <p:spPr>
          <a:xfrm>
            <a:off x="8252742" y="3034771"/>
            <a:ext cx="1022453" cy="617330"/>
          </a:xfrm>
          <a:prstGeom prst="rect">
            <a:avLst/>
          </a:prstGeom>
        </p:spPr>
      </p:pic>
      <p:sp>
        <p:nvSpPr>
          <p:cNvPr id="19" name="TextBox 18">
            <a:extLst>
              <a:ext uri="{FF2B5EF4-FFF2-40B4-BE49-F238E27FC236}">
                <a16:creationId xmlns:a16="http://schemas.microsoft.com/office/drawing/2014/main" id="{3A51716B-7115-D36B-1EF5-790A868FAA07}"/>
              </a:ext>
            </a:extLst>
          </p:cNvPr>
          <p:cNvSpPr txBox="1"/>
          <p:nvPr/>
        </p:nvSpPr>
        <p:spPr>
          <a:xfrm>
            <a:off x="3700123" y="2102285"/>
            <a:ext cx="2489465" cy="4031873"/>
          </a:xfrm>
          <a:prstGeom prst="rect">
            <a:avLst/>
          </a:prstGeom>
          <a:noFill/>
        </p:spPr>
        <p:txBody>
          <a:bodyPr wrap="square" rtlCol="0">
            <a:spAutoFit/>
          </a:bodyPr>
          <a:lstStyle/>
          <a:p>
            <a:pPr marL="285750" indent="-285750">
              <a:buFont typeface="Arial" panose="020B0604020202020204" pitchFamily="34" charset="0"/>
              <a:buChar char="•"/>
            </a:pPr>
            <a:r>
              <a:rPr lang="en-GB" sz="1600" dirty="0">
                <a:solidFill>
                  <a:schemeClr val="bg1"/>
                </a:solidFill>
              </a:rPr>
              <a:t>The average sale amount per region is similar, having a range between the highest selling and lowest selling region of £14.82</a:t>
            </a:r>
          </a:p>
          <a:p>
            <a:pPr marL="285750" indent="-285750">
              <a:buFont typeface="Arial" panose="020B0604020202020204" pitchFamily="34" charset="0"/>
              <a:buChar char="•"/>
            </a:pPr>
            <a:endParaRPr lang="en-GB" sz="1600" dirty="0">
              <a:solidFill>
                <a:schemeClr val="bg1"/>
              </a:solidFill>
            </a:endParaRPr>
          </a:p>
          <a:p>
            <a:pPr marL="285750" indent="-285750">
              <a:buFont typeface="Arial" panose="020B0604020202020204" pitchFamily="34" charset="0"/>
              <a:buChar char="•"/>
            </a:pPr>
            <a:r>
              <a:rPr lang="en-GB" sz="1600" dirty="0">
                <a:solidFill>
                  <a:schemeClr val="bg1"/>
                </a:solidFill>
              </a:rPr>
              <a:t>This suggests that purchasing behaviour is relatively consistent across all regions, with customers spending a similar amount on each transaction.</a:t>
            </a:r>
          </a:p>
        </p:txBody>
      </p:sp>
      <p:sp>
        <p:nvSpPr>
          <p:cNvPr id="25" name="TextBox 24">
            <a:extLst>
              <a:ext uri="{FF2B5EF4-FFF2-40B4-BE49-F238E27FC236}">
                <a16:creationId xmlns:a16="http://schemas.microsoft.com/office/drawing/2014/main" id="{9B77C2B2-301F-EDFD-DFC3-0921F90F743D}"/>
              </a:ext>
            </a:extLst>
          </p:cNvPr>
          <p:cNvSpPr txBox="1"/>
          <p:nvPr/>
        </p:nvSpPr>
        <p:spPr>
          <a:xfrm>
            <a:off x="9430875" y="2113181"/>
            <a:ext cx="2815944" cy="2800767"/>
          </a:xfrm>
          <a:prstGeom prst="rect">
            <a:avLst/>
          </a:prstGeom>
          <a:noFill/>
        </p:spPr>
        <p:txBody>
          <a:bodyPr wrap="square" rtlCol="0">
            <a:spAutoFit/>
          </a:bodyPr>
          <a:lstStyle/>
          <a:p>
            <a:pPr marL="285750" indent="-285750">
              <a:buFont typeface="Arial" panose="020B0604020202020204" pitchFamily="34" charset="0"/>
              <a:buChar char="•"/>
            </a:pPr>
            <a:r>
              <a:rPr lang="en-GB" sz="1600" dirty="0">
                <a:solidFill>
                  <a:schemeClr val="bg1"/>
                </a:solidFill>
              </a:rPr>
              <a:t>Sales are heavily driven by large orders, accounting for more than double the revenue of medium orders.</a:t>
            </a:r>
          </a:p>
          <a:p>
            <a:pPr marL="285750" indent="-285750">
              <a:buFont typeface="Arial" panose="020B0604020202020204" pitchFamily="34" charset="0"/>
              <a:buChar char="•"/>
            </a:pPr>
            <a:endParaRPr lang="en-GB" sz="1600" dirty="0">
              <a:solidFill>
                <a:schemeClr val="bg1"/>
              </a:solidFill>
            </a:endParaRPr>
          </a:p>
          <a:p>
            <a:pPr marL="285750" indent="-285750">
              <a:buFont typeface="Arial" panose="020B0604020202020204" pitchFamily="34" charset="0"/>
              <a:buChar char="•"/>
            </a:pPr>
            <a:r>
              <a:rPr lang="en-GB" sz="1600" dirty="0">
                <a:solidFill>
                  <a:schemeClr val="bg1"/>
                </a:solidFill>
              </a:rPr>
              <a:t>This indicates that higher order sizes per transaction are a key contributor to overall revenue.</a:t>
            </a:r>
          </a:p>
        </p:txBody>
      </p:sp>
    </p:spTree>
    <p:extLst>
      <p:ext uri="{BB962C8B-B14F-4D97-AF65-F5344CB8AC3E}">
        <p14:creationId xmlns:p14="http://schemas.microsoft.com/office/powerpoint/2010/main" val="76650956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14</a:t>
            </a:fld>
            <a:endParaRPr lang="en-US" dirty="0"/>
          </a:p>
        </p:txBody>
      </p:sp>
      <p:sp>
        <p:nvSpPr>
          <p:cNvPr id="3" name="Title 3">
            <a:extLst>
              <a:ext uri="{FF2B5EF4-FFF2-40B4-BE49-F238E27FC236}">
                <a16:creationId xmlns:a16="http://schemas.microsoft.com/office/drawing/2014/main" id="{99E9D8AE-96D7-1B52-DD5F-DB40FF0409F1}"/>
              </a:ext>
            </a:extLst>
          </p:cNvPr>
          <p:cNvSpPr>
            <a:spLocks noGrp="1"/>
          </p:cNvSpPr>
          <p:nvPr>
            <p:ph type="title"/>
          </p:nvPr>
        </p:nvSpPr>
        <p:spPr>
          <a:xfrm>
            <a:off x="3758935" y="243260"/>
            <a:ext cx="4674130" cy="859055"/>
          </a:xfrm>
        </p:spPr>
        <p:txBody>
          <a:bodyPr>
            <a:normAutofit/>
          </a:bodyPr>
          <a:lstStyle/>
          <a:p>
            <a:r>
              <a:rPr lang="en-US" sz="5400" dirty="0"/>
              <a:t>Visual Analysis</a:t>
            </a:r>
          </a:p>
        </p:txBody>
      </p:sp>
      <p:sp>
        <p:nvSpPr>
          <p:cNvPr id="4" name="TextBox 3">
            <a:extLst>
              <a:ext uri="{FF2B5EF4-FFF2-40B4-BE49-F238E27FC236}">
                <a16:creationId xmlns:a16="http://schemas.microsoft.com/office/drawing/2014/main" id="{AFE03A6E-C90E-4F31-C8AE-EF4B5EA237F6}"/>
              </a:ext>
            </a:extLst>
          </p:cNvPr>
          <p:cNvSpPr txBox="1"/>
          <p:nvPr/>
        </p:nvSpPr>
        <p:spPr>
          <a:xfrm>
            <a:off x="4289745" y="917649"/>
            <a:ext cx="3612507" cy="369332"/>
          </a:xfrm>
          <a:prstGeom prst="rect">
            <a:avLst/>
          </a:prstGeom>
          <a:noFill/>
        </p:spPr>
        <p:txBody>
          <a:bodyPr wrap="square" rtlCol="0">
            <a:spAutoFit/>
          </a:bodyPr>
          <a:lstStyle/>
          <a:p>
            <a:r>
              <a:rPr lang="en-GB" dirty="0">
                <a:solidFill>
                  <a:schemeClr val="bg1"/>
                </a:solidFill>
              </a:rPr>
              <a:t>Highlight Table (Genre vs Region) </a:t>
            </a:r>
          </a:p>
        </p:txBody>
      </p:sp>
      <p:pic>
        <p:nvPicPr>
          <p:cNvPr id="8" name="Picture 7">
            <a:extLst>
              <a:ext uri="{FF2B5EF4-FFF2-40B4-BE49-F238E27FC236}">
                <a16:creationId xmlns:a16="http://schemas.microsoft.com/office/drawing/2014/main" id="{973BD277-C05F-CF89-DB8E-48241988B0E0}"/>
              </a:ext>
            </a:extLst>
          </p:cNvPr>
          <p:cNvPicPr>
            <a:picLocks noChangeAspect="1"/>
          </p:cNvPicPr>
          <p:nvPr/>
        </p:nvPicPr>
        <p:blipFill>
          <a:blip r:embed="rId2"/>
          <a:stretch>
            <a:fillRect/>
          </a:stretch>
        </p:blipFill>
        <p:spPr>
          <a:xfrm>
            <a:off x="748921" y="2267479"/>
            <a:ext cx="5143879" cy="2323042"/>
          </a:xfrm>
          <a:prstGeom prst="rect">
            <a:avLst/>
          </a:prstGeom>
        </p:spPr>
      </p:pic>
      <p:pic>
        <p:nvPicPr>
          <p:cNvPr id="11" name="Picture 10">
            <a:extLst>
              <a:ext uri="{FF2B5EF4-FFF2-40B4-BE49-F238E27FC236}">
                <a16:creationId xmlns:a16="http://schemas.microsoft.com/office/drawing/2014/main" id="{56C13587-98CE-BBBC-5186-EDD3681195A0}"/>
              </a:ext>
            </a:extLst>
          </p:cNvPr>
          <p:cNvPicPr>
            <a:picLocks noChangeAspect="1"/>
          </p:cNvPicPr>
          <p:nvPr/>
        </p:nvPicPr>
        <p:blipFill>
          <a:blip r:embed="rId3"/>
          <a:stretch>
            <a:fillRect/>
          </a:stretch>
        </p:blipFill>
        <p:spPr>
          <a:xfrm>
            <a:off x="1701800" y="3778195"/>
            <a:ext cx="1021612" cy="491651"/>
          </a:xfrm>
          <a:prstGeom prst="rect">
            <a:avLst/>
          </a:prstGeom>
        </p:spPr>
      </p:pic>
      <p:sp>
        <p:nvSpPr>
          <p:cNvPr id="13" name="TextBox 12">
            <a:extLst>
              <a:ext uri="{FF2B5EF4-FFF2-40B4-BE49-F238E27FC236}">
                <a16:creationId xmlns:a16="http://schemas.microsoft.com/office/drawing/2014/main" id="{9E724B5F-5B4D-8C99-84D2-C571744D4F10}"/>
              </a:ext>
            </a:extLst>
          </p:cNvPr>
          <p:cNvSpPr txBox="1"/>
          <p:nvPr/>
        </p:nvSpPr>
        <p:spPr>
          <a:xfrm>
            <a:off x="6410324" y="2074128"/>
            <a:ext cx="3248345" cy="646331"/>
          </a:xfrm>
          <a:prstGeom prst="rect">
            <a:avLst/>
          </a:prstGeom>
          <a:noFill/>
        </p:spPr>
        <p:txBody>
          <a:bodyPr wrap="square">
            <a:spAutoFit/>
          </a:bodyPr>
          <a:lstStyle/>
          <a:p>
            <a:r>
              <a:rPr lang="en-GB" b="1" u="sng" dirty="0">
                <a:solidFill>
                  <a:schemeClr val="bg1"/>
                </a:solidFill>
                <a:latin typeface="Calibri" panose="020F0502020204030204" pitchFamily="34" charset="0"/>
              </a:rPr>
              <a:t>Goal: Spot strong/weak areas across the business quickly. </a:t>
            </a:r>
          </a:p>
        </p:txBody>
      </p:sp>
      <p:sp>
        <p:nvSpPr>
          <p:cNvPr id="14" name="TextBox 13">
            <a:extLst>
              <a:ext uri="{FF2B5EF4-FFF2-40B4-BE49-F238E27FC236}">
                <a16:creationId xmlns:a16="http://schemas.microsoft.com/office/drawing/2014/main" id="{70C801CC-0C37-A637-A862-08E8A7CC3C34}"/>
              </a:ext>
            </a:extLst>
          </p:cNvPr>
          <p:cNvSpPr txBox="1"/>
          <p:nvPr/>
        </p:nvSpPr>
        <p:spPr>
          <a:xfrm>
            <a:off x="6095998" y="2720459"/>
            <a:ext cx="4781552" cy="3662541"/>
          </a:xfrm>
          <a:prstGeom prst="rect">
            <a:avLst/>
          </a:prstGeom>
          <a:noFill/>
        </p:spPr>
        <p:txBody>
          <a:bodyPr wrap="square" rtlCol="0">
            <a:spAutoFit/>
          </a:bodyPr>
          <a:lstStyle/>
          <a:p>
            <a:pPr marL="285750" indent="-285750">
              <a:buFont typeface="Arial" panose="020B0604020202020204" pitchFamily="34" charset="0"/>
              <a:buChar char="•"/>
            </a:pPr>
            <a:r>
              <a:rPr lang="en-GB" sz="1600" dirty="0">
                <a:solidFill>
                  <a:schemeClr val="bg1"/>
                </a:solidFill>
              </a:rPr>
              <a:t>The Non-fiction genre in the southern region generates the least revenue with only £156.40 in sales.</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History books in the West region generate the most revenue with £6,287.10 in sales.</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Overall, the west region generates the most revenue.</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The southern region generates the least revenue overall with only 1 category having over £1,000 in sales.</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This makes the southern region the worst performing region and a key area that the business could improve upon.</a:t>
            </a:r>
          </a:p>
        </p:txBody>
      </p:sp>
    </p:spTree>
    <p:extLst>
      <p:ext uri="{BB962C8B-B14F-4D97-AF65-F5344CB8AC3E}">
        <p14:creationId xmlns:p14="http://schemas.microsoft.com/office/powerpoint/2010/main" val="31643146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15</a:t>
            </a:fld>
            <a:endParaRPr lang="en-US" dirty="0"/>
          </a:p>
        </p:txBody>
      </p:sp>
      <p:sp>
        <p:nvSpPr>
          <p:cNvPr id="3" name="Title 3">
            <a:extLst>
              <a:ext uri="{FF2B5EF4-FFF2-40B4-BE49-F238E27FC236}">
                <a16:creationId xmlns:a16="http://schemas.microsoft.com/office/drawing/2014/main" id="{99E9D8AE-96D7-1B52-DD5F-DB40FF0409F1}"/>
              </a:ext>
            </a:extLst>
          </p:cNvPr>
          <p:cNvSpPr>
            <a:spLocks noGrp="1"/>
          </p:cNvSpPr>
          <p:nvPr>
            <p:ph type="title"/>
          </p:nvPr>
        </p:nvSpPr>
        <p:spPr>
          <a:xfrm>
            <a:off x="3758935" y="243260"/>
            <a:ext cx="4674130" cy="859055"/>
          </a:xfrm>
        </p:spPr>
        <p:txBody>
          <a:bodyPr>
            <a:normAutofit/>
          </a:bodyPr>
          <a:lstStyle/>
          <a:p>
            <a:r>
              <a:rPr lang="en-US" sz="5400" dirty="0"/>
              <a:t>Visual Analysis</a:t>
            </a:r>
          </a:p>
        </p:txBody>
      </p:sp>
      <p:sp>
        <p:nvSpPr>
          <p:cNvPr id="4" name="TextBox 3">
            <a:extLst>
              <a:ext uri="{FF2B5EF4-FFF2-40B4-BE49-F238E27FC236}">
                <a16:creationId xmlns:a16="http://schemas.microsoft.com/office/drawing/2014/main" id="{AFE03A6E-C90E-4F31-C8AE-EF4B5EA237F6}"/>
              </a:ext>
            </a:extLst>
          </p:cNvPr>
          <p:cNvSpPr txBox="1"/>
          <p:nvPr/>
        </p:nvSpPr>
        <p:spPr>
          <a:xfrm>
            <a:off x="3982139" y="917649"/>
            <a:ext cx="4227722" cy="369332"/>
          </a:xfrm>
          <a:prstGeom prst="rect">
            <a:avLst/>
          </a:prstGeom>
          <a:noFill/>
        </p:spPr>
        <p:txBody>
          <a:bodyPr wrap="square" rtlCol="0">
            <a:spAutoFit/>
          </a:bodyPr>
          <a:lstStyle/>
          <a:p>
            <a:r>
              <a:rPr lang="en-GB" dirty="0">
                <a:solidFill>
                  <a:schemeClr val="bg1"/>
                </a:solidFill>
              </a:rPr>
              <a:t>Sales vs Quantity (Order-Level Scatter) </a:t>
            </a:r>
          </a:p>
        </p:txBody>
      </p:sp>
      <p:pic>
        <p:nvPicPr>
          <p:cNvPr id="6" name="Picture 5">
            <a:extLst>
              <a:ext uri="{FF2B5EF4-FFF2-40B4-BE49-F238E27FC236}">
                <a16:creationId xmlns:a16="http://schemas.microsoft.com/office/drawing/2014/main" id="{1366ABC3-360E-DBE3-F33E-F65EB7EBEF91}"/>
              </a:ext>
            </a:extLst>
          </p:cNvPr>
          <p:cNvPicPr>
            <a:picLocks noChangeAspect="1"/>
          </p:cNvPicPr>
          <p:nvPr/>
        </p:nvPicPr>
        <p:blipFill>
          <a:blip r:embed="rId2"/>
          <a:stretch>
            <a:fillRect/>
          </a:stretch>
        </p:blipFill>
        <p:spPr>
          <a:xfrm>
            <a:off x="749595" y="1633243"/>
            <a:ext cx="5188945" cy="4681832"/>
          </a:xfrm>
          <a:prstGeom prst="rect">
            <a:avLst/>
          </a:prstGeom>
        </p:spPr>
      </p:pic>
      <p:pic>
        <p:nvPicPr>
          <p:cNvPr id="9" name="Picture 8">
            <a:extLst>
              <a:ext uri="{FF2B5EF4-FFF2-40B4-BE49-F238E27FC236}">
                <a16:creationId xmlns:a16="http://schemas.microsoft.com/office/drawing/2014/main" id="{443FFDFA-FFAE-FEDE-2D63-B75C4ED2D5F8}"/>
              </a:ext>
            </a:extLst>
          </p:cNvPr>
          <p:cNvPicPr>
            <a:picLocks noChangeAspect="1"/>
          </p:cNvPicPr>
          <p:nvPr/>
        </p:nvPicPr>
        <p:blipFill>
          <a:blip r:embed="rId3"/>
          <a:stretch>
            <a:fillRect/>
          </a:stretch>
        </p:blipFill>
        <p:spPr>
          <a:xfrm>
            <a:off x="3025670" y="2361040"/>
            <a:ext cx="956469" cy="1171675"/>
          </a:xfrm>
          <a:prstGeom prst="rect">
            <a:avLst/>
          </a:prstGeom>
        </p:spPr>
      </p:pic>
      <p:sp>
        <p:nvSpPr>
          <p:cNvPr id="12" name="TextBox 11">
            <a:extLst>
              <a:ext uri="{FF2B5EF4-FFF2-40B4-BE49-F238E27FC236}">
                <a16:creationId xmlns:a16="http://schemas.microsoft.com/office/drawing/2014/main" id="{71FFDF59-FA42-36B1-3D7E-20D1903F303B}"/>
              </a:ext>
            </a:extLst>
          </p:cNvPr>
          <p:cNvSpPr txBox="1"/>
          <p:nvPr/>
        </p:nvSpPr>
        <p:spPr>
          <a:xfrm>
            <a:off x="6463012" y="1573546"/>
            <a:ext cx="2838450" cy="646331"/>
          </a:xfrm>
          <a:prstGeom prst="rect">
            <a:avLst/>
          </a:prstGeom>
          <a:noFill/>
        </p:spPr>
        <p:txBody>
          <a:bodyPr wrap="square">
            <a:spAutoFit/>
          </a:bodyPr>
          <a:lstStyle/>
          <a:p>
            <a:r>
              <a:rPr lang="en-GB" b="1" u="sng" dirty="0">
                <a:solidFill>
                  <a:schemeClr val="bg1"/>
                </a:solidFill>
                <a:latin typeface="Calibri" panose="020F0502020204030204" pitchFamily="34" charset="0"/>
              </a:rPr>
              <a:t>Goal: Find high-quantity or high-sales outlier orders. </a:t>
            </a:r>
          </a:p>
        </p:txBody>
      </p:sp>
      <p:sp>
        <p:nvSpPr>
          <p:cNvPr id="13" name="TextBox 12">
            <a:extLst>
              <a:ext uri="{FF2B5EF4-FFF2-40B4-BE49-F238E27FC236}">
                <a16:creationId xmlns:a16="http://schemas.microsoft.com/office/drawing/2014/main" id="{B5806943-CADB-E44A-28C8-1E3FC8982A5B}"/>
              </a:ext>
            </a:extLst>
          </p:cNvPr>
          <p:cNvSpPr txBox="1"/>
          <p:nvPr/>
        </p:nvSpPr>
        <p:spPr>
          <a:xfrm>
            <a:off x="6180142" y="2219877"/>
            <a:ext cx="5238750" cy="4893647"/>
          </a:xfrm>
          <a:prstGeom prst="rect">
            <a:avLst/>
          </a:prstGeom>
          <a:noFill/>
        </p:spPr>
        <p:txBody>
          <a:bodyPr wrap="square" rtlCol="0">
            <a:spAutoFit/>
          </a:bodyPr>
          <a:lstStyle/>
          <a:p>
            <a:pPr marL="285750" indent="-285750">
              <a:buFont typeface="Arial" panose="020B0604020202020204" pitchFamily="34" charset="0"/>
              <a:buChar char="•"/>
            </a:pPr>
            <a:r>
              <a:rPr lang="en-GB" sz="1600" dirty="0">
                <a:solidFill>
                  <a:schemeClr val="bg1"/>
                </a:solidFill>
              </a:rPr>
              <a:t>There is a positive relationship between the sales total and quantity of books purchased.</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Whilst there is a positive correlation, there are some sales with high quantities that have low sale values.</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For example, there are 27 orders where 7 books were bought and the total is under £100.00</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This may suggest that there are some discounted or lower priced books.</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There are also some high-value transactions, with 15 books sold for over £40 each whilst there are 85 orders where 2 or more books were purchased for under £40.</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This indicates significant variation in pricing and with both premium priced and discounted products appearing within the dataset which may impact overall revenue patterns</a:t>
            </a:r>
          </a:p>
          <a:p>
            <a:pPr marL="285750" indent="-285750">
              <a:buFont typeface="Arial" panose="020B0604020202020204" pitchFamily="34" charset="0"/>
              <a:buChar char="•"/>
            </a:pPr>
            <a:endParaRPr lang="en-GB" sz="1600" dirty="0">
              <a:solidFill>
                <a:schemeClr val="bg1"/>
              </a:solidFill>
            </a:endParaRPr>
          </a:p>
        </p:txBody>
      </p:sp>
    </p:spTree>
    <p:extLst>
      <p:ext uri="{BB962C8B-B14F-4D97-AF65-F5344CB8AC3E}">
        <p14:creationId xmlns:p14="http://schemas.microsoft.com/office/powerpoint/2010/main" val="29335568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16</a:t>
            </a:fld>
            <a:endParaRPr lang="en-US" dirty="0"/>
          </a:p>
        </p:txBody>
      </p:sp>
      <p:sp>
        <p:nvSpPr>
          <p:cNvPr id="3" name="Title 3">
            <a:extLst>
              <a:ext uri="{FF2B5EF4-FFF2-40B4-BE49-F238E27FC236}">
                <a16:creationId xmlns:a16="http://schemas.microsoft.com/office/drawing/2014/main" id="{99E9D8AE-96D7-1B52-DD5F-DB40FF0409F1}"/>
              </a:ext>
            </a:extLst>
          </p:cNvPr>
          <p:cNvSpPr>
            <a:spLocks noGrp="1"/>
          </p:cNvSpPr>
          <p:nvPr>
            <p:ph type="title"/>
          </p:nvPr>
        </p:nvSpPr>
        <p:spPr>
          <a:xfrm>
            <a:off x="3758935" y="243260"/>
            <a:ext cx="4674130" cy="859055"/>
          </a:xfrm>
        </p:spPr>
        <p:txBody>
          <a:bodyPr>
            <a:normAutofit/>
          </a:bodyPr>
          <a:lstStyle/>
          <a:p>
            <a:r>
              <a:rPr lang="en-US" sz="5400" dirty="0"/>
              <a:t>Visual Analysis</a:t>
            </a:r>
          </a:p>
        </p:txBody>
      </p:sp>
      <p:sp>
        <p:nvSpPr>
          <p:cNvPr id="4" name="TextBox 3">
            <a:extLst>
              <a:ext uri="{FF2B5EF4-FFF2-40B4-BE49-F238E27FC236}">
                <a16:creationId xmlns:a16="http://schemas.microsoft.com/office/drawing/2014/main" id="{AFE03A6E-C90E-4F31-C8AE-EF4B5EA237F6}"/>
              </a:ext>
            </a:extLst>
          </p:cNvPr>
          <p:cNvSpPr txBox="1"/>
          <p:nvPr/>
        </p:nvSpPr>
        <p:spPr>
          <a:xfrm>
            <a:off x="4077276" y="917649"/>
            <a:ext cx="3722528" cy="369332"/>
          </a:xfrm>
          <a:prstGeom prst="rect">
            <a:avLst/>
          </a:prstGeom>
          <a:noFill/>
        </p:spPr>
        <p:txBody>
          <a:bodyPr wrap="square" rtlCol="0">
            <a:spAutoFit/>
          </a:bodyPr>
          <a:lstStyle/>
          <a:p>
            <a:r>
              <a:rPr lang="en-GB" dirty="0">
                <a:solidFill>
                  <a:schemeClr val="bg1"/>
                </a:solidFill>
              </a:rPr>
              <a:t>Running Total for Q1 Sales Growth </a:t>
            </a:r>
          </a:p>
        </p:txBody>
      </p:sp>
      <p:pic>
        <p:nvPicPr>
          <p:cNvPr id="7" name="Picture 6">
            <a:extLst>
              <a:ext uri="{FF2B5EF4-FFF2-40B4-BE49-F238E27FC236}">
                <a16:creationId xmlns:a16="http://schemas.microsoft.com/office/drawing/2014/main" id="{41BDBF6D-F31F-52BB-FD72-5B1CEBCC420C}"/>
              </a:ext>
            </a:extLst>
          </p:cNvPr>
          <p:cNvPicPr>
            <a:picLocks noChangeAspect="1"/>
          </p:cNvPicPr>
          <p:nvPr/>
        </p:nvPicPr>
        <p:blipFill>
          <a:blip r:embed="rId2"/>
          <a:stretch>
            <a:fillRect/>
          </a:stretch>
        </p:blipFill>
        <p:spPr>
          <a:xfrm>
            <a:off x="753534" y="2133600"/>
            <a:ext cx="6712856" cy="3983309"/>
          </a:xfrm>
          <a:prstGeom prst="rect">
            <a:avLst/>
          </a:prstGeom>
        </p:spPr>
      </p:pic>
      <p:pic>
        <p:nvPicPr>
          <p:cNvPr id="8" name="Picture 7">
            <a:extLst>
              <a:ext uri="{FF2B5EF4-FFF2-40B4-BE49-F238E27FC236}">
                <a16:creationId xmlns:a16="http://schemas.microsoft.com/office/drawing/2014/main" id="{E331F9FF-D2AD-4B83-59E2-D0EC97A49FC5}"/>
              </a:ext>
            </a:extLst>
          </p:cNvPr>
          <p:cNvPicPr>
            <a:picLocks noChangeAspect="1"/>
          </p:cNvPicPr>
          <p:nvPr/>
        </p:nvPicPr>
        <p:blipFill>
          <a:blip r:embed="rId3"/>
          <a:stretch>
            <a:fillRect/>
          </a:stretch>
        </p:blipFill>
        <p:spPr>
          <a:xfrm>
            <a:off x="2189407" y="2762250"/>
            <a:ext cx="1099153" cy="798763"/>
          </a:xfrm>
          <a:prstGeom prst="rect">
            <a:avLst/>
          </a:prstGeom>
        </p:spPr>
      </p:pic>
      <p:sp>
        <p:nvSpPr>
          <p:cNvPr id="11" name="TextBox 10">
            <a:extLst>
              <a:ext uri="{FF2B5EF4-FFF2-40B4-BE49-F238E27FC236}">
                <a16:creationId xmlns:a16="http://schemas.microsoft.com/office/drawing/2014/main" id="{50A0842B-2E78-8644-BE6E-2A225E59C779}"/>
              </a:ext>
            </a:extLst>
          </p:cNvPr>
          <p:cNvSpPr txBox="1"/>
          <p:nvPr/>
        </p:nvSpPr>
        <p:spPr>
          <a:xfrm>
            <a:off x="7799804" y="1768553"/>
            <a:ext cx="3874559" cy="646331"/>
          </a:xfrm>
          <a:prstGeom prst="rect">
            <a:avLst/>
          </a:prstGeom>
          <a:noFill/>
        </p:spPr>
        <p:txBody>
          <a:bodyPr wrap="square">
            <a:spAutoFit/>
          </a:bodyPr>
          <a:lstStyle/>
          <a:p>
            <a:r>
              <a:rPr lang="en-GB" b="1" u="sng" dirty="0">
                <a:solidFill>
                  <a:schemeClr val="bg1"/>
                </a:solidFill>
                <a:latin typeface="Calibri" panose="020F0502020204030204" pitchFamily="34" charset="0"/>
              </a:rPr>
              <a:t>Goal: Show how Q1 sales accumulated over time to support Q2 targets. </a:t>
            </a:r>
          </a:p>
        </p:txBody>
      </p:sp>
      <p:sp>
        <p:nvSpPr>
          <p:cNvPr id="12" name="TextBox 11">
            <a:extLst>
              <a:ext uri="{FF2B5EF4-FFF2-40B4-BE49-F238E27FC236}">
                <a16:creationId xmlns:a16="http://schemas.microsoft.com/office/drawing/2014/main" id="{09FA5202-2F20-2365-8FBD-D0211E3C6C73}"/>
              </a:ext>
            </a:extLst>
          </p:cNvPr>
          <p:cNvSpPr txBox="1"/>
          <p:nvPr/>
        </p:nvSpPr>
        <p:spPr>
          <a:xfrm>
            <a:off x="7466390" y="2456765"/>
            <a:ext cx="4725610" cy="3816429"/>
          </a:xfrm>
          <a:prstGeom prst="rect">
            <a:avLst/>
          </a:prstGeom>
          <a:noFill/>
        </p:spPr>
        <p:txBody>
          <a:bodyPr wrap="square" rtlCol="0">
            <a:spAutoFit/>
          </a:bodyPr>
          <a:lstStyle/>
          <a:p>
            <a:pPr marL="285750" indent="-285750">
              <a:buFont typeface="Arial" panose="020B0604020202020204" pitchFamily="34" charset="0"/>
              <a:buChar char="•"/>
            </a:pPr>
            <a:r>
              <a:rPr lang="en-GB" sz="1600" dirty="0">
                <a:solidFill>
                  <a:schemeClr val="bg1"/>
                </a:solidFill>
              </a:rPr>
              <a:t>The west region has the highest sales growth compared to the other regions.</a:t>
            </a:r>
          </a:p>
          <a:p>
            <a:pPr marL="171450" indent="-1714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In contrast, the South region shows the weakest growth, having minimal increase in cumulative sales over time.</a:t>
            </a:r>
          </a:p>
          <a:p>
            <a:pPr marL="171450" indent="-1714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Notably, the second least performing region (Central) reached £10,000 in sales in the period between 4th-11th march, while the Southern region ended Q1 at £6,962.80.</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This suggests that the West region is a key driver of revenue growth heading into Q2, while the South region may require targeted strategies to improve performance and meet future sales targets.</a:t>
            </a:r>
          </a:p>
        </p:txBody>
      </p:sp>
    </p:spTree>
    <p:extLst>
      <p:ext uri="{BB962C8B-B14F-4D97-AF65-F5344CB8AC3E}">
        <p14:creationId xmlns:p14="http://schemas.microsoft.com/office/powerpoint/2010/main" val="7519384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9800F6-D571-48C4-8466-12AA1ADB6599}"/>
              </a:ext>
            </a:extLst>
          </p:cNvPr>
          <p:cNvSpPr>
            <a:spLocks noGrp="1"/>
          </p:cNvSpPr>
          <p:nvPr>
            <p:ph type="sldNum" sz="quarter" idx="12"/>
          </p:nvPr>
        </p:nvSpPr>
        <p:spPr/>
        <p:txBody>
          <a:bodyPr/>
          <a:lstStyle/>
          <a:p>
            <a:fld id="{C263D6C4-4840-40CC-AC84-17E24B3B7BDE}" type="slidenum">
              <a:rPr lang="en-US" smtClean="0"/>
              <a:pPr/>
              <a:t>17</a:t>
            </a:fld>
            <a:endParaRPr lang="en-US" dirty="0"/>
          </a:p>
        </p:txBody>
      </p:sp>
      <p:sp>
        <p:nvSpPr>
          <p:cNvPr id="3" name="Title 3">
            <a:extLst>
              <a:ext uri="{FF2B5EF4-FFF2-40B4-BE49-F238E27FC236}">
                <a16:creationId xmlns:a16="http://schemas.microsoft.com/office/drawing/2014/main" id="{99E9D8AE-96D7-1B52-DD5F-DB40FF0409F1}"/>
              </a:ext>
            </a:extLst>
          </p:cNvPr>
          <p:cNvSpPr>
            <a:spLocks noGrp="1"/>
          </p:cNvSpPr>
          <p:nvPr>
            <p:ph type="title"/>
          </p:nvPr>
        </p:nvSpPr>
        <p:spPr>
          <a:xfrm>
            <a:off x="3758935" y="243260"/>
            <a:ext cx="4674130" cy="859055"/>
          </a:xfrm>
        </p:spPr>
        <p:txBody>
          <a:bodyPr>
            <a:normAutofit/>
          </a:bodyPr>
          <a:lstStyle/>
          <a:p>
            <a:r>
              <a:rPr lang="en-US" sz="5400" dirty="0"/>
              <a:t>Visual Analysis</a:t>
            </a:r>
          </a:p>
        </p:txBody>
      </p:sp>
      <p:sp>
        <p:nvSpPr>
          <p:cNvPr id="4" name="TextBox 3">
            <a:extLst>
              <a:ext uri="{FF2B5EF4-FFF2-40B4-BE49-F238E27FC236}">
                <a16:creationId xmlns:a16="http://schemas.microsoft.com/office/drawing/2014/main" id="{AFE03A6E-C90E-4F31-C8AE-EF4B5EA237F6}"/>
              </a:ext>
            </a:extLst>
          </p:cNvPr>
          <p:cNvSpPr txBox="1"/>
          <p:nvPr/>
        </p:nvSpPr>
        <p:spPr>
          <a:xfrm>
            <a:off x="4633671" y="917649"/>
            <a:ext cx="2924657" cy="369332"/>
          </a:xfrm>
          <a:prstGeom prst="rect">
            <a:avLst/>
          </a:prstGeom>
          <a:noFill/>
        </p:spPr>
        <p:txBody>
          <a:bodyPr wrap="square" rtlCol="0">
            <a:spAutoFit/>
          </a:bodyPr>
          <a:lstStyle/>
          <a:p>
            <a:r>
              <a:rPr lang="en-GB" dirty="0">
                <a:solidFill>
                  <a:schemeClr val="bg1"/>
                </a:solidFill>
              </a:rPr>
              <a:t>Final Executive Dashboard </a:t>
            </a:r>
          </a:p>
        </p:txBody>
      </p:sp>
      <p:pic>
        <p:nvPicPr>
          <p:cNvPr id="10" name="Picture 9">
            <a:extLst>
              <a:ext uri="{FF2B5EF4-FFF2-40B4-BE49-F238E27FC236}">
                <a16:creationId xmlns:a16="http://schemas.microsoft.com/office/drawing/2014/main" id="{51D461DC-6BAF-2A17-315C-5CDFD3475482}"/>
              </a:ext>
            </a:extLst>
          </p:cNvPr>
          <p:cNvPicPr>
            <a:picLocks noChangeAspect="1"/>
          </p:cNvPicPr>
          <p:nvPr/>
        </p:nvPicPr>
        <p:blipFill>
          <a:blip r:embed="rId2"/>
          <a:stretch>
            <a:fillRect/>
          </a:stretch>
        </p:blipFill>
        <p:spPr>
          <a:xfrm>
            <a:off x="9610748" y="1812890"/>
            <a:ext cx="879452" cy="4867311"/>
          </a:xfrm>
          <a:prstGeom prst="rect">
            <a:avLst/>
          </a:prstGeom>
        </p:spPr>
      </p:pic>
      <p:sp>
        <p:nvSpPr>
          <p:cNvPr id="12" name="TextBox 11">
            <a:extLst>
              <a:ext uri="{FF2B5EF4-FFF2-40B4-BE49-F238E27FC236}">
                <a16:creationId xmlns:a16="http://schemas.microsoft.com/office/drawing/2014/main" id="{7C061C0F-C103-5E23-FA1C-97DC660FDE22}"/>
              </a:ext>
            </a:extLst>
          </p:cNvPr>
          <p:cNvSpPr txBox="1"/>
          <p:nvPr/>
        </p:nvSpPr>
        <p:spPr>
          <a:xfrm>
            <a:off x="2308115" y="1360377"/>
            <a:ext cx="7575768" cy="369332"/>
          </a:xfrm>
          <a:prstGeom prst="rect">
            <a:avLst/>
          </a:prstGeom>
          <a:noFill/>
        </p:spPr>
        <p:txBody>
          <a:bodyPr wrap="square">
            <a:spAutoFit/>
          </a:bodyPr>
          <a:lstStyle/>
          <a:p>
            <a:r>
              <a:rPr lang="en-GB" b="1" u="sng" dirty="0">
                <a:solidFill>
                  <a:schemeClr val="bg1"/>
                </a:solidFill>
                <a:latin typeface="Calibri" panose="020F0502020204030204" pitchFamily="34" charset="0"/>
              </a:rPr>
              <a:t>Goal: Present Q1 2024 Bookstore Performance in one view for management. </a:t>
            </a:r>
          </a:p>
        </p:txBody>
      </p:sp>
      <p:pic>
        <p:nvPicPr>
          <p:cNvPr id="16" name="Picture 15">
            <a:extLst>
              <a:ext uri="{FF2B5EF4-FFF2-40B4-BE49-F238E27FC236}">
                <a16:creationId xmlns:a16="http://schemas.microsoft.com/office/drawing/2014/main" id="{70B01979-B619-31C8-E1F5-EB4A5B1EF749}"/>
              </a:ext>
            </a:extLst>
          </p:cNvPr>
          <p:cNvPicPr>
            <a:picLocks noChangeAspect="1"/>
          </p:cNvPicPr>
          <p:nvPr/>
        </p:nvPicPr>
        <p:blipFill>
          <a:blip r:embed="rId3"/>
          <a:stretch>
            <a:fillRect/>
          </a:stretch>
        </p:blipFill>
        <p:spPr>
          <a:xfrm>
            <a:off x="1438343" y="1812890"/>
            <a:ext cx="8172405" cy="4867310"/>
          </a:xfrm>
          <a:prstGeom prst="rect">
            <a:avLst/>
          </a:prstGeom>
        </p:spPr>
      </p:pic>
    </p:spTree>
    <p:extLst>
      <p:ext uri="{BB962C8B-B14F-4D97-AF65-F5344CB8AC3E}">
        <p14:creationId xmlns:p14="http://schemas.microsoft.com/office/powerpoint/2010/main" val="2278421136"/>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18</a:t>
            </a:fld>
            <a:endParaRPr lang="en-US" dirty="0"/>
          </a:p>
        </p:txBody>
      </p:sp>
      <p:sp>
        <p:nvSpPr>
          <p:cNvPr id="8" name="Title 3">
            <a:extLst>
              <a:ext uri="{FF2B5EF4-FFF2-40B4-BE49-F238E27FC236}">
                <a16:creationId xmlns:a16="http://schemas.microsoft.com/office/drawing/2014/main" id="{129C7929-0819-B810-2AD2-55B4D009A957}"/>
              </a:ext>
            </a:extLst>
          </p:cNvPr>
          <p:cNvSpPr txBox="1">
            <a:spLocks/>
          </p:cNvSpPr>
          <p:nvPr/>
        </p:nvSpPr>
        <p:spPr>
          <a:xfrm>
            <a:off x="3894402" y="353326"/>
            <a:ext cx="4403196" cy="859055"/>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5400" dirty="0"/>
              <a:t>Key Insights</a:t>
            </a:r>
          </a:p>
        </p:txBody>
      </p:sp>
      <p:sp>
        <p:nvSpPr>
          <p:cNvPr id="21" name="TextBox 20">
            <a:extLst>
              <a:ext uri="{FF2B5EF4-FFF2-40B4-BE49-F238E27FC236}">
                <a16:creationId xmlns:a16="http://schemas.microsoft.com/office/drawing/2014/main" id="{437D1DFA-FFC6-D2D1-D0BE-76A474400A05}"/>
              </a:ext>
            </a:extLst>
          </p:cNvPr>
          <p:cNvSpPr txBox="1"/>
          <p:nvPr/>
        </p:nvSpPr>
        <p:spPr>
          <a:xfrm>
            <a:off x="2194851" y="1487916"/>
            <a:ext cx="7802298" cy="4585871"/>
          </a:xfrm>
          <a:prstGeom prst="rect">
            <a:avLst/>
          </a:prstGeom>
          <a:noFill/>
        </p:spPr>
        <p:txBody>
          <a:bodyPr wrap="square" rtlCol="0">
            <a:spAutoFit/>
          </a:bodyPr>
          <a:lstStyle/>
          <a:p>
            <a:pPr marL="285750" indent="-285750">
              <a:buFont typeface="Arial" panose="020B0604020202020204" pitchFamily="34" charset="0"/>
              <a:buChar char="•"/>
            </a:pPr>
            <a:r>
              <a:rPr lang="en-GB" sz="1600" dirty="0">
                <a:solidFill>
                  <a:schemeClr val="bg1"/>
                </a:solidFill>
              </a:rPr>
              <a:t>We found that the West region brings the most revenue; generating over £36.6k, which is more than double the East (£17.0k). This makes the west region the primary driver of performance.</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The South region is underperforming significantly; ending Q1 at just £6,962. It also has the least sales growth over time.</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Regional preferences differ; with genres such as Sci-Fi, Fiction, and Mystery outperforming History in the Central Region despite History leading overall (£12.3k).</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Large orders drive revenue; contributing over double the sales of medium-sized orders, highlighting the importance of order amount.</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Sales fluctuate week-to-week; with no consistent trend. This indicates unstable or seasonal demand patterns.</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Pricing varies significantly; with examples of 7-item orders under £100 alongside high-value transactions exceeding £40 per book.</a:t>
            </a:r>
          </a:p>
          <a:p>
            <a:pPr marL="285750" indent="-285750">
              <a:buFont typeface="Arial" panose="020B0604020202020204" pitchFamily="34" charset="0"/>
              <a:buChar char="•"/>
            </a:pPr>
            <a:endParaRPr lang="en-GB" sz="600" dirty="0">
              <a:solidFill>
                <a:schemeClr val="bg1"/>
              </a:solidFill>
            </a:endParaRPr>
          </a:p>
          <a:p>
            <a:pPr marL="285750" indent="-285750">
              <a:buFont typeface="Arial" panose="020B0604020202020204" pitchFamily="34" charset="0"/>
              <a:buChar char="•"/>
            </a:pPr>
            <a:r>
              <a:rPr lang="en-GB" sz="1600" dirty="0">
                <a:solidFill>
                  <a:schemeClr val="bg1"/>
                </a:solidFill>
              </a:rPr>
              <a:t>Revenue is not only influenced by the number of transactions but also by purchasing behaviour, particularly by order size and pricing variation.</a:t>
            </a:r>
          </a:p>
        </p:txBody>
      </p:sp>
    </p:spTree>
    <p:extLst>
      <p:ext uri="{BB962C8B-B14F-4D97-AF65-F5344CB8AC3E}">
        <p14:creationId xmlns:p14="http://schemas.microsoft.com/office/powerpoint/2010/main" val="695653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19</a:t>
            </a:fld>
            <a:endParaRPr lang="en-US" dirty="0"/>
          </a:p>
        </p:txBody>
      </p:sp>
      <p:sp>
        <p:nvSpPr>
          <p:cNvPr id="6" name="Title 3">
            <a:extLst>
              <a:ext uri="{FF2B5EF4-FFF2-40B4-BE49-F238E27FC236}">
                <a16:creationId xmlns:a16="http://schemas.microsoft.com/office/drawing/2014/main" id="{B1C09ABC-A6D2-4233-3D76-89486030F25C}"/>
              </a:ext>
            </a:extLst>
          </p:cNvPr>
          <p:cNvSpPr txBox="1">
            <a:spLocks/>
          </p:cNvSpPr>
          <p:nvPr/>
        </p:nvSpPr>
        <p:spPr>
          <a:xfrm>
            <a:off x="1138766" y="260192"/>
            <a:ext cx="10348384" cy="859055"/>
          </a:xfrm>
          <a:prstGeom prst="rect">
            <a:avLst/>
          </a:prstGeom>
        </p:spPr>
        <p:txBody>
          <a:bodyPr vert="horz" wrap="square" lIns="91440" tIns="45720" rIns="91440" bIns="45720" rtlCol="0" anchor="t">
            <a:normAutofit fontScale="92500"/>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5400" dirty="0"/>
              <a:t>Business Recommendations for Q2</a:t>
            </a:r>
          </a:p>
        </p:txBody>
      </p:sp>
      <p:sp>
        <p:nvSpPr>
          <p:cNvPr id="7" name="TextBox 6">
            <a:extLst>
              <a:ext uri="{FF2B5EF4-FFF2-40B4-BE49-F238E27FC236}">
                <a16:creationId xmlns:a16="http://schemas.microsoft.com/office/drawing/2014/main" id="{08561E57-E9E7-D9CC-4952-4818340CE9FA}"/>
              </a:ext>
            </a:extLst>
          </p:cNvPr>
          <p:cNvSpPr txBox="1"/>
          <p:nvPr/>
        </p:nvSpPr>
        <p:spPr>
          <a:xfrm>
            <a:off x="3974569" y="934581"/>
            <a:ext cx="4242859" cy="369332"/>
          </a:xfrm>
          <a:prstGeom prst="rect">
            <a:avLst/>
          </a:prstGeom>
          <a:noFill/>
        </p:spPr>
        <p:txBody>
          <a:bodyPr wrap="square" rtlCol="0">
            <a:spAutoFit/>
          </a:bodyPr>
          <a:lstStyle/>
          <a:p>
            <a:r>
              <a:rPr lang="en-GB" dirty="0">
                <a:solidFill>
                  <a:schemeClr val="bg1"/>
                </a:solidFill>
              </a:rPr>
              <a:t>Practical suggestions linked to analysis</a:t>
            </a:r>
          </a:p>
        </p:txBody>
      </p:sp>
      <p:sp>
        <p:nvSpPr>
          <p:cNvPr id="9" name="TextBox 8">
            <a:extLst>
              <a:ext uri="{FF2B5EF4-FFF2-40B4-BE49-F238E27FC236}">
                <a16:creationId xmlns:a16="http://schemas.microsoft.com/office/drawing/2014/main" id="{FF53F77E-2053-00BD-788B-8DB64F32FB2F}"/>
              </a:ext>
            </a:extLst>
          </p:cNvPr>
          <p:cNvSpPr txBox="1"/>
          <p:nvPr/>
        </p:nvSpPr>
        <p:spPr>
          <a:xfrm>
            <a:off x="541865" y="1484405"/>
            <a:ext cx="7201959" cy="4508927"/>
          </a:xfrm>
          <a:prstGeom prst="rect">
            <a:avLst/>
          </a:prstGeom>
          <a:noFill/>
        </p:spPr>
        <p:txBody>
          <a:bodyPr wrap="square">
            <a:spAutoFit/>
          </a:bodyPr>
          <a:lstStyle/>
          <a:p>
            <a:pPr marL="228600" indent="-228600">
              <a:buFont typeface="+mj-lt"/>
              <a:buAutoNum type="arabicPeriod"/>
            </a:pPr>
            <a:r>
              <a:rPr lang="en-GB" sz="1200" b="1" dirty="0">
                <a:solidFill>
                  <a:schemeClr val="bg1"/>
                </a:solidFill>
              </a:rPr>
              <a:t>Implement customer data collection.</a:t>
            </a:r>
            <a:r>
              <a:rPr lang="en-GB" sz="1200" dirty="0">
                <a:solidFill>
                  <a:schemeClr val="bg1"/>
                </a:solidFill>
              </a:rPr>
              <a:t> Customer data needs to be analysed to identify repeat customers, high value customers and introduce retention.</a:t>
            </a:r>
          </a:p>
          <a:p>
            <a:pPr marL="228600" indent="-228600">
              <a:buFont typeface="+mj-lt"/>
              <a:buAutoNum type="arabicPeriod"/>
            </a:pPr>
            <a:endParaRPr lang="en-GB" sz="500" dirty="0">
              <a:solidFill>
                <a:schemeClr val="bg1"/>
              </a:solidFill>
            </a:endParaRPr>
          </a:p>
          <a:p>
            <a:r>
              <a:rPr lang="en-GB" sz="1200" dirty="0">
                <a:solidFill>
                  <a:schemeClr val="bg1"/>
                </a:solidFill>
              </a:rPr>
              <a:t>     The business should:</a:t>
            </a:r>
          </a:p>
          <a:p>
            <a:endParaRPr lang="en-GB" sz="500" dirty="0">
              <a:solidFill>
                <a:schemeClr val="bg1"/>
              </a:solidFill>
            </a:endParaRPr>
          </a:p>
          <a:p>
            <a:r>
              <a:rPr lang="en-GB" sz="1200" dirty="0">
                <a:solidFill>
                  <a:schemeClr val="bg1"/>
                </a:solidFill>
              </a:rPr>
              <a:t>     - Develop a loyalty program to connect orders to a customer to track customer buying behaviour.</a:t>
            </a:r>
          </a:p>
          <a:p>
            <a:r>
              <a:rPr lang="en-GB" sz="1200" dirty="0">
                <a:solidFill>
                  <a:schemeClr val="bg1"/>
                </a:solidFill>
              </a:rPr>
              <a:t>     - Offer personalised offers and loyalty incentives to reduce weekly sales fluctuations.</a:t>
            </a:r>
          </a:p>
          <a:p>
            <a:r>
              <a:rPr lang="en-GB" sz="1200" dirty="0">
                <a:solidFill>
                  <a:schemeClr val="bg1"/>
                </a:solidFill>
              </a:rPr>
              <a:t>     - Promote other book genres through the program to increase cross selling opportunities.</a:t>
            </a:r>
          </a:p>
          <a:p>
            <a:endParaRPr lang="en-GB" sz="1200" dirty="0">
              <a:solidFill>
                <a:schemeClr val="bg1"/>
              </a:solidFill>
            </a:endParaRPr>
          </a:p>
          <a:p>
            <a:pPr marL="228600" indent="-228600">
              <a:buAutoNum type="arabicPeriod" startAt="2"/>
            </a:pPr>
            <a:r>
              <a:rPr lang="en-GB" sz="1200" b="1" dirty="0">
                <a:solidFill>
                  <a:schemeClr val="bg1"/>
                </a:solidFill>
              </a:rPr>
              <a:t>Prioritise marketing investment in the west region. </a:t>
            </a:r>
            <a:r>
              <a:rPr lang="en-GB" sz="1200" dirty="0">
                <a:solidFill>
                  <a:schemeClr val="bg1"/>
                </a:solidFill>
              </a:rPr>
              <a:t>The west region is the highest generator for revenue in the business.</a:t>
            </a:r>
          </a:p>
          <a:p>
            <a:pPr marL="228600" indent="-228600">
              <a:buAutoNum type="arabicPeriod" startAt="2"/>
            </a:pPr>
            <a:endParaRPr lang="en-GB" sz="500" dirty="0">
              <a:solidFill>
                <a:schemeClr val="bg1"/>
              </a:solidFill>
            </a:endParaRPr>
          </a:p>
          <a:p>
            <a:r>
              <a:rPr lang="en-GB" sz="1200" dirty="0">
                <a:solidFill>
                  <a:schemeClr val="bg1"/>
                </a:solidFill>
              </a:rPr>
              <a:t>     The business should:</a:t>
            </a:r>
          </a:p>
          <a:p>
            <a:endParaRPr lang="en-GB" sz="500" dirty="0">
              <a:solidFill>
                <a:schemeClr val="bg1"/>
              </a:solidFill>
            </a:endParaRPr>
          </a:p>
          <a:p>
            <a:r>
              <a:rPr lang="en-GB" sz="1200" dirty="0">
                <a:solidFill>
                  <a:schemeClr val="bg1"/>
                </a:solidFill>
              </a:rPr>
              <a:t>     - Focus on continuing to invest and grow the already high-performing market.</a:t>
            </a:r>
          </a:p>
          <a:p>
            <a:r>
              <a:rPr lang="en-GB" sz="1200" dirty="0">
                <a:solidFill>
                  <a:schemeClr val="bg1"/>
                </a:solidFill>
              </a:rPr>
              <a:t>     - Increase marketing spend to maximise return on an established customer base.</a:t>
            </a:r>
          </a:p>
          <a:p>
            <a:r>
              <a:rPr lang="en-GB" sz="1200" dirty="0">
                <a:solidFill>
                  <a:schemeClr val="bg1"/>
                </a:solidFill>
              </a:rPr>
              <a:t>     - Strengthen customer retention to maintain long term revenue stability.</a:t>
            </a:r>
          </a:p>
          <a:p>
            <a:pPr marL="228600" indent="-228600">
              <a:buAutoNum type="arabicPeriod" startAt="2"/>
            </a:pPr>
            <a:endParaRPr lang="en-GB" sz="1200" dirty="0">
              <a:solidFill>
                <a:schemeClr val="bg1"/>
              </a:solidFill>
            </a:endParaRPr>
          </a:p>
          <a:p>
            <a:pPr marL="228600" indent="-228600">
              <a:buAutoNum type="arabicPeriod" startAt="3"/>
            </a:pPr>
            <a:r>
              <a:rPr lang="en-GB" sz="1200" b="1" dirty="0">
                <a:solidFill>
                  <a:schemeClr val="bg1"/>
                </a:solidFill>
              </a:rPr>
              <a:t>Develop targeted recovery strategies for the south region. </a:t>
            </a:r>
            <a:r>
              <a:rPr lang="en-GB" sz="1200" dirty="0">
                <a:solidFill>
                  <a:schemeClr val="bg1"/>
                </a:solidFill>
              </a:rPr>
              <a:t>Despite being the smallest region with having stores in only 1/10 states, it has the lowest cumulative performance.</a:t>
            </a:r>
          </a:p>
          <a:p>
            <a:endParaRPr lang="en-GB" sz="500" dirty="0">
              <a:solidFill>
                <a:schemeClr val="bg1"/>
              </a:solidFill>
            </a:endParaRPr>
          </a:p>
          <a:p>
            <a:r>
              <a:rPr lang="en-GB" sz="1200" dirty="0">
                <a:solidFill>
                  <a:schemeClr val="bg1"/>
                </a:solidFill>
              </a:rPr>
              <a:t>     The business should:</a:t>
            </a:r>
          </a:p>
          <a:p>
            <a:endParaRPr lang="en-GB" sz="500" dirty="0">
              <a:solidFill>
                <a:schemeClr val="bg1"/>
              </a:solidFill>
            </a:endParaRPr>
          </a:p>
          <a:p>
            <a:r>
              <a:rPr lang="en-GB" sz="1200" dirty="0">
                <a:solidFill>
                  <a:schemeClr val="bg1"/>
                </a:solidFill>
              </a:rPr>
              <a:t>     - Focus marketing and purchasing in southern region for Q2</a:t>
            </a:r>
          </a:p>
          <a:p>
            <a:r>
              <a:rPr lang="en-GB" sz="1200" dirty="0">
                <a:solidFill>
                  <a:schemeClr val="bg1"/>
                </a:solidFill>
              </a:rPr>
              <a:t>     - Implement region specific discounts to encourage high quantity purchases from existing customers.</a:t>
            </a:r>
          </a:p>
          <a:p>
            <a:r>
              <a:rPr lang="en-GB" sz="1200" dirty="0">
                <a:solidFill>
                  <a:schemeClr val="bg1"/>
                </a:solidFill>
              </a:rPr>
              <a:t>     - Improve product visibility to attract new customers.</a:t>
            </a:r>
          </a:p>
          <a:p>
            <a:r>
              <a:rPr lang="en-GB" sz="1200" dirty="0">
                <a:solidFill>
                  <a:schemeClr val="bg1"/>
                </a:solidFill>
              </a:rPr>
              <a:t>     - Implement targeted local promotional campaigns to encourage more reading in the area.</a:t>
            </a:r>
          </a:p>
          <a:p>
            <a:endParaRPr lang="en-GB" sz="500" dirty="0">
              <a:solidFill>
                <a:schemeClr val="bg1"/>
              </a:solidFill>
            </a:endParaRPr>
          </a:p>
        </p:txBody>
      </p:sp>
    </p:spTree>
    <p:extLst>
      <p:ext uri="{BB962C8B-B14F-4D97-AF65-F5344CB8AC3E}">
        <p14:creationId xmlns:p14="http://schemas.microsoft.com/office/powerpoint/2010/main" val="2716072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20FC4EE-F318-4344-9E3C-B950ADB63865}"/>
              </a:ext>
            </a:extLst>
          </p:cNvPr>
          <p:cNvSpPr>
            <a:spLocks noGrp="1"/>
          </p:cNvSpPr>
          <p:nvPr>
            <p:ph type="sldNum" sz="quarter" idx="12"/>
          </p:nvPr>
        </p:nvSpPr>
        <p:spPr/>
        <p:txBody>
          <a:bodyPr/>
          <a:lstStyle/>
          <a:p>
            <a:fld id="{C263D6C4-4840-40CC-AC84-17E24B3B7BDE}" type="slidenum">
              <a:rPr lang="en-US" smtClean="0"/>
              <a:pPr/>
              <a:t>20</a:t>
            </a:fld>
            <a:endParaRPr lang="en-US" dirty="0"/>
          </a:p>
        </p:txBody>
      </p:sp>
      <p:sp>
        <p:nvSpPr>
          <p:cNvPr id="6" name="Title 3">
            <a:extLst>
              <a:ext uri="{FF2B5EF4-FFF2-40B4-BE49-F238E27FC236}">
                <a16:creationId xmlns:a16="http://schemas.microsoft.com/office/drawing/2014/main" id="{B1C09ABC-A6D2-4233-3D76-89486030F25C}"/>
              </a:ext>
            </a:extLst>
          </p:cNvPr>
          <p:cNvSpPr txBox="1">
            <a:spLocks/>
          </p:cNvSpPr>
          <p:nvPr/>
        </p:nvSpPr>
        <p:spPr>
          <a:xfrm>
            <a:off x="2512483" y="260192"/>
            <a:ext cx="7167034" cy="859055"/>
          </a:xfrm>
          <a:prstGeom prst="rect">
            <a:avLst/>
          </a:prstGeom>
        </p:spPr>
        <p:txBody>
          <a:bodyPr vert="horz" wrap="square" lIns="91440" tIns="45720" rIns="91440" bIns="45720" rtlCol="0" anchor="t">
            <a:normAutofit/>
          </a:bodyPr>
          <a:lstStyle>
            <a:lvl1pPr algn="l" defTabSz="914400" rtl="0" eaLnBrk="1" latinLnBrk="0" hangingPunct="1">
              <a:lnSpc>
                <a:spcPct val="90000"/>
              </a:lnSpc>
              <a:spcBef>
                <a:spcPct val="0"/>
              </a:spcBef>
              <a:buNone/>
              <a:defRPr lang="en-GB" sz="3200" b="1" kern="1200" spc="-70" baseline="0" dirty="0">
                <a:solidFill>
                  <a:schemeClr val="bg1"/>
                </a:solidFill>
                <a:latin typeface="+mj-lt"/>
                <a:ea typeface="+mj-ea"/>
                <a:cs typeface="+mj-cs"/>
              </a:defRPr>
            </a:lvl1pPr>
          </a:lstStyle>
          <a:p>
            <a:r>
              <a:rPr lang="en-US" sz="5400" dirty="0"/>
              <a:t>Closing and Reflection</a:t>
            </a:r>
          </a:p>
        </p:txBody>
      </p:sp>
      <p:sp>
        <p:nvSpPr>
          <p:cNvPr id="7" name="TextBox 6">
            <a:extLst>
              <a:ext uri="{FF2B5EF4-FFF2-40B4-BE49-F238E27FC236}">
                <a16:creationId xmlns:a16="http://schemas.microsoft.com/office/drawing/2014/main" id="{08561E57-E9E7-D9CC-4952-4818340CE9FA}"/>
              </a:ext>
            </a:extLst>
          </p:cNvPr>
          <p:cNvSpPr txBox="1"/>
          <p:nvPr/>
        </p:nvSpPr>
        <p:spPr>
          <a:xfrm>
            <a:off x="4244842" y="979826"/>
            <a:ext cx="3651516" cy="369332"/>
          </a:xfrm>
          <a:prstGeom prst="rect">
            <a:avLst/>
          </a:prstGeom>
          <a:noFill/>
        </p:spPr>
        <p:txBody>
          <a:bodyPr wrap="square" rtlCol="0">
            <a:spAutoFit/>
          </a:bodyPr>
          <a:lstStyle/>
          <a:p>
            <a:r>
              <a:rPr lang="en-GB" dirty="0">
                <a:solidFill>
                  <a:schemeClr val="bg1"/>
                </a:solidFill>
              </a:rPr>
              <a:t>Limitations and reflection question</a:t>
            </a:r>
          </a:p>
        </p:txBody>
      </p:sp>
      <p:sp>
        <p:nvSpPr>
          <p:cNvPr id="5" name="TextBox 4">
            <a:extLst>
              <a:ext uri="{FF2B5EF4-FFF2-40B4-BE49-F238E27FC236}">
                <a16:creationId xmlns:a16="http://schemas.microsoft.com/office/drawing/2014/main" id="{BC6A0E66-78C1-987B-BF84-FDCBA77550D1}"/>
              </a:ext>
            </a:extLst>
          </p:cNvPr>
          <p:cNvSpPr txBox="1"/>
          <p:nvPr/>
        </p:nvSpPr>
        <p:spPr>
          <a:xfrm>
            <a:off x="6564445" y="1678315"/>
            <a:ext cx="2663825" cy="400110"/>
          </a:xfrm>
          <a:prstGeom prst="rect">
            <a:avLst/>
          </a:prstGeom>
          <a:noFill/>
        </p:spPr>
        <p:txBody>
          <a:bodyPr wrap="square">
            <a:spAutoFit/>
          </a:bodyPr>
          <a:lstStyle/>
          <a:p>
            <a:r>
              <a:rPr lang="en-GB" sz="2000" u="sng" dirty="0">
                <a:solidFill>
                  <a:schemeClr val="bg1"/>
                </a:solidFill>
              </a:rPr>
              <a:t>Reflection Questions:</a:t>
            </a:r>
          </a:p>
        </p:txBody>
      </p:sp>
      <p:sp>
        <p:nvSpPr>
          <p:cNvPr id="9" name="TextBox 8">
            <a:extLst>
              <a:ext uri="{FF2B5EF4-FFF2-40B4-BE49-F238E27FC236}">
                <a16:creationId xmlns:a16="http://schemas.microsoft.com/office/drawing/2014/main" id="{C077FC92-945F-54DE-3EEE-99F764A426F3}"/>
              </a:ext>
            </a:extLst>
          </p:cNvPr>
          <p:cNvSpPr txBox="1"/>
          <p:nvPr/>
        </p:nvSpPr>
        <p:spPr>
          <a:xfrm>
            <a:off x="5499755" y="2069401"/>
            <a:ext cx="4579155" cy="4524315"/>
          </a:xfrm>
          <a:prstGeom prst="rect">
            <a:avLst/>
          </a:prstGeom>
          <a:noFill/>
        </p:spPr>
        <p:txBody>
          <a:bodyPr wrap="square">
            <a:spAutoFit/>
          </a:bodyPr>
          <a:lstStyle/>
          <a:p>
            <a:pPr marL="171450" indent="-171450">
              <a:buFont typeface="Arial" panose="020B0604020202020204" pitchFamily="34" charset="0"/>
              <a:buChar char="•"/>
            </a:pPr>
            <a:endParaRPr lang="en-GB" sz="1200" b="1" dirty="0">
              <a:solidFill>
                <a:schemeClr val="bg1"/>
              </a:solidFill>
            </a:endParaRPr>
          </a:p>
          <a:p>
            <a:pPr marL="171450" indent="-171450">
              <a:buFont typeface="Arial" panose="020B0604020202020204" pitchFamily="34" charset="0"/>
              <a:buChar char="•"/>
            </a:pPr>
            <a:r>
              <a:rPr lang="en-GB" sz="1200" b="1" dirty="0">
                <a:solidFill>
                  <a:schemeClr val="bg1"/>
                </a:solidFill>
              </a:rPr>
              <a:t>Visualisation: which visualisation was most effective in communicating your insights?</a:t>
            </a:r>
          </a:p>
          <a:p>
            <a:endParaRPr lang="en-GB" sz="1200" dirty="0">
              <a:solidFill>
                <a:schemeClr val="bg1"/>
              </a:solidFill>
            </a:endParaRPr>
          </a:p>
          <a:p>
            <a:pPr algn="l"/>
            <a:r>
              <a:rPr lang="en-GB" sz="1200" dirty="0">
                <a:solidFill>
                  <a:schemeClr val="bg1"/>
                </a:solidFill>
              </a:rPr>
              <a:t>The running total for sales growth visualisation was the most effective as it displays the cumulative sales for each region over time.</a:t>
            </a:r>
          </a:p>
          <a:p>
            <a:pPr algn="l"/>
            <a:endParaRPr lang="en-GB" sz="1200" dirty="0">
              <a:solidFill>
                <a:schemeClr val="bg1"/>
              </a:solidFill>
            </a:endParaRPr>
          </a:p>
          <a:p>
            <a:pPr algn="l"/>
            <a:r>
              <a:rPr lang="en-GB" sz="1200" dirty="0">
                <a:solidFill>
                  <a:schemeClr val="bg1"/>
                </a:solidFill>
              </a:rPr>
              <a:t>It highlights overall performance rather than focusing on fluctuations in sales and sets aside factors such as number of stores per region.</a:t>
            </a:r>
          </a:p>
          <a:p>
            <a:pPr algn="l"/>
            <a:endParaRPr lang="en-GB" sz="1200" dirty="0">
              <a:solidFill>
                <a:schemeClr val="bg1"/>
              </a:solidFill>
            </a:endParaRPr>
          </a:p>
          <a:p>
            <a:pPr algn="l"/>
            <a:r>
              <a:rPr lang="en-GB" sz="1200" dirty="0">
                <a:solidFill>
                  <a:schemeClr val="bg1"/>
                </a:solidFill>
              </a:rPr>
              <a:t>From the graph, it is clear that the South region consistently underperforms compared to other regions, suggesting that it is a priority area for increased marketing and purchasing focus in Q2.</a:t>
            </a:r>
          </a:p>
          <a:p>
            <a:endParaRPr lang="en-GB" sz="1200" dirty="0">
              <a:solidFill>
                <a:schemeClr val="bg1"/>
              </a:solidFill>
            </a:endParaRPr>
          </a:p>
          <a:p>
            <a:pPr marL="171450" indent="-171450">
              <a:buFont typeface="Arial" panose="020B0604020202020204" pitchFamily="34" charset="0"/>
              <a:buChar char="•"/>
            </a:pPr>
            <a:r>
              <a:rPr lang="en-GB" sz="1200" b="1" dirty="0">
                <a:solidFill>
                  <a:schemeClr val="bg1"/>
                </a:solidFill>
              </a:rPr>
              <a:t>Data Quality: What data quality issues did you encounter and how did you handle them?</a:t>
            </a:r>
          </a:p>
          <a:p>
            <a:endParaRPr lang="en-GB" sz="1200" b="1" dirty="0">
              <a:solidFill>
                <a:schemeClr val="bg1"/>
              </a:solidFill>
            </a:endParaRPr>
          </a:p>
          <a:p>
            <a:r>
              <a:rPr lang="en-GB" sz="1200" dirty="0">
                <a:solidFill>
                  <a:schemeClr val="bg1"/>
                </a:solidFill>
              </a:rPr>
              <a:t>There was a duplicated </a:t>
            </a:r>
            <a:r>
              <a:rPr lang="en-GB" sz="1200" dirty="0" err="1">
                <a:solidFill>
                  <a:schemeClr val="bg1"/>
                </a:solidFill>
              </a:rPr>
              <a:t>orderID</a:t>
            </a:r>
            <a:r>
              <a:rPr lang="en-GB" sz="1200" dirty="0">
                <a:solidFill>
                  <a:schemeClr val="bg1"/>
                </a:solidFill>
              </a:rPr>
              <a:t>, however there was different row data (order date, quantity, sales, state, etc). I ignored it as there is valid data and it is only a mistake in the ID. Changing the </a:t>
            </a:r>
            <a:r>
              <a:rPr lang="en-GB" sz="1200" dirty="0" err="1">
                <a:solidFill>
                  <a:schemeClr val="bg1"/>
                </a:solidFill>
              </a:rPr>
              <a:t>orderID</a:t>
            </a:r>
            <a:r>
              <a:rPr lang="en-GB" sz="1200" dirty="0">
                <a:solidFill>
                  <a:schemeClr val="bg1"/>
                </a:solidFill>
              </a:rPr>
              <a:t> would </a:t>
            </a:r>
            <a:r>
              <a:rPr lang="en-GB" sz="1200" dirty="0" err="1">
                <a:solidFill>
                  <a:schemeClr val="bg1"/>
                </a:solidFill>
              </a:rPr>
              <a:t>comprimise</a:t>
            </a:r>
            <a:r>
              <a:rPr lang="en-GB" sz="1200" dirty="0">
                <a:solidFill>
                  <a:schemeClr val="bg1"/>
                </a:solidFill>
              </a:rPr>
              <a:t> data integrity and is bad practise.</a:t>
            </a:r>
            <a:endParaRPr lang="en-GB" sz="1200" b="1" dirty="0">
              <a:solidFill>
                <a:schemeClr val="bg1"/>
              </a:solidFill>
            </a:endParaRPr>
          </a:p>
          <a:p>
            <a:endParaRPr lang="en-GB" sz="1200" dirty="0">
              <a:solidFill>
                <a:schemeClr val="bg1"/>
              </a:solidFill>
            </a:endParaRPr>
          </a:p>
        </p:txBody>
      </p:sp>
      <p:sp>
        <p:nvSpPr>
          <p:cNvPr id="8" name="TextBox 7">
            <a:extLst>
              <a:ext uri="{FF2B5EF4-FFF2-40B4-BE49-F238E27FC236}">
                <a16:creationId xmlns:a16="http://schemas.microsoft.com/office/drawing/2014/main" id="{247FDCDA-6DD8-B407-3663-9A9BB8099BAB}"/>
              </a:ext>
            </a:extLst>
          </p:cNvPr>
          <p:cNvSpPr txBox="1"/>
          <p:nvPr/>
        </p:nvSpPr>
        <p:spPr>
          <a:xfrm>
            <a:off x="1784350" y="1678315"/>
            <a:ext cx="1913467" cy="400110"/>
          </a:xfrm>
          <a:prstGeom prst="rect">
            <a:avLst/>
          </a:prstGeom>
          <a:noFill/>
        </p:spPr>
        <p:txBody>
          <a:bodyPr wrap="square">
            <a:spAutoFit/>
          </a:bodyPr>
          <a:lstStyle/>
          <a:p>
            <a:r>
              <a:rPr lang="en-GB" sz="2000" u="sng" dirty="0">
                <a:solidFill>
                  <a:schemeClr val="bg1"/>
                </a:solidFill>
              </a:rPr>
              <a:t>Limitations: </a:t>
            </a:r>
          </a:p>
        </p:txBody>
      </p:sp>
      <p:sp>
        <p:nvSpPr>
          <p:cNvPr id="11" name="TextBox 10">
            <a:extLst>
              <a:ext uri="{FF2B5EF4-FFF2-40B4-BE49-F238E27FC236}">
                <a16:creationId xmlns:a16="http://schemas.microsoft.com/office/drawing/2014/main" id="{C3D8A72D-547B-2F25-746A-C249B0661FBF}"/>
              </a:ext>
            </a:extLst>
          </p:cNvPr>
          <p:cNvSpPr txBox="1"/>
          <p:nvPr/>
        </p:nvSpPr>
        <p:spPr>
          <a:xfrm>
            <a:off x="397933" y="2287975"/>
            <a:ext cx="4686300" cy="3508653"/>
          </a:xfrm>
          <a:prstGeom prst="rect">
            <a:avLst/>
          </a:prstGeom>
          <a:noFill/>
        </p:spPr>
        <p:txBody>
          <a:bodyPr wrap="square">
            <a:spAutoFit/>
          </a:bodyPr>
          <a:lstStyle/>
          <a:p>
            <a:pPr marL="171450" indent="-171450">
              <a:buFont typeface="Arial" panose="020B0604020202020204" pitchFamily="34" charset="0"/>
              <a:buChar char="•"/>
            </a:pPr>
            <a:r>
              <a:rPr lang="en-GB" sz="1200" b="1" dirty="0">
                <a:solidFill>
                  <a:schemeClr val="bg1"/>
                </a:solidFill>
              </a:rPr>
              <a:t>Lack of customer-level data:</a:t>
            </a:r>
          </a:p>
          <a:p>
            <a:pPr marL="171450" indent="-171450">
              <a:buFont typeface="Arial" panose="020B0604020202020204" pitchFamily="34" charset="0"/>
              <a:buChar char="•"/>
            </a:pPr>
            <a:endParaRPr lang="en-GB" sz="1200" b="1" dirty="0">
              <a:solidFill>
                <a:schemeClr val="bg1"/>
              </a:solidFill>
            </a:endParaRPr>
          </a:p>
          <a:p>
            <a:pPr marL="171450" indent="-171450">
              <a:buFont typeface="Arial" panose="020B0604020202020204" pitchFamily="34" charset="0"/>
              <a:buChar char="•"/>
            </a:pPr>
            <a:endParaRPr lang="en-GB" sz="600" b="1" dirty="0">
              <a:solidFill>
                <a:schemeClr val="bg1"/>
              </a:solidFill>
            </a:endParaRPr>
          </a:p>
          <a:p>
            <a:r>
              <a:rPr lang="en-GB" sz="1200" dirty="0">
                <a:solidFill>
                  <a:schemeClr val="bg1"/>
                </a:solidFill>
              </a:rPr>
              <a:t>A key limitation is that we don’t have information such as </a:t>
            </a:r>
            <a:r>
              <a:rPr lang="en-GB" sz="1200" dirty="0" err="1">
                <a:solidFill>
                  <a:schemeClr val="bg1"/>
                </a:solidFill>
              </a:rPr>
              <a:t>customerID</a:t>
            </a:r>
            <a:r>
              <a:rPr lang="en-GB" sz="1200" dirty="0">
                <a:solidFill>
                  <a:schemeClr val="bg1"/>
                </a:solidFill>
              </a:rPr>
              <a:t>. With that we could track repeat customers, total purchases, loyalty behaviour etc.</a:t>
            </a:r>
          </a:p>
          <a:p>
            <a:endParaRPr lang="en-GB" sz="1400" dirty="0">
              <a:solidFill>
                <a:schemeClr val="bg1"/>
              </a:solidFill>
            </a:endParaRPr>
          </a:p>
          <a:p>
            <a:r>
              <a:rPr lang="en-GB" sz="1200" dirty="0">
                <a:solidFill>
                  <a:schemeClr val="bg1"/>
                </a:solidFill>
              </a:rPr>
              <a:t>Due to this the analysis is limited to transactional level insights only.</a:t>
            </a:r>
          </a:p>
          <a:p>
            <a:endParaRPr lang="en-GB" sz="1400" dirty="0">
              <a:solidFill>
                <a:schemeClr val="bg1"/>
              </a:solidFill>
            </a:endParaRPr>
          </a:p>
          <a:p>
            <a:r>
              <a:rPr lang="en-GB" sz="1200" b="1" dirty="0">
                <a:solidFill>
                  <a:schemeClr val="bg1"/>
                </a:solidFill>
              </a:rPr>
              <a:t>Lack of customer-level data:</a:t>
            </a:r>
          </a:p>
          <a:p>
            <a:endParaRPr lang="en-GB" sz="1200" b="1" dirty="0">
              <a:solidFill>
                <a:schemeClr val="bg1"/>
              </a:solidFill>
            </a:endParaRPr>
          </a:p>
          <a:p>
            <a:endParaRPr lang="en-GB" sz="600" dirty="0">
              <a:solidFill>
                <a:schemeClr val="bg1"/>
              </a:solidFill>
            </a:endParaRPr>
          </a:p>
          <a:p>
            <a:r>
              <a:rPr lang="en-GB" sz="1200" dirty="0">
                <a:solidFill>
                  <a:schemeClr val="bg1"/>
                </a:solidFill>
              </a:rPr>
              <a:t>The dataset does not include external factors such as marketing spend, promotions, economic conditions, or competitor activity.</a:t>
            </a:r>
          </a:p>
          <a:p>
            <a:endParaRPr lang="en-GB" sz="1400" dirty="0">
              <a:solidFill>
                <a:schemeClr val="bg1"/>
              </a:solidFill>
            </a:endParaRPr>
          </a:p>
          <a:p>
            <a:r>
              <a:rPr lang="en-GB" sz="1200" dirty="0">
                <a:solidFill>
                  <a:schemeClr val="bg1"/>
                </a:solidFill>
              </a:rPr>
              <a:t>This means conclusions about why certain regions or genres perform better are based on assumptions rather than confirmed causes.</a:t>
            </a:r>
          </a:p>
        </p:txBody>
      </p:sp>
    </p:spTree>
    <p:extLst>
      <p:ext uri="{BB962C8B-B14F-4D97-AF65-F5344CB8AC3E}">
        <p14:creationId xmlns:p14="http://schemas.microsoft.com/office/powerpoint/2010/main" val="15701957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Custom 12">
      <a:dk1>
        <a:srgbClr val="000000"/>
      </a:dk1>
      <a:lt1>
        <a:srgbClr val="FFFFFF"/>
      </a:lt1>
      <a:dk2>
        <a:srgbClr val="6D6E71"/>
      </a:dk2>
      <a:lt2>
        <a:srgbClr val="58595B"/>
      </a:lt2>
      <a:accent1>
        <a:srgbClr val="0065A4"/>
      </a:accent1>
      <a:accent2>
        <a:srgbClr val="47C3D3"/>
      </a:accent2>
      <a:accent3>
        <a:srgbClr val="8F2D63"/>
      </a:accent3>
      <a:accent4>
        <a:srgbClr val="1A6871"/>
      </a:accent4>
      <a:accent5>
        <a:srgbClr val="0C4360"/>
      </a:accent5>
      <a:accent6>
        <a:srgbClr val="F47735"/>
      </a:accent6>
      <a:hlink>
        <a:srgbClr val="00559A"/>
      </a:hlink>
      <a:folHlink>
        <a:srgbClr val="595851"/>
      </a:folHlink>
    </a:clrScheme>
    <a:fontScheme name="Custom 3">
      <a:majorFont>
        <a:latin typeface="Trebuchet MS"/>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F66687569_Modern blue presentation_AAS_v5" id="{C7B59113-CD15-4341-96CA-86E715D5BE98}" vid="{5A8FDAEB-3DF3-4B3C-A708-49813F8D6F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291512c1ee715ab617f4c07df79fc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8256c27c40ca5c40ce1cf6c44f0205df"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757914-1161-4661-9696-421FD6935CDD}">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5B26E0C9-B2AA-42E6-97B6-E1B7D9EAF129}">
  <ds:schemaRefs>
    <ds:schemaRef ds:uri="http://schemas.microsoft.com/sharepoint/v3/contenttype/forms"/>
  </ds:schemaRefs>
</ds:datastoreItem>
</file>

<file path=customXml/itemProps3.xml><?xml version="1.0" encoding="utf-8"?>
<ds:datastoreItem xmlns:ds="http://schemas.openxmlformats.org/officeDocument/2006/customXml" ds:itemID="{4C103400-4A22-4E35-B588-4C4D426389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blue presentation</Template>
  <TotalTime>3192</TotalTime>
  <Words>2370</Words>
  <Application>Microsoft Office PowerPoint</Application>
  <PresentationFormat>Widescreen</PresentationFormat>
  <Paragraphs>274</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Trade Gothic LT Pro</vt:lpstr>
      <vt:lpstr>Trebuchet MS</vt:lpstr>
      <vt:lpstr>Office Theme</vt:lpstr>
      <vt:lpstr>Tableau Project:  Bookstore Performance &amp; Publisher Insights (Q1 2024) </vt:lpstr>
      <vt:lpstr>  Project Brief </vt:lpstr>
      <vt:lpstr>Dataset Overview</vt:lpstr>
      <vt:lpstr>Dataset Structure</vt:lpstr>
      <vt:lpstr>Identified Problems / Data Cleaning</vt:lpstr>
      <vt:lpstr>Data Transformation</vt:lpstr>
      <vt:lpstr>Data Exploration (EDA)</vt:lpstr>
      <vt:lpstr>Visual Analysis</vt:lpstr>
      <vt:lpstr>Visual Analysis</vt:lpstr>
      <vt:lpstr>Visual Analysis</vt:lpstr>
      <vt:lpstr>Visual Analysis</vt:lpstr>
      <vt:lpstr>Visual Analysis</vt:lpstr>
      <vt:lpstr>Visual Analysis</vt:lpstr>
      <vt:lpstr>Visual Analysis</vt:lpstr>
      <vt:lpstr>Visual Analysis</vt:lpstr>
      <vt:lpstr>Visual Analysis</vt:lpstr>
      <vt:lpstr>Visual Analysis</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dc:creator>
  <cp:lastModifiedBy>Robert</cp:lastModifiedBy>
  <cp:revision>370</cp:revision>
  <dcterms:created xsi:type="dcterms:W3CDTF">2026-02-21T15:53:55Z</dcterms:created>
  <dcterms:modified xsi:type="dcterms:W3CDTF">2026-04-19T18:19:38Z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